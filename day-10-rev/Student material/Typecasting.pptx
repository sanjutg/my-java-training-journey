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7" r:id="rId2"/>
    <p:sldId id="318" r:id="rId3"/>
    <p:sldId id="319" r:id="rId4"/>
    <p:sldId id="320" r:id="rId5"/>
    <p:sldId id="321" r:id="rId6"/>
    <p:sldId id="322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3234" y="674370"/>
            <a:ext cx="343407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134" y="-51840"/>
            <a:ext cx="11209731" cy="15495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62330"/>
            <a:ext cx="10175875" cy="2313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8003" y="135458"/>
            <a:ext cx="3368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u="sng" spc="-6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4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Type</a:t>
            </a:r>
            <a:r>
              <a:rPr sz="4400" b="1"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4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casting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78142" y="1701164"/>
            <a:ext cx="70485" cy="309880"/>
          </a:xfrm>
          <a:custGeom>
            <a:avLst/>
            <a:gdLst/>
            <a:ahLst/>
            <a:cxnLst/>
            <a:rect l="l" t="t" r="r" b="b"/>
            <a:pathLst>
              <a:path w="70484" h="309880">
                <a:moveTo>
                  <a:pt x="70103" y="0"/>
                </a:moveTo>
                <a:lnTo>
                  <a:pt x="0" y="0"/>
                </a:lnTo>
                <a:lnTo>
                  <a:pt x="0" y="309372"/>
                </a:lnTo>
                <a:lnTo>
                  <a:pt x="70103" y="309372"/>
                </a:lnTo>
                <a:lnTo>
                  <a:pt x="701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9842" y="2036445"/>
            <a:ext cx="70485" cy="309880"/>
          </a:xfrm>
          <a:custGeom>
            <a:avLst/>
            <a:gdLst/>
            <a:ahLst/>
            <a:cxnLst/>
            <a:rect l="l" t="t" r="r" b="b"/>
            <a:pathLst>
              <a:path w="70484" h="309880">
                <a:moveTo>
                  <a:pt x="70103" y="0"/>
                </a:moveTo>
                <a:lnTo>
                  <a:pt x="0" y="0"/>
                </a:lnTo>
                <a:lnTo>
                  <a:pt x="0" y="309372"/>
                </a:lnTo>
                <a:lnTo>
                  <a:pt x="70103" y="309372"/>
                </a:lnTo>
                <a:lnTo>
                  <a:pt x="701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96416" y="1318386"/>
            <a:ext cx="9602470" cy="151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Java,</a:t>
            </a:r>
            <a:r>
              <a:rPr sz="2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200" b="1" spc="1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3333"/>
                </a:solidFill>
                <a:latin typeface="Times New Roman"/>
                <a:cs typeface="Times New Roman"/>
              </a:rPr>
              <a:t>casting</a:t>
            </a:r>
            <a:r>
              <a:rPr sz="2200" b="1" spc="2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200" spc="1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200" spc="1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method</a:t>
            </a:r>
            <a:r>
              <a:rPr sz="2200" spc="2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22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process</a:t>
            </a:r>
            <a:r>
              <a:rPr sz="2200" spc="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2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converts</a:t>
            </a:r>
            <a:r>
              <a:rPr sz="2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200" spc="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200" spc="20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into</a:t>
            </a:r>
            <a:r>
              <a:rPr sz="2200" spc="2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Times New Roman"/>
                <a:cs typeface="Times New Roman"/>
              </a:rPr>
              <a:t>another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both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ways</a:t>
            </a:r>
            <a:r>
              <a:rPr sz="22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manually</a:t>
            </a:r>
            <a:r>
              <a:rPr sz="2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Times New Roman"/>
                <a:cs typeface="Times New Roman"/>
              </a:rPr>
              <a:t>automatically.</a:t>
            </a:r>
            <a:r>
              <a:rPr sz="2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automatic</a:t>
            </a:r>
            <a:r>
              <a:rPr sz="2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conversion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2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Times New Roman"/>
                <a:cs typeface="Times New Roman"/>
              </a:rPr>
              <a:t>done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by</a:t>
            </a:r>
            <a:r>
              <a:rPr sz="220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compiler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20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manual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conversion</a:t>
            </a:r>
            <a:r>
              <a:rPr sz="22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performed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by</a:t>
            </a:r>
            <a:r>
              <a:rPr sz="2200" spc="-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Times New Roman"/>
                <a:cs typeface="Times New Roman"/>
              </a:rPr>
              <a:t>programmer.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ts val="3815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Convert</a:t>
            </a:r>
            <a:r>
              <a:rPr sz="2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2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value</a:t>
            </a:r>
            <a:r>
              <a:rPr sz="22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from</a:t>
            </a:r>
            <a:r>
              <a:rPr sz="22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one</a:t>
            </a:r>
            <a:r>
              <a:rPr sz="22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2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another</a:t>
            </a:r>
            <a:r>
              <a:rPr sz="2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2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known</a:t>
            </a:r>
            <a:r>
              <a:rPr sz="2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22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200" b="1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casting</a:t>
            </a:r>
            <a:r>
              <a:rPr sz="3200" spc="-1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2501" y="3265889"/>
            <a:ext cx="7957969" cy="21995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1440" rIns="0" bIns="0" rtlCol="0">
            <a:spAutoFit/>
          </a:bodyPr>
          <a:lstStyle/>
          <a:p>
            <a:pPr marL="3776979">
              <a:lnSpc>
                <a:spcPct val="100000"/>
              </a:lnSpc>
              <a:spcBef>
                <a:spcPts val="105"/>
              </a:spcBef>
            </a:pPr>
            <a:r>
              <a:rPr sz="3200" spc="-20" dirty="0"/>
              <a:t>Types</a:t>
            </a:r>
            <a:r>
              <a:rPr sz="3200" spc="-114" dirty="0"/>
              <a:t> </a:t>
            </a:r>
            <a:r>
              <a:rPr sz="3200" dirty="0"/>
              <a:t>of</a:t>
            </a:r>
            <a:r>
              <a:rPr sz="3200" spc="-155" dirty="0"/>
              <a:t> </a:t>
            </a:r>
            <a:r>
              <a:rPr sz="3200" spc="-20" dirty="0"/>
              <a:t>Type</a:t>
            </a:r>
            <a:r>
              <a:rPr sz="3200" spc="-114" dirty="0"/>
              <a:t> </a:t>
            </a:r>
            <a:r>
              <a:rPr sz="3200" spc="-10" dirty="0"/>
              <a:t>Casting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9242679" y="4616958"/>
            <a:ext cx="88900" cy="394970"/>
          </a:xfrm>
          <a:custGeom>
            <a:avLst/>
            <a:gdLst/>
            <a:ahLst/>
            <a:cxnLst/>
            <a:rect l="l" t="t" r="r" b="b"/>
            <a:pathLst>
              <a:path w="88900" h="394970">
                <a:moveTo>
                  <a:pt x="88392" y="0"/>
                </a:moveTo>
                <a:lnTo>
                  <a:pt x="0" y="0"/>
                </a:lnTo>
                <a:lnTo>
                  <a:pt x="0" y="394715"/>
                </a:lnTo>
                <a:lnTo>
                  <a:pt x="88392" y="394715"/>
                </a:lnTo>
                <a:lnTo>
                  <a:pt x="883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00377" y="1573529"/>
            <a:ext cx="9192260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28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two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types</a:t>
            </a:r>
            <a:r>
              <a:rPr sz="28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Times New Roman"/>
                <a:cs typeface="Times New Roman"/>
              </a:rPr>
              <a:t>casting:</a:t>
            </a:r>
            <a:endParaRPr sz="2800">
              <a:latin typeface="Times New Roman"/>
              <a:cs typeface="Times New Roman"/>
            </a:endParaRPr>
          </a:p>
          <a:p>
            <a:pPr marL="1964055" indent="-133350">
              <a:lnSpc>
                <a:spcPct val="100000"/>
              </a:lnSpc>
              <a:buSzPct val="96428"/>
              <a:buFont typeface="Arial MT"/>
              <a:buChar char="•"/>
              <a:tabLst>
                <a:tab pos="1964055" algn="l"/>
              </a:tabLst>
            </a:pPr>
            <a:r>
              <a:rPr sz="2800" spc="-10" dirty="0">
                <a:latin typeface="Times New Roman"/>
                <a:cs typeface="Times New Roman"/>
              </a:rPr>
              <a:t>Widening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Type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Casting</a:t>
            </a:r>
            <a:endParaRPr sz="2800">
              <a:latin typeface="Times New Roman"/>
              <a:cs typeface="Times New Roman"/>
            </a:endParaRPr>
          </a:p>
          <a:p>
            <a:pPr marL="1964055" indent="-133350">
              <a:lnSpc>
                <a:spcPct val="100000"/>
              </a:lnSpc>
              <a:buSzPct val="96428"/>
              <a:buFont typeface="Arial MT"/>
              <a:buChar char="•"/>
              <a:tabLst>
                <a:tab pos="1964055" algn="l"/>
              </a:tabLst>
            </a:pPr>
            <a:r>
              <a:rPr sz="2800" dirty="0">
                <a:latin typeface="Times New Roman"/>
                <a:cs typeface="Times New Roman"/>
              </a:rPr>
              <a:t>Narrowing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Type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Casting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8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Widening</a:t>
            </a:r>
            <a:r>
              <a:rPr sz="2800" b="1" spc="-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800" b="1" spc="-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Casting</a:t>
            </a:r>
            <a:endParaRPr sz="2800">
              <a:latin typeface="Times New Roman"/>
              <a:cs typeface="Times New Roman"/>
            </a:endParaRPr>
          </a:p>
          <a:p>
            <a:pPr marL="12700" marR="5080" indent="914400" algn="just">
              <a:lnSpc>
                <a:spcPct val="100000"/>
              </a:lnSpc>
            </a:pP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Converting</a:t>
            </a:r>
            <a:r>
              <a:rPr sz="2800" spc="2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800" spc="2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lower</a:t>
            </a:r>
            <a:r>
              <a:rPr sz="2800" spc="2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800" spc="2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800" spc="2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into</a:t>
            </a:r>
            <a:r>
              <a:rPr sz="2800" spc="21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800" spc="20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higher</a:t>
            </a:r>
            <a:r>
              <a:rPr sz="2800" spc="21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one</a:t>
            </a:r>
            <a:r>
              <a:rPr sz="2800" spc="204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spc="-25" dirty="0">
                <a:solidFill>
                  <a:srgbClr val="333333"/>
                </a:solidFill>
                <a:latin typeface="Times New Roman"/>
                <a:cs typeface="Times New Roman"/>
              </a:rPr>
              <a:t>is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called</a:t>
            </a:r>
            <a:r>
              <a:rPr sz="2800" spc="7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widening</a:t>
            </a:r>
            <a:r>
              <a:rPr sz="2800" b="1" spc="6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800" spc="6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casting.</a:t>
            </a:r>
            <a:r>
              <a:rPr sz="2800" spc="6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2800" spc="6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800" spc="6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also</a:t>
            </a:r>
            <a:r>
              <a:rPr sz="2800" spc="6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known</a:t>
            </a:r>
            <a:r>
              <a:rPr sz="2800" spc="6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2800" spc="6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8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implicit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conversion</a:t>
            </a:r>
            <a:r>
              <a:rPr sz="2800" b="1" spc="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28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casting</a:t>
            </a:r>
            <a:r>
              <a:rPr sz="2800" b="1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down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r>
              <a:rPr sz="2800" spc="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280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8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done</a:t>
            </a:r>
            <a:r>
              <a:rPr sz="28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automatically.</a:t>
            </a:r>
            <a:r>
              <a:rPr sz="280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280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80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safe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because</a:t>
            </a:r>
            <a:r>
              <a:rPr sz="28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28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no</a:t>
            </a:r>
            <a:r>
              <a:rPr sz="28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chance</a:t>
            </a:r>
            <a:r>
              <a:rPr sz="28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8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lose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  <a:p>
            <a:pPr marL="598170" algn="just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006699"/>
                </a:solidFill>
                <a:latin typeface="Times New Roman"/>
                <a:cs typeface="Times New Roman"/>
              </a:rPr>
              <a:t>byte</a:t>
            </a:r>
            <a:r>
              <a:rPr sz="2800" b="1" spc="-3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&gt;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6699"/>
                </a:solidFill>
                <a:latin typeface="Times New Roman"/>
                <a:cs typeface="Times New Roman"/>
              </a:rPr>
              <a:t>short</a:t>
            </a:r>
            <a:r>
              <a:rPr sz="28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&gt;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6699"/>
                </a:solidFill>
                <a:latin typeface="Times New Roman"/>
                <a:cs typeface="Times New Roman"/>
              </a:rPr>
              <a:t>char</a:t>
            </a:r>
            <a:r>
              <a:rPr sz="2800" b="1" spc="-2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&gt;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6699"/>
                </a:solidFill>
                <a:latin typeface="Times New Roman"/>
                <a:cs typeface="Times New Roman"/>
              </a:rPr>
              <a:t>int</a:t>
            </a:r>
            <a:r>
              <a:rPr sz="28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&gt;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6699"/>
                </a:solidFill>
                <a:latin typeface="Times New Roman"/>
                <a:cs typeface="Times New Roman"/>
              </a:rPr>
              <a:t>long</a:t>
            </a:r>
            <a:r>
              <a:rPr sz="28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&gt;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6699"/>
                </a:solidFill>
                <a:latin typeface="Times New Roman"/>
                <a:cs typeface="Times New Roman"/>
              </a:rPr>
              <a:t>float</a:t>
            </a:r>
            <a:r>
              <a:rPr sz="28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&gt;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double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051" y="530478"/>
            <a:ext cx="5039360" cy="531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Example: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8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class</a:t>
            </a:r>
            <a:r>
              <a:rPr sz="1800" b="1" spc="-5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Widening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800" b="1" spc="-3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static</a:t>
            </a:r>
            <a:r>
              <a:rPr sz="1800" b="1" spc="-2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18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main(String[]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args)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int</a:t>
            </a:r>
            <a:r>
              <a:rPr sz="18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  <a:r>
              <a:rPr sz="1800" spc="-25" dirty="0">
                <a:latin typeface="Times New Roman"/>
                <a:cs typeface="Times New Roman"/>
              </a:rPr>
              <a:t>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//automatically</a:t>
            </a:r>
            <a:r>
              <a:rPr sz="1800" spc="-4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converts</a:t>
            </a:r>
            <a:r>
              <a:rPr sz="18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integer</a:t>
            </a:r>
            <a:r>
              <a:rPr sz="1800" spc="-3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type</a:t>
            </a:r>
            <a:r>
              <a:rPr sz="1800" spc="-4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into</a:t>
            </a:r>
            <a:r>
              <a:rPr sz="18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long</a:t>
            </a:r>
            <a:r>
              <a:rPr sz="1800" spc="-20" dirty="0">
                <a:solidFill>
                  <a:srgbClr val="008200"/>
                </a:solidFill>
                <a:latin typeface="Times New Roman"/>
                <a:cs typeface="Times New Roman"/>
              </a:rPr>
              <a:t> type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long</a:t>
            </a:r>
            <a:r>
              <a:rPr sz="1800" b="1" spc="-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x;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//automatically</a:t>
            </a:r>
            <a:r>
              <a:rPr sz="1800" spc="-4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converts</a:t>
            </a:r>
            <a:r>
              <a:rPr sz="18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long</a:t>
            </a:r>
            <a:r>
              <a:rPr sz="18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type</a:t>
            </a:r>
            <a:r>
              <a:rPr sz="1800" spc="-4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into</a:t>
            </a:r>
            <a:r>
              <a:rPr sz="18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8200"/>
                </a:solidFill>
                <a:latin typeface="Times New Roman"/>
                <a:cs typeface="Times New Roman"/>
              </a:rPr>
              <a:t>float</a:t>
            </a:r>
            <a:r>
              <a:rPr sz="1800" spc="-20" dirty="0">
                <a:solidFill>
                  <a:srgbClr val="008200"/>
                </a:solidFill>
                <a:latin typeface="Times New Roman"/>
                <a:cs typeface="Times New Roman"/>
              </a:rPr>
              <a:t> type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b="1" dirty="0">
                <a:solidFill>
                  <a:srgbClr val="006699"/>
                </a:solidFill>
                <a:latin typeface="Times New Roman"/>
                <a:cs typeface="Times New Roman"/>
              </a:rPr>
              <a:t>float</a:t>
            </a:r>
            <a:r>
              <a:rPr sz="18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y;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dirty="0">
                <a:latin typeface="Times New Roman"/>
                <a:cs typeface="Times New Roman"/>
              </a:rPr>
              <a:t>System.out.println(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"Before</a:t>
            </a:r>
            <a:r>
              <a:rPr sz="1800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conversion,</a:t>
            </a:r>
            <a:r>
              <a:rPr sz="18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int</a:t>
            </a:r>
            <a:r>
              <a:rPr sz="18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value</a:t>
            </a:r>
            <a:r>
              <a:rPr sz="18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imes New Roman"/>
                <a:cs typeface="Times New Roman"/>
              </a:rPr>
              <a:t>"</a:t>
            </a:r>
            <a:r>
              <a:rPr sz="1800" spc="-10" dirty="0">
                <a:latin typeface="Times New Roman"/>
                <a:cs typeface="Times New Roman"/>
              </a:rPr>
              <a:t>+x);</a:t>
            </a:r>
            <a:endParaRPr sz="1800" dirty="0">
              <a:latin typeface="Times New Roman"/>
              <a:cs typeface="Times New Roman"/>
            </a:endParaRPr>
          </a:p>
          <a:p>
            <a:pPr marL="12700" marR="5715">
              <a:lnSpc>
                <a:spcPts val="3600"/>
              </a:lnSpc>
              <a:spcBef>
                <a:spcPts val="350"/>
              </a:spcBef>
            </a:pPr>
            <a:r>
              <a:rPr sz="1800" spc="-10" dirty="0">
                <a:latin typeface="Times New Roman"/>
                <a:cs typeface="Times New Roman"/>
              </a:rPr>
              <a:t>System.out.println(</a:t>
            </a:r>
            <a:r>
              <a:rPr sz="1800" spc="-10" dirty="0">
                <a:solidFill>
                  <a:srgbClr val="0000FF"/>
                </a:solidFill>
                <a:latin typeface="Times New Roman"/>
                <a:cs typeface="Times New Roman"/>
              </a:rPr>
              <a:t>"After</a:t>
            </a:r>
            <a:r>
              <a:rPr sz="18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conversion,</a:t>
            </a:r>
            <a:r>
              <a:rPr sz="18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long</a:t>
            </a:r>
            <a:r>
              <a:rPr sz="1800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value</a:t>
            </a:r>
            <a:r>
              <a:rPr sz="1800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imes New Roman"/>
                <a:cs typeface="Times New Roman"/>
              </a:rPr>
              <a:t>"</a:t>
            </a:r>
            <a:r>
              <a:rPr sz="1800" spc="-10" dirty="0">
                <a:latin typeface="Times New Roman"/>
                <a:cs typeface="Times New Roman"/>
              </a:rPr>
              <a:t>+y); System.out.println(</a:t>
            </a:r>
            <a:r>
              <a:rPr sz="1800" spc="-10" dirty="0">
                <a:solidFill>
                  <a:srgbClr val="0000FF"/>
                </a:solidFill>
                <a:latin typeface="Times New Roman"/>
                <a:cs typeface="Times New Roman"/>
              </a:rPr>
              <a:t>"After</a:t>
            </a:r>
            <a:r>
              <a:rPr sz="18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conversion, float</a:t>
            </a:r>
            <a:r>
              <a:rPr sz="18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value </a:t>
            </a:r>
            <a:r>
              <a:rPr sz="1800" spc="-10" dirty="0">
                <a:solidFill>
                  <a:srgbClr val="0000FF"/>
                </a:solidFill>
                <a:latin typeface="Times New Roman"/>
                <a:cs typeface="Times New Roman"/>
              </a:rPr>
              <a:t>"</a:t>
            </a:r>
            <a:r>
              <a:rPr sz="1800" spc="-10" dirty="0">
                <a:latin typeface="Times New Roman"/>
                <a:cs typeface="Times New Roman"/>
              </a:rPr>
              <a:t>+z);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539" rIns="0" bIns="0" rtlCol="0">
            <a:spAutoFit/>
          </a:bodyPr>
          <a:lstStyle/>
          <a:p>
            <a:pPr marL="325755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Narrowing</a:t>
            </a:r>
            <a:r>
              <a:rPr b="1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Type</a:t>
            </a:r>
            <a:r>
              <a:rPr b="1" spc="-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Casting</a:t>
            </a:r>
            <a:r>
              <a:rPr b="1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" name="object 3"/>
          <p:cNvSpPr/>
          <p:nvPr/>
        </p:nvSpPr>
        <p:spPr>
          <a:xfrm>
            <a:off x="5205095" y="2517648"/>
            <a:ext cx="90170" cy="394970"/>
          </a:xfrm>
          <a:custGeom>
            <a:avLst/>
            <a:gdLst/>
            <a:ahLst/>
            <a:cxnLst/>
            <a:rect l="l" t="t" r="r" b="b"/>
            <a:pathLst>
              <a:path w="90170" h="394969">
                <a:moveTo>
                  <a:pt x="89915" y="0"/>
                </a:moveTo>
                <a:lnTo>
                  <a:pt x="0" y="0"/>
                </a:lnTo>
                <a:lnTo>
                  <a:pt x="0" y="394715"/>
                </a:lnTo>
                <a:lnTo>
                  <a:pt x="89915" y="394715"/>
                </a:lnTo>
                <a:lnTo>
                  <a:pt x="899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43878" y="2944367"/>
            <a:ext cx="88900" cy="394970"/>
          </a:xfrm>
          <a:custGeom>
            <a:avLst/>
            <a:gdLst/>
            <a:ahLst/>
            <a:cxnLst/>
            <a:rect l="l" t="t" r="r" b="b"/>
            <a:pathLst>
              <a:path w="88900" h="394970">
                <a:moveTo>
                  <a:pt x="88391" y="0"/>
                </a:moveTo>
                <a:lnTo>
                  <a:pt x="0" y="0"/>
                </a:lnTo>
                <a:lnTo>
                  <a:pt x="0" y="394715"/>
                </a:lnTo>
                <a:lnTo>
                  <a:pt x="88391" y="394715"/>
                </a:lnTo>
                <a:lnTo>
                  <a:pt x="883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4773" y="1607261"/>
            <a:ext cx="10605135" cy="2654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Converting</a:t>
            </a:r>
            <a:r>
              <a:rPr sz="2800" spc="1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800" spc="1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higher</a:t>
            </a:r>
            <a:r>
              <a:rPr sz="2800" spc="1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800" spc="1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2800" spc="1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into</a:t>
            </a:r>
            <a:r>
              <a:rPr sz="28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800" spc="1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lower</a:t>
            </a:r>
            <a:r>
              <a:rPr sz="28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one</a:t>
            </a:r>
            <a:r>
              <a:rPr sz="2800" spc="1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800" spc="1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called</a:t>
            </a:r>
            <a:r>
              <a:rPr sz="2800" spc="1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narrowing</a:t>
            </a:r>
            <a:r>
              <a:rPr sz="2800" b="1" spc="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type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casting.</a:t>
            </a:r>
            <a:r>
              <a:rPr sz="28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28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800" spc="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also</a:t>
            </a:r>
            <a:r>
              <a:rPr sz="2800" spc="1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known</a:t>
            </a:r>
            <a:r>
              <a:rPr sz="2800" spc="1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2800" spc="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explicit</a:t>
            </a:r>
            <a:r>
              <a:rPr sz="2800" b="1" spc="1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conversion</a:t>
            </a:r>
            <a:r>
              <a:rPr sz="2800" b="1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28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casting</a:t>
            </a:r>
            <a:r>
              <a:rPr sz="2800" b="1" spc="1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up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r>
              <a:rPr sz="28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28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2800" spc="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done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manually</a:t>
            </a:r>
            <a:r>
              <a:rPr sz="2800" spc="6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by</a:t>
            </a:r>
            <a:r>
              <a:rPr sz="2800" spc="6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800" spc="6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programmer.</a:t>
            </a:r>
            <a:r>
              <a:rPr sz="2800" spc="6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If</a:t>
            </a:r>
            <a:r>
              <a:rPr sz="2800" spc="6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we</a:t>
            </a:r>
            <a:r>
              <a:rPr sz="2800" spc="6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do</a:t>
            </a:r>
            <a:r>
              <a:rPr sz="2800" spc="6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not</a:t>
            </a:r>
            <a:r>
              <a:rPr sz="2800" spc="6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perform</a:t>
            </a:r>
            <a:r>
              <a:rPr sz="2800" spc="6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casting</a:t>
            </a:r>
            <a:r>
              <a:rPr sz="2800" spc="6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then</a:t>
            </a:r>
            <a:r>
              <a:rPr sz="2800" spc="6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compiler</a:t>
            </a:r>
            <a:r>
              <a:rPr sz="28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reports</a:t>
            </a:r>
            <a:r>
              <a:rPr sz="28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8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Times New Roman"/>
                <a:cs typeface="Times New Roman"/>
              </a:rPr>
              <a:t>compile-</a:t>
            </a:r>
            <a:r>
              <a:rPr sz="2800" dirty="0">
                <a:solidFill>
                  <a:srgbClr val="333333"/>
                </a:solidFill>
                <a:latin typeface="Times New Roman"/>
                <a:cs typeface="Times New Roman"/>
              </a:rPr>
              <a:t>time</a:t>
            </a:r>
            <a:r>
              <a:rPr sz="28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Times New Roman"/>
                <a:cs typeface="Times New Roman"/>
              </a:rPr>
              <a:t>error.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R="70485" algn="ctr">
              <a:lnSpc>
                <a:spcPct val="100000"/>
              </a:lnSpc>
            </a:pPr>
            <a:r>
              <a:rPr sz="2400" b="1" dirty="0">
                <a:solidFill>
                  <a:srgbClr val="006699"/>
                </a:solidFill>
                <a:latin typeface="Times New Roman"/>
                <a:cs typeface="Times New Roman"/>
              </a:rPr>
              <a:t>double</a:t>
            </a:r>
            <a:r>
              <a:rPr sz="24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99"/>
                </a:solidFill>
                <a:latin typeface="Times New Roman"/>
                <a:cs typeface="Times New Roman"/>
              </a:rPr>
              <a:t>float</a:t>
            </a:r>
            <a:r>
              <a:rPr sz="24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99"/>
                </a:solidFill>
                <a:latin typeface="Times New Roman"/>
                <a:cs typeface="Times New Roman"/>
              </a:rPr>
              <a:t>long</a:t>
            </a:r>
            <a:r>
              <a:rPr sz="24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99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99"/>
                </a:solidFill>
                <a:latin typeface="Times New Roman"/>
                <a:cs typeface="Times New Roman"/>
              </a:rPr>
              <a:t>char</a:t>
            </a:r>
            <a:r>
              <a:rPr sz="24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99"/>
                </a:solidFill>
                <a:latin typeface="Times New Roman"/>
                <a:cs typeface="Times New Roman"/>
              </a:rPr>
              <a:t>short</a:t>
            </a:r>
            <a:r>
              <a:rPr sz="24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byte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058" y="486917"/>
            <a:ext cx="4725035" cy="5725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Example: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600" b="1" spc="-2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class</a:t>
            </a:r>
            <a:r>
              <a:rPr sz="16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Narrowing{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600" b="1" spc="-3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static</a:t>
            </a:r>
            <a:r>
              <a:rPr sz="1600" b="1" spc="-3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1600" b="1" spc="-5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main(String args[])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{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double</a:t>
            </a:r>
            <a:r>
              <a:rPr sz="16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166.66</a:t>
            </a:r>
            <a:r>
              <a:rPr sz="1600" spc="-10" dirty="0">
                <a:latin typeface="Times New Roman"/>
                <a:cs typeface="Times New Roman"/>
              </a:rPr>
              <a:t>;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//converting</a:t>
            </a:r>
            <a:r>
              <a:rPr sz="1600" spc="-1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double</a:t>
            </a:r>
            <a:r>
              <a:rPr sz="1600" spc="-4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data</a:t>
            </a:r>
            <a:r>
              <a:rPr sz="1600" spc="-3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type</a:t>
            </a:r>
            <a:r>
              <a:rPr sz="1600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into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long</a:t>
            </a:r>
            <a:r>
              <a:rPr sz="1600" spc="-4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data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 type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long</a:t>
            </a:r>
            <a:r>
              <a:rPr sz="16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</a:t>
            </a:r>
            <a:r>
              <a:rPr sz="16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long</a:t>
            </a:r>
            <a:r>
              <a:rPr sz="1600" spc="-10" dirty="0">
                <a:latin typeface="Times New Roman"/>
                <a:cs typeface="Times New Roman"/>
              </a:rPr>
              <a:t>)d;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//converting</a:t>
            </a:r>
            <a:r>
              <a:rPr sz="1600" spc="-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long</a:t>
            </a:r>
            <a:r>
              <a:rPr sz="1600" spc="-3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data</a:t>
            </a:r>
            <a:r>
              <a:rPr sz="1600" spc="-3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type</a:t>
            </a:r>
            <a:r>
              <a:rPr sz="1600" spc="-1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into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int</a:t>
            </a:r>
            <a:r>
              <a:rPr sz="16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data</a:t>
            </a:r>
            <a:r>
              <a:rPr sz="16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type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600" b="1" dirty="0">
                <a:solidFill>
                  <a:srgbClr val="006699"/>
                </a:solidFill>
                <a:latin typeface="Times New Roman"/>
                <a:cs typeface="Times New Roman"/>
              </a:rPr>
              <a:t>int </a:t>
            </a:r>
            <a:r>
              <a:rPr sz="1600" dirty="0">
                <a:latin typeface="Times New Roman"/>
                <a:cs typeface="Times New Roman"/>
              </a:rPr>
              <a:t>i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</a:t>
            </a:r>
            <a:r>
              <a:rPr sz="16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int</a:t>
            </a:r>
            <a:r>
              <a:rPr sz="1600" spc="-10" dirty="0">
                <a:latin typeface="Times New Roman"/>
                <a:cs typeface="Times New Roman"/>
              </a:rPr>
              <a:t>)l;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spc="-10" dirty="0">
                <a:latin typeface="Times New Roman"/>
                <a:cs typeface="Times New Roman"/>
              </a:rPr>
              <a:t>System.out.println(</a:t>
            </a:r>
            <a:r>
              <a:rPr sz="1600" spc="-10" dirty="0">
                <a:solidFill>
                  <a:srgbClr val="0000FF"/>
                </a:solidFill>
                <a:latin typeface="Times New Roman"/>
                <a:cs typeface="Times New Roman"/>
              </a:rPr>
              <a:t>"Before</a:t>
            </a:r>
            <a:r>
              <a:rPr sz="1600" spc="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conversion:</a:t>
            </a:r>
            <a:r>
              <a:rPr sz="1600" spc="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Times New Roman"/>
                <a:cs typeface="Times New Roman"/>
              </a:rPr>
              <a:t>"</a:t>
            </a:r>
            <a:r>
              <a:rPr sz="1600" spc="-10" dirty="0">
                <a:latin typeface="Times New Roman"/>
                <a:cs typeface="Times New Roman"/>
              </a:rPr>
              <a:t>+d);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//fractional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part</a:t>
            </a:r>
            <a:r>
              <a:rPr sz="16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lost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spc="-10" dirty="0">
                <a:latin typeface="Times New Roman"/>
                <a:cs typeface="Times New Roman"/>
              </a:rPr>
              <a:t>System.out.println(</a:t>
            </a:r>
            <a:r>
              <a:rPr sz="1600" spc="-10" dirty="0">
                <a:solidFill>
                  <a:srgbClr val="0000FF"/>
                </a:solidFill>
                <a:latin typeface="Times New Roman"/>
                <a:cs typeface="Times New Roman"/>
              </a:rPr>
              <a:t>"After</a:t>
            </a:r>
            <a:r>
              <a:rPr sz="1600" spc="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conversion</a:t>
            </a:r>
            <a:r>
              <a:rPr sz="16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into long</a:t>
            </a:r>
            <a:r>
              <a:rPr sz="16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type:</a:t>
            </a:r>
            <a:r>
              <a:rPr sz="16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Times New Roman"/>
                <a:cs typeface="Times New Roman"/>
              </a:rPr>
              <a:t>"</a:t>
            </a:r>
            <a:r>
              <a:rPr sz="1600" spc="-10" dirty="0">
                <a:latin typeface="Times New Roman"/>
                <a:cs typeface="Times New Roman"/>
              </a:rPr>
              <a:t>+l);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//fractional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8200"/>
                </a:solidFill>
                <a:latin typeface="Times New Roman"/>
                <a:cs typeface="Times New Roman"/>
              </a:rPr>
              <a:t>part</a:t>
            </a:r>
            <a:r>
              <a:rPr sz="1600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08200"/>
                </a:solidFill>
                <a:latin typeface="Times New Roman"/>
                <a:cs typeface="Times New Roman"/>
              </a:rPr>
              <a:t>lost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spc="-10" dirty="0">
                <a:latin typeface="Times New Roman"/>
                <a:cs typeface="Times New Roman"/>
              </a:rPr>
              <a:t>System.out.println(</a:t>
            </a:r>
            <a:r>
              <a:rPr sz="1600" spc="-10" dirty="0">
                <a:solidFill>
                  <a:srgbClr val="0000FF"/>
                </a:solidFill>
                <a:latin typeface="Times New Roman"/>
                <a:cs typeface="Times New Roman"/>
              </a:rPr>
              <a:t>"After</a:t>
            </a:r>
            <a:r>
              <a:rPr sz="1600" spc="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conversion</a:t>
            </a:r>
            <a:r>
              <a:rPr sz="16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into</a:t>
            </a:r>
            <a:r>
              <a:rPr sz="16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int</a:t>
            </a:r>
            <a:r>
              <a:rPr sz="16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type:</a:t>
            </a:r>
            <a:r>
              <a:rPr sz="16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Times New Roman"/>
                <a:cs typeface="Times New Roman"/>
              </a:rPr>
              <a:t>"</a:t>
            </a:r>
            <a:r>
              <a:rPr sz="1600" spc="-10" dirty="0">
                <a:latin typeface="Times New Roman"/>
                <a:cs typeface="Times New Roman"/>
              </a:rPr>
              <a:t>+i);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dirty="0">
                <a:latin typeface="Times New Roman"/>
                <a:cs typeface="Times New Roman"/>
              </a:rPr>
              <a:t>}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1082" y="29082"/>
            <a:ext cx="4544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30" dirty="0">
                <a:solidFill>
                  <a:srgbClr val="000000"/>
                </a:solidFill>
                <a:latin typeface="Cambria"/>
                <a:cs typeface="Cambria"/>
              </a:rPr>
              <a:t>Comment</a:t>
            </a:r>
            <a:r>
              <a:rPr sz="4000" b="1" spc="-1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line</a:t>
            </a:r>
            <a:r>
              <a:rPr sz="4000" b="1" spc="-1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85" dirty="0">
                <a:solidFill>
                  <a:srgbClr val="000000"/>
                </a:solidFill>
                <a:latin typeface="Cambria"/>
                <a:cs typeface="Cambria"/>
              </a:rPr>
              <a:t>in</a:t>
            </a:r>
            <a:r>
              <a:rPr sz="4000" b="1" spc="-2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000000"/>
                </a:solidFill>
                <a:latin typeface="Cambria"/>
                <a:cs typeface="Cambria"/>
              </a:rPr>
              <a:t>Java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5401" y="675491"/>
            <a:ext cx="11113770" cy="577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2055" marR="5080" indent="-4895850">
              <a:lnSpc>
                <a:spcPct val="150100"/>
              </a:lnSpc>
              <a:spcBef>
                <a:spcPts val="100"/>
              </a:spcBef>
            </a:pPr>
            <a:r>
              <a:rPr sz="2800" spc="-135" dirty="0">
                <a:latin typeface="Cambria"/>
                <a:cs typeface="Cambria"/>
              </a:rPr>
              <a:t>Anything</a:t>
            </a:r>
            <a:r>
              <a:rPr sz="2800" spc="-160" dirty="0">
                <a:latin typeface="Cambria"/>
                <a:cs typeface="Cambria"/>
              </a:rPr>
              <a:t> </a:t>
            </a:r>
            <a:r>
              <a:rPr sz="2800" spc="-114" dirty="0">
                <a:latin typeface="Cambria"/>
                <a:cs typeface="Cambria"/>
              </a:rPr>
              <a:t>after</a:t>
            </a:r>
            <a:r>
              <a:rPr sz="2800" spc="-200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//</a:t>
            </a:r>
            <a:r>
              <a:rPr sz="2800" spc="-200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on</a:t>
            </a:r>
            <a:r>
              <a:rPr sz="2800" spc="-204" dirty="0">
                <a:latin typeface="Cambria"/>
                <a:cs typeface="Cambria"/>
              </a:rPr>
              <a:t> </a:t>
            </a:r>
            <a:r>
              <a:rPr sz="2800" spc="-95" dirty="0">
                <a:latin typeface="Cambria"/>
                <a:cs typeface="Cambria"/>
              </a:rPr>
              <a:t>the</a:t>
            </a:r>
            <a:r>
              <a:rPr sz="2800" spc="-190" dirty="0">
                <a:latin typeface="Cambria"/>
                <a:cs typeface="Cambria"/>
              </a:rPr>
              <a:t> </a:t>
            </a:r>
            <a:r>
              <a:rPr sz="2800" spc="-100" dirty="0">
                <a:latin typeface="Cambria"/>
                <a:cs typeface="Cambria"/>
              </a:rPr>
              <a:t>same</a:t>
            </a:r>
            <a:r>
              <a:rPr sz="2800" spc="-220" dirty="0">
                <a:latin typeface="Cambria"/>
                <a:cs typeface="Cambria"/>
              </a:rPr>
              <a:t> </a:t>
            </a:r>
            <a:r>
              <a:rPr sz="2800" spc="-105" dirty="0">
                <a:latin typeface="Cambria"/>
                <a:cs typeface="Cambria"/>
              </a:rPr>
              <a:t>line</a:t>
            </a:r>
            <a:r>
              <a:rPr sz="2800" spc="-190" dirty="0">
                <a:latin typeface="Cambria"/>
                <a:cs typeface="Cambria"/>
              </a:rPr>
              <a:t> </a:t>
            </a:r>
            <a:r>
              <a:rPr sz="2800" spc="-60" dirty="0">
                <a:latin typeface="Cambria"/>
                <a:cs typeface="Cambria"/>
              </a:rPr>
              <a:t>is</a:t>
            </a:r>
            <a:r>
              <a:rPr sz="2800" spc="-220" dirty="0">
                <a:latin typeface="Cambria"/>
                <a:cs typeface="Cambria"/>
              </a:rPr>
              <a:t> </a:t>
            </a:r>
            <a:r>
              <a:rPr sz="2800" spc="-125" dirty="0">
                <a:latin typeface="Cambria"/>
                <a:cs typeface="Cambria"/>
              </a:rPr>
              <a:t>considered</a:t>
            </a:r>
            <a:r>
              <a:rPr sz="2800" spc="-1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</a:t>
            </a:r>
            <a:r>
              <a:rPr sz="2800" spc="-215" dirty="0">
                <a:latin typeface="Cambria"/>
                <a:cs typeface="Cambria"/>
              </a:rPr>
              <a:t> </a:t>
            </a:r>
            <a:r>
              <a:rPr sz="2800" spc="-120" dirty="0">
                <a:latin typeface="Cambria"/>
                <a:cs typeface="Cambria"/>
              </a:rPr>
              <a:t>comment</a:t>
            </a:r>
            <a:r>
              <a:rPr sz="2800" spc="-195" dirty="0">
                <a:latin typeface="Cambria"/>
                <a:cs typeface="Cambria"/>
              </a:rPr>
              <a:t> </a:t>
            </a:r>
            <a:r>
              <a:rPr sz="2800" spc="-95" dirty="0">
                <a:latin typeface="Cambria"/>
                <a:cs typeface="Cambria"/>
              </a:rPr>
              <a:t>and</a:t>
            </a:r>
            <a:r>
              <a:rPr sz="2800" spc="-195" dirty="0">
                <a:latin typeface="Cambria"/>
                <a:cs typeface="Cambria"/>
              </a:rPr>
              <a:t> </a:t>
            </a:r>
            <a:r>
              <a:rPr sz="2800" i="1" spc="-8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800" i="1" spc="-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i="1" spc="-125" dirty="0">
                <a:solidFill>
                  <a:srgbClr val="FF0000"/>
                </a:solidFill>
                <a:latin typeface="Cambria"/>
                <a:cs typeface="Cambria"/>
              </a:rPr>
              <a:t>ignored</a:t>
            </a:r>
            <a:r>
              <a:rPr sz="2800" i="1" spc="-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i="1" spc="-100" dirty="0">
                <a:solidFill>
                  <a:srgbClr val="FF0000"/>
                </a:solidFill>
                <a:latin typeface="Cambria"/>
                <a:cs typeface="Cambria"/>
              </a:rPr>
              <a:t>by</a:t>
            </a:r>
            <a:r>
              <a:rPr sz="2800" i="1" spc="-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i="1" spc="-2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2800" i="1" spc="-10" dirty="0">
                <a:solidFill>
                  <a:srgbClr val="FF0000"/>
                </a:solidFill>
                <a:latin typeface="Cambria"/>
                <a:cs typeface="Cambria"/>
              </a:rPr>
              <a:t>compiler</a:t>
            </a:r>
            <a:endParaRPr sz="2800">
              <a:latin typeface="Cambria"/>
              <a:cs typeface="Cambria"/>
            </a:endParaRPr>
          </a:p>
          <a:p>
            <a:pPr marL="12700" marR="2971165">
              <a:lnSpc>
                <a:spcPct val="170000"/>
              </a:lnSpc>
              <a:spcBef>
                <a:spcPts val="1520"/>
              </a:spcBef>
            </a:pP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Double</a:t>
            </a:r>
            <a:r>
              <a:rPr sz="2500" b="1" u="sng" spc="-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forward</a:t>
            </a:r>
            <a:r>
              <a:rPr sz="2500" b="1" u="sng" spc="-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slashes</a:t>
            </a:r>
            <a:r>
              <a:rPr sz="2500" b="1" u="sng" spc="-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(//)</a:t>
            </a:r>
            <a:r>
              <a:rPr sz="2500" b="1" u="sng" spc="-4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to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add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single-</a:t>
            </a:r>
            <a:r>
              <a:rPr sz="2500" dirty="0">
                <a:latin typeface="Cambria"/>
                <a:cs typeface="Cambria"/>
              </a:rPr>
              <a:t>line</a:t>
            </a:r>
            <a:r>
              <a:rPr sz="2500" spc="-3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comment. </a:t>
            </a:r>
            <a:r>
              <a:rPr sz="2500" dirty="0">
                <a:latin typeface="Cambria"/>
                <a:cs typeface="Cambria"/>
              </a:rPr>
              <a:t>int</a:t>
            </a:r>
            <a:r>
              <a:rPr sz="2500" spc="-1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x</a:t>
            </a:r>
            <a:r>
              <a:rPr sz="2500" spc="-2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=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5;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//</a:t>
            </a:r>
            <a:r>
              <a:rPr sz="2500" spc="-2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This</a:t>
            </a:r>
            <a:r>
              <a:rPr sz="2500" spc="-2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is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also</a:t>
            </a:r>
            <a:r>
              <a:rPr sz="2500" spc="-2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</a:t>
            </a:r>
            <a:r>
              <a:rPr sz="2500" spc="-3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single-</a:t>
            </a:r>
            <a:r>
              <a:rPr sz="2500" dirty="0">
                <a:latin typeface="Cambria"/>
                <a:cs typeface="Cambria"/>
              </a:rPr>
              <a:t>line</a:t>
            </a:r>
            <a:r>
              <a:rPr sz="2500" spc="1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comment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sz="25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Multi-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line</a:t>
            </a:r>
            <a:r>
              <a:rPr sz="2500" b="1" u="sng" spc="-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comment/*</a:t>
            </a:r>
            <a:r>
              <a:rPr sz="2500" b="1" u="sng" spc="-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*/: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500" spc="-25" dirty="0">
                <a:latin typeface="Cambria"/>
                <a:cs typeface="Cambria"/>
              </a:rPr>
              <a:t>/*</a:t>
            </a:r>
            <a:endParaRPr sz="2500">
              <a:latin typeface="Cambria"/>
              <a:cs typeface="Cambria"/>
            </a:endParaRPr>
          </a:p>
          <a:p>
            <a:pPr marL="291465">
              <a:lnSpc>
                <a:spcPct val="100000"/>
              </a:lnSpc>
              <a:spcBef>
                <a:spcPts val="600"/>
              </a:spcBef>
            </a:pPr>
            <a:r>
              <a:rPr sz="2500" dirty="0">
                <a:latin typeface="Cambria"/>
                <a:cs typeface="Cambria"/>
              </a:rPr>
              <a:t>This</a:t>
            </a:r>
            <a:r>
              <a:rPr sz="2500" spc="-1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is</a:t>
            </a:r>
            <a:r>
              <a:rPr sz="2500" spc="-2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</a:t>
            </a:r>
            <a:r>
              <a:rPr sz="2500" spc="-2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multi-</a:t>
            </a:r>
            <a:r>
              <a:rPr sz="2500" dirty="0">
                <a:latin typeface="Cambria"/>
                <a:cs typeface="Cambria"/>
              </a:rPr>
              <a:t>line </a:t>
            </a:r>
            <a:r>
              <a:rPr sz="2500" spc="-10" dirty="0">
                <a:latin typeface="Cambria"/>
                <a:cs typeface="Cambria"/>
              </a:rPr>
              <a:t>comment</a:t>
            </a:r>
            <a:endParaRPr sz="2500">
              <a:latin typeface="Cambria"/>
              <a:cs typeface="Cambria"/>
            </a:endParaRPr>
          </a:p>
          <a:p>
            <a:pPr marL="291465">
              <a:lnSpc>
                <a:spcPct val="100000"/>
              </a:lnSpc>
              <a:spcBef>
                <a:spcPts val="600"/>
              </a:spcBef>
            </a:pPr>
            <a:r>
              <a:rPr sz="2500" dirty="0">
                <a:latin typeface="Cambria"/>
                <a:cs typeface="Cambria"/>
              </a:rPr>
              <a:t>It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can</a:t>
            </a:r>
            <a:r>
              <a:rPr sz="2500" spc="-7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span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across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multiple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lines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500" spc="-25" dirty="0">
                <a:latin typeface="Cambria"/>
                <a:cs typeface="Cambria"/>
              </a:rPr>
              <a:t>*/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dirty="0">
                <a:latin typeface="Cambria"/>
                <a:cs typeface="Cambria"/>
              </a:rPr>
              <a:t>int</a:t>
            </a:r>
            <a:r>
              <a:rPr sz="2500" spc="-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y</a:t>
            </a:r>
            <a:r>
              <a:rPr sz="2500" spc="-2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=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10;</a:t>
            </a:r>
            <a:endParaRPr sz="25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436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MT</vt:lpstr>
      <vt:lpstr>Cambria</vt:lpstr>
      <vt:lpstr>Times New Roman</vt:lpstr>
      <vt:lpstr>Office Theme</vt:lpstr>
      <vt:lpstr> Type casting</vt:lpstr>
      <vt:lpstr>Types of Type Casting</vt:lpstr>
      <vt:lpstr>PowerPoint Presentation</vt:lpstr>
      <vt:lpstr>Narrowing Type Casting :</vt:lpstr>
      <vt:lpstr>PowerPoint Presentation</vt:lpstr>
      <vt:lpstr>Comment line in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cp:lastModifiedBy>PRAVEEN KUMAR</cp:lastModifiedBy>
  <cp:revision>13</cp:revision>
  <dcterms:created xsi:type="dcterms:W3CDTF">2025-07-15T04:37:49Z</dcterms:created>
  <dcterms:modified xsi:type="dcterms:W3CDTF">2025-09-22T07:46:14Z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2025-07-15T00:00:00Z</vt:filetime>
  </property>
  <property fmtid="{D5CDD505-2E9C-101B-9397-08002B2CF9AE}" pid="5" name="Producer">
    <vt:lpwstr>www.ilovepdf.com</vt:lpwstr>
  </property>
</Properties>
</file>