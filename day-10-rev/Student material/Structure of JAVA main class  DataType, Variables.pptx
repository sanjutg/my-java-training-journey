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2"/>
    <p:sldId id="298" r:id="rId3"/>
    <p:sldId id="299" r:id="rId4"/>
    <p:sldId id="300" r:id="rId5"/>
    <p:sldId id="302" r:id="rId6"/>
    <p:sldId id="301" r:id="rId7"/>
    <p:sldId id="303" r:id="rId8"/>
    <p:sldId id="315" r:id="rId9"/>
    <p:sldId id="314" r:id="rId10"/>
    <p:sldId id="294" r:id="rId11"/>
    <p:sldId id="296" r:id="rId12"/>
    <p:sldId id="295" r:id="rId13"/>
    <p:sldId id="376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3234" y="674370"/>
            <a:ext cx="343407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134" y="-51840"/>
            <a:ext cx="11209731" cy="15495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00A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62330"/>
            <a:ext cx="10175875" cy="2313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ava/java_arrays.asp" TargetMode="External"/><Relationship Id="rId2" Type="http://schemas.openxmlformats.org/officeDocument/2006/relationships/hyperlink" Target="https://www.w3schools.com/java/java_strings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ava/java_classes.as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616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Class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and</a:t>
            </a:r>
            <a:r>
              <a:rPr sz="4400" spc="-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Object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in </a:t>
            </a:r>
            <a:r>
              <a:rPr sz="4400" spc="-20" dirty="0">
                <a:solidFill>
                  <a:srgbClr val="000000"/>
                </a:solidFill>
              </a:rPr>
              <a:t>Java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8586"/>
            <a:ext cx="10097770" cy="37350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latin typeface="Times New Roman"/>
                <a:cs typeface="Times New Roman"/>
              </a:rPr>
              <a:t>Class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Java</a:t>
            </a:r>
            <a:endParaRPr sz="2800" dirty="0">
              <a:latin typeface="Times New Roman"/>
              <a:cs typeface="Times New Roman"/>
            </a:endParaRPr>
          </a:p>
          <a:p>
            <a:pPr marL="239395" marR="5080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class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blueprint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template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objects.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b="1" dirty="0">
                <a:latin typeface="Times New Roman"/>
                <a:cs typeface="Times New Roman"/>
              </a:rPr>
              <a:t>properties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(fields/variables)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behaviors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(methods/functions)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	</a:t>
            </a:r>
            <a:r>
              <a:rPr sz="2800" dirty="0">
                <a:latin typeface="Times New Roman"/>
                <a:cs typeface="Times New Roman"/>
              </a:rPr>
              <a:t>objects.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occupy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memory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until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object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created.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60"/>
              </a:spcBef>
              <a:buFont typeface="Arial MT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Object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Java</a:t>
            </a:r>
            <a:endParaRPr sz="2800" dirty="0">
              <a:latin typeface="Times New Roman"/>
              <a:cs typeface="Times New Roman"/>
            </a:endParaRPr>
          </a:p>
          <a:p>
            <a:pPr marL="240029" marR="436880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object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instance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holds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actual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properties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invoke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defined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class.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2984" rIns="0" bIns="0" rtlCol="0">
            <a:spAutoFit/>
          </a:bodyPr>
          <a:lstStyle/>
          <a:p>
            <a:pPr marL="190817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Key</a:t>
            </a:r>
            <a:r>
              <a:rPr sz="32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Differences</a:t>
            </a:r>
            <a:r>
              <a:rPr sz="3200" b="1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Between</a:t>
            </a:r>
            <a:r>
              <a:rPr sz="32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Class</a:t>
            </a:r>
            <a:r>
              <a:rPr sz="32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32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Object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419604"/>
          <a:ext cx="10515600" cy="2397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Feature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Object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Definition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01320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blueprint/template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creating objects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4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instance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consume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created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4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Occupies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created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719452" y="5262753"/>
            <a:ext cx="8336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simple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terms: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"design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plan,"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instance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"real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product"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created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 </a:t>
            </a:r>
            <a:r>
              <a:rPr sz="1800" spc="-10" dirty="0">
                <a:latin typeface="Times New Roman"/>
                <a:cs typeface="Times New Roman"/>
              </a:rPr>
              <a:t>plan.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663" y="2279904"/>
            <a:ext cx="8855702" cy="30238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6265" y="951433"/>
            <a:ext cx="27571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65" dirty="0">
                <a:solidFill>
                  <a:srgbClr val="B96480"/>
                </a:solidFill>
                <a:latin typeface="Arial"/>
                <a:cs typeface="Arial"/>
              </a:rPr>
              <a:t>SYNTAX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4615" y="777240"/>
            <a:ext cx="4582795" cy="64643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4"/>
              </a:spcBef>
            </a:pPr>
            <a:r>
              <a:rPr sz="3600" b="1" dirty="0">
                <a:solidFill>
                  <a:srgbClr val="2D75B6"/>
                </a:solidFill>
                <a:latin typeface="Times New Roman"/>
                <a:cs typeface="Times New Roman"/>
              </a:rPr>
              <a:t>public</a:t>
            </a:r>
            <a:r>
              <a:rPr sz="3600" b="1" spc="-1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D75B6"/>
                </a:solidFill>
                <a:latin typeface="Times New Roman"/>
                <a:cs typeface="Times New Roman"/>
              </a:rPr>
              <a:t>class</a:t>
            </a:r>
            <a:r>
              <a:rPr sz="3600" b="1" spc="-1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2D75B6"/>
                </a:solidFill>
                <a:latin typeface="Times New Roman"/>
                <a:cs typeface="Times New Roman"/>
              </a:rPr>
              <a:t>Main</a:t>
            </a:r>
            <a:r>
              <a:rPr sz="3600" b="1" spc="-1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3600" b="1" spc="-50" dirty="0">
                <a:solidFill>
                  <a:srgbClr val="2D75B6"/>
                </a:solidFill>
                <a:latin typeface="Times New Roman"/>
                <a:cs typeface="Times New Roman"/>
              </a:rPr>
              <a:t>{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471" y="1916048"/>
            <a:ext cx="1017016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3825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public:</a:t>
            </a:r>
            <a:r>
              <a:rPr sz="2800" b="1" i="1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keyword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specifies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visibility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means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classes.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class:</a:t>
            </a:r>
            <a:r>
              <a:rPr sz="2800" b="1" i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keyword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declare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Java.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Main:</a:t>
            </a:r>
            <a:r>
              <a:rPr sz="2800" b="1" i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must </a:t>
            </a:r>
            <a:r>
              <a:rPr sz="2800" dirty="0">
                <a:latin typeface="Times New Roman"/>
                <a:cs typeface="Times New Roman"/>
              </a:rPr>
              <a:t>match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filename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(without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.java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extension)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it's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defined.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258" y="1554226"/>
            <a:ext cx="11461115" cy="368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7955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public:</a:t>
            </a:r>
            <a:r>
              <a:rPr sz="2000" b="1" i="1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keyword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visibility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from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classes.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static:</a:t>
            </a:r>
            <a:r>
              <a:rPr sz="2000" b="1" i="1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keyword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indicates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belongs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itself,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class.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void:</a:t>
            </a:r>
            <a:r>
              <a:rPr sz="2000" b="1" i="1" spc="-6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keyword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indicates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 doesn't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0" dirty="0">
                <a:latin typeface="Times New Roman"/>
                <a:cs typeface="Times New Roman"/>
              </a:rPr>
              <a:t> value.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main:</a:t>
            </a:r>
            <a:r>
              <a:rPr sz="2000" b="1" i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Java,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 method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(String[]</a:t>
            </a:r>
            <a:r>
              <a:rPr sz="2000" b="1" i="1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args):</a:t>
            </a:r>
            <a:r>
              <a:rPr sz="2000" b="1" i="1" spc="-5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parameter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accepts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strings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arguments.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</a:t>
            </a:r>
            <a:r>
              <a:rPr sz="2000" spc="-25" dirty="0">
                <a:latin typeface="Times New Roman"/>
                <a:cs typeface="Times New Roman"/>
              </a:rPr>
              <a:t> is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conventional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parameter,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though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could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choose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valid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Java</a:t>
            </a:r>
            <a:r>
              <a:rPr sz="2000" spc="-10" dirty="0">
                <a:latin typeface="Times New Roman"/>
                <a:cs typeface="Times New Roman"/>
              </a:rPr>
              <a:t> identifier.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main(String[]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args).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1948" y="664463"/>
            <a:ext cx="6436360" cy="52451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b="1" dirty="0">
                <a:solidFill>
                  <a:srgbClr val="2D75B6"/>
                </a:solidFill>
                <a:latin typeface="Times New Roman"/>
                <a:cs typeface="Times New Roman"/>
              </a:rPr>
              <a:t>public</a:t>
            </a:r>
            <a:r>
              <a:rPr b="1" spc="-8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2D75B6"/>
                </a:solidFill>
                <a:latin typeface="Times New Roman"/>
                <a:cs typeface="Times New Roman"/>
              </a:rPr>
              <a:t>static</a:t>
            </a:r>
            <a:r>
              <a:rPr b="1" spc="-70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2D75B6"/>
                </a:solidFill>
                <a:latin typeface="Times New Roman"/>
                <a:cs typeface="Times New Roman"/>
              </a:rPr>
              <a:t>void</a:t>
            </a:r>
            <a:r>
              <a:rPr b="1" spc="-7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2D75B6"/>
                </a:solidFill>
                <a:latin typeface="Times New Roman"/>
                <a:cs typeface="Times New Roman"/>
              </a:rPr>
              <a:t>main(String[]</a:t>
            </a:r>
            <a:r>
              <a:rPr b="1" spc="-3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2D75B6"/>
                </a:solidFill>
                <a:latin typeface="Times New Roman"/>
                <a:cs typeface="Times New Roman"/>
              </a:rPr>
              <a:t>args)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7105" y="377190"/>
            <a:ext cx="36341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Printing</a:t>
            </a:r>
            <a:r>
              <a:rPr sz="4000" b="1" spc="-1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output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7172" y="1345590"/>
            <a:ext cx="10523855" cy="2072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3045">
              <a:lnSpc>
                <a:spcPct val="150100"/>
              </a:lnSpc>
              <a:spcBef>
                <a:spcPts val="100"/>
              </a:spcBef>
              <a:buSzPct val="96428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800" dirty="0">
                <a:latin typeface="Cambria"/>
                <a:cs typeface="Cambria"/>
              </a:rPr>
              <a:t>	In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Java,</a:t>
            </a:r>
            <a:r>
              <a:rPr sz="2800" spc="-5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the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mbria"/>
                <a:cs typeface="Cambria"/>
              </a:rPr>
              <a:t>System.out.println()</a:t>
            </a:r>
            <a:r>
              <a:rPr sz="2800" b="1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method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is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commonly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used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print </a:t>
            </a:r>
            <a:r>
              <a:rPr sz="2800" dirty="0">
                <a:latin typeface="Cambria"/>
                <a:cs typeface="Cambria"/>
              </a:rPr>
              <a:t>output</a:t>
            </a:r>
            <a:r>
              <a:rPr sz="2800" spc="-5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the</a:t>
            </a:r>
            <a:r>
              <a:rPr sz="2800" spc="-5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console.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75"/>
              </a:spcBef>
            </a:pPr>
            <a:r>
              <a:rPr sz="2800" b="1" dirty="0">
                <a:latin typeface="Cambria"/>
                <a:cs typeface="Cambria"/>
              </a:rPr>
              <a:t>Example</a:t>
            </a:r>
            <a:r>
              <a:rPr sz="2800" b="1" spc="-150" dirty="0">
                <a:latin typeface="Cambria"/>
                <a:cs typeface="Cambria"/>
              </a:rPr>
              <a:t> </a:t>
            </a:r>
            <a:r>
              <a:rPr sz="2800" b="1" spc="-35" dirty="0">
                <a:latin typeface="Cambria"/>
                <a:cs typeface="Cambria"/>
              </a:rPr>
              <a:t>1: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3429000"/>
            <a:ext cx="8855702" cy="3023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7281" y="1910283"/>
            <a:ext cx="1159954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C000"/>
                </a:solidFill>
                <a:latin typeface="Times New Roman"/>
                <a:cs typeface="Times New Roman"/>
              </a:rPr>
              <a:t>System.out:</a:t>
            </a:r>
            <a:r>
              <a:rPr sz="2400" b="1" i="1" spc="16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java.lang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package.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represents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stream.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 indent="76200">
              <a:lnSpc>
                <a:spcPct val="100000"/>
              </a:lnSpc>
              <a:spcBef>
                <a:spcPts val="5"/>
              </a:spcBef>
            </a:pPr>
            <a:r>
              <a:rPr sz="2400" b="1" i="1" dirty="0">
                <a:solidFill>
                  <a:srgbClr val="FFC000"/>
                </a:solidFill>
                <a:latin typeface="Times New Roman"/>
                <a:cs typeface="Times New Roman"/>
              </a:rPr>
              <a:t>println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PrintStream class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(associated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prints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console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newline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character.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8255">
              <a:lnSpc>
                <a:spcPct val="100000"/>
              </a:lnSpc>
            </a:pPr>
            <a:r>
              <a:rPr sz="2400" b="1" i="1" dirty="0">
                <a:solidFill>
                  <a:srgbClr val="FFC000"/>
                </a:solidFill>
                <a:latin typeface="Times New Roman"/>
                <a:cs typeface="Times New Roman"/>
              </a:rPr>
              <a:t>"Hello</a:t>
            </a:r>
            <a:r>
              <a:rPr sz="2400" b="1" i="1" spc="20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C000"/>
                </a:solidFill>
                <a:latin typeface="Times New Roman"/>
                <a:cs typeface="Times New Roman"/>
              </a:rPr>
              <a:t>World":</a:t>
            </a:r>
            <a:r>
              <a:rPr sz="2400" b="1" i="1" spc="204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printed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console.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It's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enclosed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double </a:t>
            </a:r>
            <a:r>
              <a:rPr sz="2400" dirty="0">
                <a:latin typeface="Times New Roman"/>
                <a:cs typeface="Times New Roman"/>
              </a:rPr>
              <a:t>quotes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literal.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0655" y="664463"/>
            <a:ext cx="7790815" cy="58547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260"/>
              </a:spcBef>
            </a:pPr>
            <a:r>
              <a:rPr sz="3200" b="1" dirty="0">
                <a:solidFill>
                  <a:srgbClr val="2D75B6"/>
                </a:solidFill>
                <a:latin typeface="Times New Roman"/>
                <a:cs typeface="Times New Roman"/>
              </a:rPr>
              <a:t>System.out.println("Hello</a:t>
            </a:r>
            <a:r>
              <a:rPr sz="3200" b="1" spc="-135" dirty="0">
                <a:solidFill>
                  <a:srgbClr val="2D75B6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2D75B6"/>
                </a:solidFill>
                <a:latin typeface="Times New Roman"/>
                <a:cs typeface="Times New Roman"/>
              </a:rPr>
              <a:t>World");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017" y="681608"/>
            <a:ext cx="26930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4400" b="1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55" dirty="0">
                <a:solidFill>
                  <a:srgbClr val="000000"/>
                </a:solidFill>
                <a:latin typeface="Times New Roman"/>
                <a:cs typeface="Times New Roman"/>
              </a:rPr>
              <a:t>Types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2634" y="2170303"/>
            <a:ext cx="971931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Segoe UI Symbol"/>
              <a:buChar char="⮚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hold.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Segoe UI Symbol"/>
              <a:buChar char="⮚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Segoe UI Symbol"/>
              <a:buChar char="⮚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 divided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 </a:t>
            </a:r>
            <a:r>
              <a:rPr sz="2400" spc="-10" dirty="0">
                <a:latin typeface="Times New Roman"/>
                <a:cs typeface="Times New Roman"/>
              </a:rPr>
              <a:t>groups: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Segoe UI Symbol"/>
              <a:buChar char="⮚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Segoe UI Symbol"/>
              <a:buChar char="⮚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Primitive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includes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byte,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float,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double,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boolean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char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buFont typeface="Segoe UI Symbol"/>
              <a:buChar char="⮚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Non-</a:t>
            </a:r>
            <a:r>
              <a:rPr sz="2400" dirty="0">
                <a:latin typeface="Times New Roman"/>
                <a:cs typeface="Times New Roman"/>
              </a:rPr>
              <a:t>primitive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String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Arrays</a:t>
            </a:r>
            <a:r>
              <a:rPr sz="2400" spc="-15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Classes</a:t>
            </a:r>
            <a:r>
              <a:rPr sz="2400" spc="-20" dirty="0">
                <a:solidFill>
                  <a:srgbClr val="0462C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(you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learn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about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 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chapter)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6480" y="1607449"/>
            <a:ext cx="234315" cy="444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ts val="3000"/>
              </a:lnSpc>
            </a:pPr>
            <a:r>
              <a:rPr sz="2750" spc="-50" dirty="0">
                <a:latin typeface="Times New Roman"/>
                <a:cs typeface="Times New Roman"/>
              </a:rPr>
              <a:t>•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10"/>
              </a:spcBef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500" b="1" spc="-10" dirty="0">
                <a:latin typeface="Calibri"/>
                <a:cs typeface="Calibri"/>
              </a:rPr>
              <a:t>jdfdf</a:t>
            </a:r>
            <a:endParaRPr sz="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004" y="97534"/>
            <a:ext cx="11617452" cy="66629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34" y="389585"/>
            <a:ext cx="2131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0" dirty="0">
                <a:solidFill>
                  <a:srgbClr val="000000"/>
                </a:solidFill>
                <a:latin typeface="Cambria"/>
                <a:cs typeface="Cambria"/>
              </a:rPr>
              <a:t>Data</a:t>
            </a:r>
            <a:r>
              <a:rPr sz="4000" b="1" spc="-2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75" dirty="0">
                <a:solidFill>
                  <a:srgbClr val="000000"/>
                </a:solidFill>
                <a:latin typeface="Cambria"/>
                <a:cs typeface="Cambria"/>
              </a:rPr>
              <a:t>type</a:t>
            </a:r>
            <a:endParaRPr sz="40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3097" y="1312925"/>
            <a:ext cx="11428730" cy="0"/>
          </a:xfrm>
          <a:custGeom>
            <a:avLst/>
            <a:gdLst/>
            <a:ahLst/>
            <a:cxnLst/>
            <a:rect l="l" t="t" r="r" b="b"/>
            <a:pathLst>
              <a:path w="11428730">
                <a:moveTo>
                  <a:pt x="0" y="0"/>
                </a:moveTo>
                <a:lnTo>
                  <a:pt x="11428476" y="0"/>
                </a:lnTo>
              </a:path>
            </a:pathLst>
          </a:custGeom>
          <a:ln w="38100">
            <a:solidFill>
              <a:srgbClr val="00B5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96078" y="431672"/>
            <a:ext cx="20675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Variable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500" y="1492331"/>
            <a:ext cx="10812780" cy="3319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1545"/>
              </a:spcBef>
              <a:buSzPct val="83333"/>
              <a:buFont typeface="Wingdings"/>
              <a:buChar char=""/>
              <a:tabLst>
                <a:tab pos="410209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container</a:t>
            </a:r>
            <a:r>
              <a:rPr sz="2400" b="1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holds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while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Java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program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469265" algn="l"/>
              </a:tabLst>
            </a:pPr>
            <a:r>
              <a:rPr sz="2400" spc="-20" dirty="0">
                <a:latin typeface="Cambria"/>
                <a:cs typeface="Cambria"/>
              </a:rPr>
              <a:t>Variable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name</a:t>
            </a:r>
            <a:r>
              <a:rPr sz="24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memory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location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469900" marR="508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reserved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area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allocated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memory.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words,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it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memory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location.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combination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"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vary</a:t>
            </a:r>
            <a:r>
              <a:rPr sz="2400" b="1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sz="2400" b="1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able</a:t>
            </a:r>
            <a:r>
              <a:rPr sz="2400" dirty="0">
                <a:latin typeface="Cambria"/>
                <a:cs typeface="Cambria"/>
              </a:rPr>
              <a:t>"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which</a:t>
            </a:r>
            <a:endParaRPr sz="24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Cambria"/>
                <a:cs typeface="Cambria"/>
              </a:rPr>
              <a:t>means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changed.</a:t>
            </a:r>
            <a:endParaRPr sz="24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assigned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type.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5293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Example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892" y="2401341"/>
            <a:ext cx="297434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34085" algn="l"/>
              </a:tabLst>
            </a:pPr>
            <a:r>
              <a:rPr sz="2500" i="1" spc="-25" dirty="0">
                <a:latin typeface="Courier New"/>
                <a:cs typeface="Courier New"/>
              </a:rPr>
              <a:t>int</a:t>
            </a:r>
            <a:r>
              <a:rPr sz="2500" i="1" dirty="0">
                <a:latin typeface="Courier New"/>
                <a:cs typeface="Courier New"/>
              </a:rPr>
              <a:t>	</a:t>
            </a:r>
            <a:r>
              <a:rPr sz="2400" spc="-10" dirty="0">
                <a:latin typeface="Lucida Console"/>
                <a:cs typeface="Lucida Console"/>
              </a:rPr>
              <a:t>myVariable;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892" y="2788153"/>
            <a:ext cx="1132205" cy="10109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90"/>
              </a:spcBef>
            </a:pPr>
            <a:r>
              <a:rPr sz="2500" i="1" spc="-60" dirty="0">
                <a:latin typeface="Courier New"/>
                <a:cs typeface="Courier New"/>
              </a:rPr>
              <a:t>double String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8670" y="2784856"/>
            <a:ext cx="1499235" cy="101091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95"/>
              </a:spcBef>
            </a:pPr>
            <a:r>
              <a:rPr sz="2400" spc="-10" dirty="0">
                <a:latin typeface="Lucida Console"/>
                <a:cs typeface="Lucida Console"/>
              </a:rPr>
              <a:t>_value;</a:t>
            </a:r>
            <a:endParaRPr sz="24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400" spc="-10" dirty="0">
                <a:latin typeface="Lucida Console"/>
                <a:cs typeface="Lucida Console"/>
              </a:rPr>
              <a:t>$name;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892" y="3771641"/>
            <a:ext cx="3894454" cy="101346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500" i="1" dirty="0">
                <a:latin typeface="Courier New"/>
                <a:cs typeface="Courier New"/>
              </a:rPr>
              <a:t>int</a:t>
            </a:r>
            <a:r>
              <a:rPr sz="2500" i="1" spc="-2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myVar123;</a:t>
            </a:r>
            <a:endParaRPr sz="24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500" i="1" dirty="0">
                <a:latin typeface="Courier New"/>
                <a:cs typeface="Courier New"/>
              </a:rPr>
              <a:t>int</a:t>
            </a:r>
            <a:r>
              <a:rPr sz="2500" i="1" spc="-2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numberOfStudents;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7892" y="4865582"/>
            <a:ext cx="113220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i="1" spc="-45" dirty="0">
                <a:latin typeface="Courier New"/>
                <a:cs typeface="Courier New"/>
              </a:rPr>
              <a:t>String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8670" y="4882083"/>
            <a:ext cx="1683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Console"/>
                <a:cs typeface="Lucida Console"/>
              </a:rPr>
              <a:t>userName;</a:t>
            </a:r>
            <a:endParaRPr sz="2400">
              <a:latin typeface="Lucida Console"/>
              <a:cs typeface="Lucida Console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067" y="167639"/>
            <a:ext cx="2734056" cy="273405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50382" y="2229383"/>
            <a:ext cx="297434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i="1" dirty="0">
                <a:latin typeface="Courier New"/>
                <a:cs typeface="Courier New"/>
              </a:rPr>
              <a:t>int</a:t>
            </a:r>
            <a:r>
              <a:rPr sz="2500" i="1" spc="-2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123variable;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0382" y="2778023"/>
            <a:ext cx="113220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i="1" spc="-45" dirty="0">
                <a:latin typeface="Courier New"/>
                <a:cs typeface="Courier New"/>
              </a:rPr>
              <a:t>double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41591" y="2794508"/>
            <a:ext cx="2233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Lucida Console"/>
                <a:cs typeface="Lucida Console"/>
              </a:rPr>
              <a:t>my-</a:t>
            </a:r>
            <a:r>
              <a:rPr sz="2400" spc="-10" dirty="0">
                <a:latin typeface="Lucida Console"/>
                <a:cs typeface="Lucida Console"/>
              </a:rPr>
              <a:t>variable;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46491" y="3159587"/>
            <a:ext cx="94805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545"/>
              </a:spcBef>
            </a:pPr>
            <a:r>
              <a:rPr sz="2400" dirty="0">
                <a:latin typeface="Lucida Console"/>
                <a:cs typeface="Lucida Console"/>
              </a:rPr>
              <a:t>=</a:t>
            </a:r>
            <a:r>
              <a:rPr sz="2400" spc="-5" dirty="0">
                <a:latin typeface="Lucida Console"/>
                <a:cs typeface="Lucida Console"/>
              </a:rPr>
              <a:t> </a:t>
            </a:r>
            <a:r>
              <a:rPr sz="2400" spc="-25" dirty="0">
                <a:latin typeface="Lucida Console"/>
                <a:cs typeface="Lucida Console"/>
              </a:rPr>
              <a:t>20;</a:t>
            </a:r>
            <a:endParaRPr sz="24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Lucida Console"/>
                <a:cs typeface="Lucida Console"/>
              </a:rPr>
              <a:t>=</a:t>
            </a:r>
            <a:r>
              <a:rPr sz="2400" spc="-10" dirty="0">
                <a:latin typeface="Lucida Console"/>
                <a:cs typeface="Lucida Console"/>
              </a:rPr>
              <a:t> </a:t>
            </a:r>
            <a:r>
              <a:rPr sz="2400" spc="-25" dirty="0">
                <a:latin typeface="Lucida Console"/>
                <a:cs typeface="Lucida Console"/>
              </a:rPr>
              <a:t>30;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50382" y="3162890"/>
            <a:ext cx="223774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100"/>
              </a:spcBef>
            </a:pPr>
            <a:r>
              <a:rPr sz="2500" i="1" dirty="0">
                <a:latin typeface="Courier New"/>
                <a:cs typeface="Courier New"/>
              </a:rPr>
              <a:t>int</a:t>
            </a:r>
            <a:r>
              <a:rPr sz="2500" i="1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Lucida Console"/>
                <a:cs typeface="Lucida Console"/>
              </a:rPr>
              <a:t>my</a:t>
            </a:r>
            <a:r>
              <a:rPr sz="2400" spc="-95" dirty="0">
                <a:latin typeface="Lucida Console"/>
                <a:cs typeface="Lucida Console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value </a:t>
            </a:r>
            <a:r>
              <a:rPr sz="2500" i="1" dirty="0">
                <a:latin typeface="Courier New"/>
                <a:cs typeface="Courier New"/>
              </a:rPr>
              <a:t>int</a:t>
            </a:r>
            <a:r>
              <a:rPr sz="2500" i="1" spc="-2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my@value </a:t>
            </a:r>
            <a:r>
              <a:rPr sz="2500" i="1" dirty="0">
                <a:latin typeface="Courier New"/>
                <a:cs typeface="Courier New"/>
              </a:rPr>
              <a:t>int</a:t>
            </a:r>
            <a:r>
              <a:rPr sz="2500" i="1" spc="-2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class; </a:t>
            </a:r>
            <a:r>
              <a:rPr sz="2500" i="1" spc="-25" dirty="0">
                <a:latin typeface="Courier New"/>
                <a:cs typeface="Courier New"/>
              </a:rPr>
              <a:t>int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0382" y="5538317"/>
            <a:ext cx="5922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Console"/>
                <a:cs typeface="Lucida Console"/>
              </a:rPr>
              <a:t>thisIsAVeryLongVariableNameThat;</a:t>
            </a:r>
            <a:endParaRPr sz="2400">
              <a:latin typeface="Lucida Console"/>
              <a:cs typeface="Lucida Console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52331" y="995172"/>
            <a:ext cx="1616964" cy="1397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980" y="505790"/>
            <a:ext cx="6417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20" dirty="0">
                <a:solidFill>
                  <a:srgbClr val="000000"/>
                </a:solidFill>
                <a:latin typeface="Cambria"/>
                <a:cs typeface="Cambria"/>
              </a:rPr>
              <a:t>Rules</a:t>
            </a:r>
            <a:r>
              <a:rPr sz="4400" b="1" spc="-2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95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4400" b="1" spc="-229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25" dirty="0">
                <a:solidFill>
                  <a:srgbClr val="000000"/>
                </a:solidFill>
                <a:latin typeface="Cambria"/>
                <a:cs typeface="Cambria"/>
              </a:rPr>
              <a:t>creating</a:t>
            </a:r>
            <a:r>
              <a:rPr sz="4400" b="1" spc="-1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95" dirty="0">
                <a:solidFill>
                  <a:srgbClr val="000000"/>
                </a:solidFill>
                <a:latin typeface="Cambria"/>
                <a:cs typeface="Cambria"/>
              </a:rPr>
              <a:t>variable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92970"/>
            <a:ext cx="9518015" cy="52558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322070">
              <a:lnSpc>
                <a:spcPct val="100000"/>
              </a:lnSpc>
              <a:spcBef>
                <a:spcPts val="1540"/>
              </a:spcBef>
            </a:pPr>
            <a:r>
              <a:rPr sz="2800" dirty="0">
                <a:latin typeface="Cambria"/>
                <a:cs typeface="Cambria"/>
              </a:rPr>
              <a:t>In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Java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,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before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variable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you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should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declare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800" i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i="1" spc="-20" dirty="0">
                <a:solidFill>
                  <a:srgbClr val="FF0000"/>
                </a:solidFill>
                <a:latin typeface="Cambria"/>
                <a:cs typeface="Cambria"/>
              </a:rPr>
              <a:t>type</a:t>
            </a:r>
            <a:endParaRPr sz="28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24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All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variables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begin</a:t>
            </a:r>
            <a:r>
              <a:rPr sz="24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alphabet</a:t>
            </a:r>
            <a:r>
              <a:rPr sz="24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400" i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underscore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15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Can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only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contain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alpha-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numeric</a:t>
            </a:r>
            <a:r>
              <a:rPr sz="24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characters</a:t>
            </a:r>
            <a:r>
              <a:rPr sz="240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underscores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15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i="1" spc="-20" dirty="0">
                <a:solidFill>
                  <a:srgbClr val="FF0000"/>
                </a:solidFill>
                <a:latin typeface="Cambria"/>
                <a:cs typeface="Cambria"/>
              </a:rPr>
              <a:t>Case-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sensitive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(name,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three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different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variables)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15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reserved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words(keywords</a:t>
            </a:r>
            <a:r>
              <a:rPr sz="2400" spc="-10" dirty="0">
                <a:latin typeface="Cambria"/>
                <a:cs typeface="Cambria"/>
              </a:rPr>
              <a:t>)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cannot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naming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</a:t>
            </a:r>
            <a:endParaRPr sz="2400" dirty="0">
              <a:latin typeface="Cambria"/>
              <a:cs typeface="Cambria"/>
            </a:endParaRPr>
          </a:p>
          <a:p>
            <a:pPr marL="422275" indent="-409575">
              <a:lnSpc>
                <a:spcPct val="100000"/>
              </a:lnSpc>
              <a:spcBef>
                <a:spcPts val="1150"/>
              </a:spcBef>
              <a:buFont typeface="Wingdings"/>
              <a:buChar char=""/>
              <a:tabLst>
                <a:tab pos="422275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$</a:t>
            </a:r>
            <a:r>
              <a:rPr sz="24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4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_</a:t>
            </a:r>
            <a:r>
              <a:rPr sz="24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special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characters.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15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cannot</a:t>
            </a:r>
            <a:r>
              <a:rPr sz="240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40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numbers</a:t>
            </a:r>
            <a:r>
              <a:rPr sz="24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but</a:t>
            </a:r>
            <a:r>
              <a:rPr sz="240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sz="2400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4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in-between.</a:t>
            </a:r>
            <a:endParaRPr sz="2400" dirty="0">
              <a:latin typeface="Cambria"/>
              <a:cs typeface="Cambria"/>
            </a:endParaRPr>
          </a:p>
          <a:p>
            <a:pPr marL="422275" indent="-409575">
              <a:lnSpc>
                <a:spcPct val="100000"/>
              </a:lnSpc>
              <a:spcBef>
                <a:spcPts val="1150"/>
              </a:spcBef>
              <a:buClr>
                <a:srgbClr val="000000"/>
              </a:buClr>
              <a:buFont typeface="Wingdings"/>
              <a:buChar char=""/>
              <a:tabLst>
                <a:tab pos="422275" algn="l"/>
              </a:tabLst>
            </a:pP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sz="24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space</a:t>
            </a:r>
            <a:r>
              <a:rPr sz="24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allowed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</a:t>
            </a:r>
            <a:endParaRPr sz="2400" dirty="0">
              <a:latin typeface="Cambria"/>
              <a:cs typeface="Cambria"/>
            </a:endParaRPr>
          </a:p>
          <a:p>
            <a:pPr marL="422275" indent="-409575">
              <a:lnSpc>
                <a:spcPct val="100000"/>
              </a:lnSpc>
              <a:spcBef>
                <a:spcPts val="1155"/>
              </a:spcBef>
              <a:buFont typeface="Wingdings"/>
              <a:buChar char=""/>
              <a:tabLst>
                <a:tab pos="422275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better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give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meaning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full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when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you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create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application</a:t>
            </a:r>
            <a:endParaRPr sz="2400" dirty="0">
              <a:latin typeface="Cambria"/>
              <a:cs typeface="Cambria"/>
            </a:endParaRPr>
          </a:p>
          <a:p>
            <a:pPr marL="422275" indent="-409575">
              <a:lnSpc>
                <a:spcPct val="100000"/>
              </a:lnSpc>
              <a:spcBef>
                <a:spcPts val="1155"/>
              </a:spcBef>
              <a:buFont typeface="Wingdings"/>
              <a:buChar char=""/>
              <a:tabLst>
                <a:tab pos="422275" algn="l"/>
              </a:tabLst>
            </a:pPr>
            <a:r>
              <a:rPr sz="2400" spc="-50" dirty="0">
                <a:latin typeface="Cambria"/>
                <a:cs typeface="Cambria"/>
              </a:rPr>
              <a:t>We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include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more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then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255</a:t>
            </a:r>
            <a:r>
              <a:rPr sz="2400" i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character</a:t>
            </a:r>
            <a:r>
              <a:rPr sz="24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35" dirty="0">
                <a:latin typeface="Cambria"/>
                <a:cs typeface="Cambria"/>
              </a:rPr>
              <a:t>it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371600"/>
            <a:ext cx="8674608" cy="33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1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0831" rIns="0" bIns="0" rtlCol="0">
            <a:spAutoFit/>
          </a:bodyPr>
          <a:lstStyle/>
          <a:p>
            <a:pPr marL="181419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Declaring</a:t>
            </a:r>
            <a:r>
              <a:rPr sz="4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(Creating)</a:t>
            </a:r>
            <a:r>
              <a:rPr sz="4400" b="1" spc="-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Variables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900" y="3733800"/>
            <a:ext cx="3325041" cy="10622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6204" y="4110663"/>
            <a:ext cx="3749756" cy="6992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0811" y="5193791"/>
            <a:ext cx="3722269" cy="10119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39896" y="2014727"/>
            <a:ext cx="3961129" cy="122428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60"/>
              </a:spcBef>
            </a:pPr>
            <a:r>
              <a:rPr sz="2400" i="1" spc="-10" dirty="0">
                <a:latin typeface="Times New Roman"/>
                <a:cs typeface="Times New Roman"/>
              </a:rPr>
              <a:t>Syntax:-</a:t>
            </a:r>
            <a:endParaRPr sz="24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  <a:spcBef>
                <a:spcPts val="1575"/>
              </a:spcBef>
            </a:pPr>
            <a:r>
              <a:rPr sz="2400" b="1" i="1" dirty="0">
                <a:latin typeface="Times New Roman"/>
                <a:cs typeface="Times New Roman"/>
              </a:rPr>
              <a:t>type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variableName</a:t>
            </a:r>
            <a:r>
              <a:rPr sz="2400" b="1" i="1" spc="-3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= </a:t>
            </a:r>
            <a:r>
              <a:rPr sz="2400" b="1" i="1" spc="-10" dirty="0">
                <a:latin typeface="Times New Roman"/>
                <a:cs typeface="Times New Roman"/>
              </a:rPr>
              <a:t>value</a:t>
            </a:r>
            <a:r>
              <a:rPr sz="2400" i="1" spc="-10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3" y="1103054"/>
            <a:ext cx="3813534" cy="15865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0400" y="1219200"/>
            <a:ext cx="3462868" cy="11765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4800" y="3780597"/>
            <a:ext cx="4074400" cy="1181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113" y="568274"/>
            <a:ext cx="5064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35" dirty="0">
                <a:solidFill>
                  <a:srgbClr val="000000"/>
                </a:solidFill>
                <a:latin typeface="Cambria"/>
                <a:cs typeface="Cambria"/>
              </a:rPr>
              <a:t>Three</a:t>
            </a:r>
            <a:r>
              <a:rPr sz="4000" b="1" spc="-1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120" dirty="0">
                <a:solidFill>
                  <a:srgbClr val="000000"/>
                </a:solidFill>
                <a:latin typeface="Cambria"/>
                <a:cs typeface="Cambria"/>
              </a:rPr>
              <a:t>types</a:t>
            </a:r>
            <a:r>
              <a:rPr sz="4000" b="1" spc="-2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6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4000" b="1" spc="-22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000" b="1" spc="-90" dirty="0">
                <a:solidFill>
                  <a:srgbClr val="000000"/>
                </a:solidFill>
                <a:latin typeface="Cambria"/>
                <a:cs typeface="Cambria"/>
              </a:rPr>
              <a:t>variable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500" y="1332103"/>
            <a:ext cx="6621145" cy="276923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dirty="0">
                <a:latin typeface="Cambria"/>
                <a:cs typeface="Cambria"/>
              </a:rPr>
              <a:t>There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are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three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types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of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variables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in</a:t>
            </a:r>
            <a:r>
              <a:rPr sz="3000" spc="-45" dirty="0">
                <a:latin typeface="Cambria"/>
                <a:cs typeface="Cambria"/>
              </a:rPr>
              <a:t> </a:t>
            </a:r>
            <a:r>
              <a:rPr sz="3000" spc="-20" dirty="0">
                <a:latin typeface="Cambria"/>
                <a:cs typeface="Cambria"/>
              </a:rPr>
              <a:t>Java</a:t>
            </a:r>
            <a:endParaRPr sz="30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469265" algn="l"/>
              </a:tabLst>
            </a:pPr>
            <a:r>
              <a:rPr sz="3000" dirty="0">
                <a:latin typeface="Cambria"/>
                <a:cs typeface="Cambria"/>
              </a:rPr>
              <a:t>Local</a:t>
            </a:r>
            <a:r>
              <a:rPr sz="3000" spc="-2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Variable</a:t>
            </a:r>
            <a:endParaRPr sz="30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469265" algn="l"/>
              </a:tabLst>
            </a:pPr>
            <a:r>
              <a:rPr sz="3000" dirty="0">
                <a:latin typeface="Cambria"/>
                <a:cs typeface="Cambria"/>
              </a:rPr>
              <a:t>Instance</a:t>
            </a:r>
            <a:r>
              <a:rPr sz="3000" spc="-1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Variable</a:t>
            </a:r>
            <a:endParaRPr sz="30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469265" algn="l"/>
              </a:tabLst>
            </a:pPr>
            <a:r>
              <a:rPr sz="3000" dirty="0">
                <a:latin typeface="Cambria"/>
                <a:cs typeface="Cambria"/>
              </a:rPr>
              <a:t>Static</a:t>
            </a:r>
            <a:r>
              <a:rPr sz="3000" spc="-4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Variable</a:t>
            </a:r>
            <a:endParaRPr sz="3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15" y="2828544"/>
            <a:ext cx="3509893" cy="1978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1847" y="224739"/>
            <a:ext cx="3569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13840" algn="l"/>
              </a:tabLst>
            </a:pPr>
            <a:r>
              <a:rPr sz="4400" b="1" spc="-10" dirty="0">
                <a:solidFill>
                  <a:srgbClr val="000000"/>
                </a:solidFill>
                <a:latin typeface="Cambria"/>
                <a:cs typeface="Cambria"/>
              </a:rPr>
              <a:t>Local</a:t>
            </a:r>
            <a:r>
              <a:rPr sz="4400" b="1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4400" b="1" spc="-140" dirty="0">
                <a:solidFill>
                  <a:srgbClr val="000000"/>
                </a:solidFill>
                <a:latin typeface="Cambria"/>
                <a:cs typeface="Cambria"/>
              </a:rPr>
              <a:t>Variable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500" y="1177063"/>
            <a:ext cx="9794875" cy="4842608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524510" indent="-511809">
              <a:lnSpc>
                <a:spcPct val="100000"/>
              </a:lnSpc>
              <a:spcBef>
                <a:spcPts val="970"/>
              </a:spcBef>
              <a:buSzPct val="83333"/>
              <a:buFont typeface="Wingdings"/>
              <a:buChar char=""/>
              <a:tabLst>
                <a:tab pos="524510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declared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inside</a:t>
            </a:r>
            <a:r>
              <a:rPr sz="24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body</a:t>
            </a:r>
            <a:r>
              <a:rPr sz="24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method</a:t>
            </a:r>
            <a:r>
              <a:rPr sz="24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local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variable.</a:t>
            </a:r>
            <a:endParaRPr sz="2400" dirty="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865"/>
              </a:spcBef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Cambria"/>
                <a:cs typeface="Cambria"/>
              </a:rPr>
              <a:t>A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local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cannot</a:t>
            </a:r>
            <a:r>
              <a:rPr sz="2400" i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defined</a:t>
            </a:r>
            <a:r>
              <a:rPr sz="24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"static"</a:t>
            </a:r>
            <a:r>
              <a:rPr sz="24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keyword.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2400" dirty="0">
              <a:latin typeface="Cambria"/>
              <a:cs typeface="Cambria"/>
            </a:endParaRPr>
          </a:p>
          <a:p>
            <a:pPr marL="12700" marR="7553959">
              <a:lnSpc>
                <a:spcPct val="130100"/>
              </a:lnSpc>
              <a:spcBef>
                <a:spcPts val="5"/>
              </a:spcBef>
            </a:pPr>
            <a:r>
              <a:rPr sz="2400" dirty="0" smtClean="0">
                <a:latin typeface="Cambria"/>
                <a:cs typeface="Cambria"/>
              </a:rPr>
              <a:t>public</a:t>
            </a:r>
            <a:r>
              <a:rPr sz="2400" spc="-50" dirty="0" smtClean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Loc</a:t>
            </a:r>
            <a:r>
              <a:rPr sz="2400" b="1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</a:t>
            </a:r>
            <a:endParaRPr sz="2400" dirty="0">
              <a:latin typeface="Cambria"/>
              <a:cs typeface="Cambria"/>
            </a:endParaRPr>
          </a:p>
          <a:p>
            <a:pPr marL="1371600" marR="4391025" indent="-946785">
              <a:lnSpc>
                <a:spcPct val="130000"/>
              </a:lnSpc>
            </a:pPr>
            <a:r>
              <a:rPr sz="2400" dirty="0">
                <a:latin typeface="Cambria"/>
                <a:cs typeface="Cambria"/>
              </a:rPr>
              <a:t>public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static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void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main(String[]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args)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{ </a:t>
            </a:r>
            <a:r>
              <a:rPr sz="2400" dirty="0">
                <a:latin typeface="Cambria"/>
                <a:cs typeface="Cambria"/>
              </a:rPr>
              <a:t>int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loc= </a:t>
            </a:r>
            <a:r>
              <a:rPr sz="2400" spc="-25" dirty="0">
                <a:latin typeface="Cambria"/>
                <a:cs typeface="Cambria"/>
              </a:rPr>
              <a:t>10;</a:t>
            </a:r>
            <a:endParaRPr sz="2400" dirty="0">
              <a:latin typeface="Cambria"/>
              <a:cs typeface="Cambria"/>
            </a:endParaRPr>
          </a:p>
          <a:p>
            <a:pPr marL="1371600">
              <a:lnSpc>
                <a:spcPct val="100000"/>
              </a:lnSpc>
              <a:spcBef>
                <a:spcPts val="860"/>
              </a:spcBef>
            </a:pPr>
            <a:r>
              <a:rPr sz="2400" spc="-10" dirty="0">
                <a:latin typeface="Cambria"/>
                <a:cs typeface="Cambria"/>
              </a:rPr>
              <a:t>System.out.println(“The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localvar: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"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+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loc);</a:t>
            </a:r>
            <a:endParaRPr sz="2400" dirty="0">
              <a:latin typeface="Cambria"/>
              <a:cs typeface="Cambria"/>
            </a:endParaRPr>
          </a:p>
          <a:p>
            <a:pPr marL="425450">
              <a:lnSpc>
                <a:spcPct val="100000"/>
              </a:lnSpc>
              <a:spcBef>
                <a:spcPts val="869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Cambria"/>
                <a:cs typeface="Cambria"/>
              </a:rPr>
              <a:t>}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0796" y="434720"/>
            <a:ext cx="42443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20" dirty="0">
                <a:solidFill>
                  <a:srgbClr val="000000"/>
                </a:solidFill>
                <a:latin typeface="Cambria"/>
                <a:cs typeface="Cambria"/>
              </a:rPr>
              <a:t>Instance</a:t>
            </a:r>
            <a:r>
              <a:rPr sz="4400" b="1" spc="-2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25" dirty="0">
                <a:solidFill>
                  <a:srgbClr val="000000"/>
                </a:solidFill>
                <a:latin typeface="Cambria"/>
                <a:cs typeface="Cambria"/>
              </a:rPr>
              <a:t>Variable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500" y="1492331"/>
            <a:ext cx="10499090" cy="394589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An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instance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associated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instances</a:t>
            </a:r>
            <a:r>
              <a:rPr sz="2400" b="1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(objects)</a:t>
            </a:r>
            <a:r>
              <a:rPr sz="2400" b="1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b="1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b="1" i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mbria"/>
                <a:cs typeface="Cambria"/>
              </a:rPr>
              <a:t>class.</a:t>
            </a:r>
            <a:endParaRPr sz="2400" dirty="0">
              <a:latin typeface="Cambria"/>
              <a:cs typeface="Cambria"/>
            </a:endParaRPr>
          </a:p>
          <a:p>
            <a:pPr marL="355600" marR="508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Each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instance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own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copy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instance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variables,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which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are </a:t>
            </a:r>
            <a:r>
              <a:rPr sz="2400" spc="-10" dirty="0">
                <a:latin typeface="Cambria"/>
                <a:cs typeface="Cambria"/>
              </a:rPr>
              <a:t>separate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those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instances.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mbria"/>
                <a:cs typeface="Cambria"/>
              </a:rPr>
              <a:t>Instance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declared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within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4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class</a:t>
            </a:r>
            <a:r>
              <a:rPr sz="2400" i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but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outside</a:t>
            </a:r>
            <a:r>
              <a:rPr sz="2400" i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any</a:t>
            </a:r>
            <a:r>
              <a:rPr sz="24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method</a:t>
            </a:r>
            <a:r>
              <a:rPr sz="2400" spc="-10" dirty="0">
                <a:latin typeface="Cambria"/>
                <a:cs typeface="Cambria"/>
              </a:rPr>
              <a:t>,</a:t>
            </a:r>
            <a:endParaRPr sz="2400" dirty="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spc="-30" dirty="0">
                <a:latin typeface="Cambria"/>
                <a:cs typeface="Cambria"/>
              </a:rPr>
              <a:t>constructor,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block.</a:t>
            </a:r>
            <a:endParaRPr sz="24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b="1" spc="-10" dirty="0">
                <a:latin typeface="Cambria"/>
                <a:cs typeface="Cambria"/>
              </a:rPr>
              <a:t>Syntax</a:t>
            </a:r>
            <a:r>
              <a:rPr sz="2400" b="1" spc="-8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to</a:t>
            </a:r>
            <a:r>
              <a:rPr sz="2400" b="1" spc="-7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create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Object:</a:t>
            </a:r>
            <a:endParaRPr sz="2400" dirty="0">
              <a:latin typeface="Cambria"/>
              <a:cs typeface="Cambria"/>
            </a:endParaRPr>
          </a:p>
          <a:p>
            <a:pPr marL="1878330">
              <a:lnSpc>
                <a:spcPct val="100000"/>
              </a:lnSpc>
              <a:spcBef>
                <a:spcPts val="1580"/>
              </a:spcBef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ClassName</a:t>
            </a:r>
            <a:r>
              <a:rPr sz="2800" b="1" spc="-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objectName</a:t>
            </a:r>
            <a:r>
              <a:rPr sz="2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800" b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latin typeface="Cambria"/>
                <a:cs typeface="Cambria"/>
              </a:rPr>
              <a:t>new</a:t>
            </a:r>
            <a:r>
              <a:rPr sz="2800" b="1" spc="-90" dirty="0"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mbria"/>
                <a:cs typeface="Cambria"/>
              </a:rPr>
              <a:t>ClassName();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04800" y="990600"/>
            <a:ext cx="6969125" cy="5137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900" algn="l">
              <a:spcBef>
                <a:spcPts val="100"/>
              </a:spcBef>
            </a:pPr>
            <a:r>
              <a:rPr lang="en-IN" sz="2700" dirty="0" smtClean="0">
                <a:latin typeface="Cambria"/>
                <a:cs typeface="Cambria"/>
              </a:rPr>
              <a:t>public</a:t>
            </a:r>
            <a:r>
              <a:rPr lang="en-IN" sz="2700" spc="-30" dirty="0" smtClean="0">
                <a:latin typeface="Cambria"/>
                <a:cs typeface="Cambria"/>
              </a:rPr>
              <a:t> </a:t>
            </a:r>
            <a:r>
              <a:rPr lang="en-IN" sz="2700" dirty="0" smtClean="0">
                <a:latin typeface="Cambria"/>
                <a:cs typeface="Cambria"/>
              </a:rPr>
              <a:t>class</a:t>
            </a:r>
            <a:r>
              <a:rPr lang="en-IN" sz="2700" spc="-30" dirty="0" smtClean="0">
                <a:latin typeface="Cambria"/>
                <a:cs typeface="Cambria"/>
              </a:rPr>
              <a:t> </a:t>
            </a:r>
            <a:r>
              <a:rPr lang="en-IN" sz="2700" spc="-10" dirty="0" err="1" smtClean="0">
                <a:latin typeface="Cambria"/>
                <a:cs typeface="Cambria"/>
              </a:rPr>
              <a:t>InstanceVar</a:t>
            </a:r>
            <a:r>
              <a:rPr lang="en-IN" sz="2700" spc="-65" dirty="0" smtClean="0">
                <a:latin typeface="Cambria"/>
                <a:cs typeface="Cambria"/>
              </a:rPr>
              <a:t> </a:t>
            </a:r>
            <a:r>
              <a:rPr lang="en-IN" sz="2700" spc="-50" dirty="0" smtClean="0">
                <a:latin typeface="Cambria"/>
                <a:cs typeface="Cambria"/>
              </a:rPr>
              <a:t>{</a:t>
            </a:r>
            <a:endParaRPr lang="en-IN" sz="2700" dirty="0" smtClean="0">
              <a:latin typeface="Cambria"/>
              <a:cs typeface="Cambria"/>
            </a:endParaRPr>
          </a:p>
          <a:p>
            <a:pPr marL="1231900">
              <a:lnSpc>
                <a:spcPct val="100000"/>
              </a:lnSpc>
              <a:spcBef>
                <a:spcPts val="100"/>
              </a:spcBef>
            </a:pPr>
            <a:endParaRPr lang="en-US" sz="2700" dirty="0" smtClean="0">
              <a:latin typeface="Cambria"/>
              <a:cs typeface="Cambria"/>
            </a:endParaRPr>
          </a:p>
          <a:p>
            <a:pPr marL="1231900">
              <a:spcBef>
                <a:spcPts val="100"/>
              </a:spcBef>
            </a:pPr>
            <a:r>
              <a:rPr lang="en-IN" sz="2700" dirty="0" err="1" smtClean="0">
                <a:latin typeface="Cambria"/>
                <a:cs typeface="Cambria"/>
              </a:rPr>
              <a:t>int</a:t>
            </a:r>
            <a:r>
              <a:rPr lang="en-IN" sz="2700" spc="-55" dirty="0" smtClean="0">
                <a:latin typeface="Cambria"/>
                <a:cs typeface="Cambria"/>
              </a:rPr>
              <a:t> </a:t>
            </a:r>
            <a:r>
              <a:rPr lang="en-IN" sz="2700" spc="-10" dirty="0" err="1" smtClean="0">
                <a:latin typeface="Cambria"/>
                <a:cs typeface="Cambria"/>
              </a:rPr>
              <a:t>insvar</a:t>
            </a:r>
            <a:r>
              <a:rPr lang="en-IN" sz="2700" spc="-10" dirty="0" smtClean="0">
                <a:latin typeface="Cambria"/>
                <a:cs typeface="Cambria"/>
              </a:rPr>
              <a:t>=</a:t>
            </a:r>
            <a:r>
              <a:rPr lang="en-IN" sz="2700" spc="-50" dirty="0" smtClean="0">
                <a:latin typeface="Cambria"/>
                <a:cs typeface="Cambria"/>
              </a:rPr>
              <a:t> </a:t>
            </a:r>
            <a:r>
              <a:rPr lang="en-IN" sz="2700" spc="-25" dirty="0" smtClean="0">
                <a:latin typeface="Cambria"/>
                <a:cs typeface="Cambria"/>
              </a:rPr>
              <a:t>20;</a:t>
            </a:r>
            <a:endParaRPr lang="en-IN" sz="2700" dirty="0" smtClean="0">
              <a:latin typeface="Cambria"/>
              <a:cs typeface="Cambria"/>
            </a:endParaRPr>
          </a:p>
          <a:p>
            <a:pPr marL="1231900">
              <a:lnSpc>
                <a:spcPct val="100000"/>
              </a:lnSpc>
              <a:spcBef>
                <a:spcPts val="100"/>
              </a:spcBef>
            </a:pPr>
            <a:endParaRPr lang="en-US" sz="2700" dirty="0">
              <a:latin typeface="Cambria"/>
              <a:cs typeface="Cambria"/>
            </a:endParaRPr>
          </a:p>
          <a:p>
            <a:pPr marL="1231900">
              <a:lnSpc>
                <a:spcPct val="100000"/>
              </a:lnSpc>
              <a:spcBef>
                <a:spcPts val="100"/>
              </a:spcBef>
            </a:pPr>
            <a:r>
              <a:rPr sz="2700" dirty="0" smtClean="0">
                <a:latin typeface="Cambria"/>
                <a:cs typeface="Cambria"/>
              </a:rPr>
              <a:t>public</a:t>
            </a:r>
            <a:r>
              <a:rPr sz="2700" spc="-45" dirty="0" smtClean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static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void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main(String[]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args)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50" dirty="0">
                <a:latin typeface="Cambria"/>
                <a:cs typeface="Cambria"/>
              </a:rPr>
              <a:t>{</a:t>
            </a:r>
            <a:endParaRPr sz="2700" dirty="0">
              <a:latin typeface="Cambria"/>
              <a:cs typeface="Cambria"/>
            </a:endParaRPr>
          </a:p>
          <a:p>
            <a:pPr marL="1841500">
              <a:lnSpc>
                <a:spcPct val="100000"/>
              </a:lnSpc>
              <a:spcBef>
                <a:spcPts val="2615"/>
              </a:spcBef>
            </a:pPr>
            <a:r>
              <a:rPr sz="2700" i="1" spc="-25" dirty="0" err="1" smtClean="0">
                <a:solidFill>
                  <a:srgbClr val="FF0000"/>
                </a:solidFill>
                <a:latin typeface="Cambria"/>
                <a:cs typeface="Cambria"/>
              </a:rPr>
              <a:t>InstanceVar</a:t>
            </a:r>
            <a:r>
              <a:rPr sz="2700" i="1" spc="-55" dirty="0" smtClean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00" i="1" dirty="0" err="1" smtClean="0">
                <a:solidFill>
                  <a:srgbClr val="FF0000"/>
                </a:solidFill>
                <a:latin typeface="Cambria"/>
                <a:cs typeface="Cambria"/>
              </a:rPr>
              <a:t>obj</a:t>
            </a:r>
            <a:r>
              <a:rPr sz="2700" i="1" dirty="0" smtClean="0">
                <a:solidFill>
                  <a:srgbClr val="FF0000"/>
                </a:solidFill>
                <a:latin typeface="Cambria"/>
                <a:cs typeface="Cambria"/>
              </a:rPr>
              <a:t>=new</a:t>
            </a:r>
            <a:r>
              <a:rPr sz="2700" i="1" spc="-95" dirty="0" smtClean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00" i="1" spc="-10" dirty="0" err="1" smtClean="0">
                <a:solidFill>
                  <a:srgbClr val="FF0000"/>
                </a:solidFill>
                <a:latin typeface="Cambria"/>
                <a:cs typeface="Cambria"/>
              </a:rPr>
              <a:t>InstanceVar</a:t>
            </a:r>
            <a:r>
              <a:rPr sz="2700" i="1" spc="-10" dirty="0" smtClean="0">
                <a:solidFill>
                  <a:srgbClr val="FF0000"/>
                </a:solidFill>
                <a:latin typeface="Cambria"/>
                <a:cs typeface="Cambria"/>
              </a:rPr>
              <a:t>();</a:t>
            </a:r>
            <a:endParaRPr sz="2700" dirty="0">
              <a:latin typeface="Cambria"/>
              <a:cs typeface="Cambria"/>
            </a:endParaRPr>
          </a:p>
          <a:p>
            <a:pPr marL="593725" algn="ctr">
              <a:lnSpc>
                <a:spcPct val="100000"/>
              </a:lnSpc>
              <a:spcBef>
                <a:spcPts val="2620"/>
              </a:spcBef>
            </a:pPr>
            <a:r>
              <a:rPr sz="2700" spc="-10" dirty="0" err="1" smtClean="0">
                <a:latin typeface="Cambria"/>
                <a:cs typeface="Cambria"/>
              </a:rPr>
              <a:t>System.out.println</a:t>
            </a:r>
            <a:r>
              <a:rPr sz="2700" spc="-10" dirty="0" smtClean="0">
                <a:latin typeface="Cambria"/>
                <a:cs typeface="Cambria"/>
              </a:rPr>
              <a:t>(</a:t>
            </a:r>
            <a:r>
              <a:rPr sz="2700" spc="-10" dirty="0" err="1" smtClean="0">
                <a:latin typeface="Cambria"/>
                <a:cs typeface="Cambria"/>
              </a:rPr>
              <a:t>obj.insvar</a:t>
            </a:r>
            <a:r>
              <a:rPr sz="2700" spc="-10" dirty="0">
                <a:latin typeface="Cambria"/>
                <a:cs typeface="Cambria"/>
              </a:rPr>
              <a:t>);</a:t>
            </a:r>
            <a:endParaRPr sz="2700" dirty="0">
              <a:latin typeface="Cambria"/>
              <a:cs typeface="Cambria"/>
            </a:endParaRPr>
          </a:p>
          <a:p>
            <a:pPr marL="1231900">
              <a:lnSpc>
                <a:spcPct val="100000"/>
              </a:lnSpc>
              <a:spcBef>
                <a:spcPts val="2625"/>
              </a:spcBef>
            </a:pPr>
            <a:r>
              <a:rPr sz="2700" spc="-50" dirty="0">
                <a:latin typeface="Cambria"/>
                <a:cs typeface="Cambria"/>
              </a:rPr>
              <a:t>}</a:t>
            </a:r>
            <a:endParaRPr sz="2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20"/>
              </a:spcBef>
            </a:pPr>
            <a:r>
              <a:rPr sz="2700" spc="-50" dirty="0">
                <a:latin typeface="Cambria"/>
                <a:cs typeface="Cambria"/>
              </a:rPr>
              <a:t>}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7019" y="2006346"/>
            <a:ext cx="2162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Object</a:t>
            </a:r>
            <a:r>
              <a:rPr sz="2400" b="1" spc="-6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creation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91450" y="2376297"/>
            <a:ext cx="1176655" cy="1197610"/>
            <a:chOff x="7791450" y="2376297"/>
            <a:chExt cx="1176655" cy="11976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4625" y="2379472"/>
              <a:ext cx="1169797" cy="11907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94625" y="2379472"/>
              <a:ext cx="1170305" cy="1191260"/>
            </a:xfrm>
            <a:custGeom>
              <a:avLst/>
              <a:gdLst/>
              <a:ahLst/>
              <a:cxnLst/>
              <a:rect l="l" t="t" r="r" b="b"/>
              <a:pathLst>
                <a:path w="1170304" h="1191260">
                  <a:moveTo>
                    <a:pt x="0" y="989076"/>
                  </a:moveTo>
                  <a:lnTo>
                    <a:pt x="50926" y="1038987"/>
                  </a:lnTo>
                  <a:lnTo>
                    <a:pt x="1067816" y="0"/>
                  </a:lnTo>
                  <a:lnTo>
                    <a:pt x="1169797" y="99822"/>
                  </a:lnTo>
                  <a:lnTo>
                    <a:pt x="152780" y="1138681"/>
                  </a:lnTo>
                  <a:lnTo>
                    <a:pt x="203707" y="1188592"/>
                  </a:lnTo>
                  <a:lnTo>
                    <a:pt x="2158" y="1190752"/>
                  </a:lnTo>
                  <a:lnTo>
                    <a:pt x="0" y="989076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8490" y="272287"/>
            <a:ext cx="3277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7955" algn="l"/>
              </a:tabLst>
            </a:pPr>
            <a:r>
              <a:rPr sz="4000" b="1" spc="-10" dirty="0">
                <a:solidFill>
                  <a:srgbClr val="000000"/>
                </a:solidFill>
                <a:latin typeface="Cambria"/>
                <a:cs typeface="Cambria"/>
              </a:rPr>
              <a:t>Static</a:t>
            </a:r>
            <a:r>
              <a:rPr sz="4000" b="1" dirty="0">
                <a:solidFill>
                  <a:srgbClr val="000000"/>
                </a:solidFill>
                <a:latin typeface="Cambria"/>
                <a:cs typeface="Cambria"/>
              </a:rPr>
              <a:t>	</a:t>
            </a:r>
            <a:r>
              <a:rPr sz="4000" b="1" spc="-140" dirty="0">
                <a:solidFill>
                  <a:srgbClr val="000000"/>
                </a:solidFill>
                <a:latin typeface="Cambria"/>
                <a:cs typeface="Cambria"/>
              </a:rPr>
              <a:t>Variable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549" y="1235430"/>
            <a:ext cx="11077575" cy="49393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3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In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mbria"/>
                <a:cs typeface="Cambria"/>
              </a:rPr>
              <a:t>Java,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a</a:t>
            </a:r>
            <a:r>
              <a:rPr sz="2000" spc="-2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mbria"/>
                <a:cs typeface="Cambria"/>
              </a:rPr>
              <a:t>static</a:t>
            </a:r>
            <a:r>
              <a:rPr sz="2000" i="1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mbria"/>
                <a:cs typeface="Cambria"/>
              </a:rPr>
              <a:t>variable</a:t>
            </a:r>
            <a:r>
              <a:rPr sz="2000" i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(also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known</a:t>
            </a:r>
            <a:r>
              <a:rPr sz="2000" spc="-4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as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a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mbria"/>
                <a:cs typeface="Cambria"/>
              </a:rPr>
              <a:t>class</a:t>
            </a:r>
            <a:r>
              <a:rPr sz="20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i="1" dirty="0">
                <a:solidFill>
                  <a:srgbClr val="FF0000"/>
                </a:solidFill>
                <a:latin typeface="Cambria"/>
                <a:cs typeface="Cambria"/>
              </a:rPr>
              <a:t>variable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)</a:t>
            </a:r>
            <a:r>
              <a:rPr sz="2000" spc="-5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is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a</a:t>
            </a:r>
            <a:r>
              <a:rPr sz="2000" spc="-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variable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that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belongs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to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the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class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mbria"/>
                <a:cs typeface="Cambria"/>
              </a:rPr>
              <a:t>itself,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rather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than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to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instances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(objects)</a:t>
            </a:r>
            <a:r>
              <a:rPr sz="2000" spc="-3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of</a:t>
            </a:r>
            <a:r>
              <a:rPr sz="2000" spc="-3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the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mbria"/>
                <a:cs typeface="Cambria"/>
              </a:rPr>
              <a:t>class.</a:t>
            </a:r>
            <a:endParaRPr sz="2000" dirty="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469265" algn="l"/>
              </a:tabLst>
            </a:pP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This</a:t>
            </a:r>
            <a:r>
              <a:rPr sz="2000" spc="-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means</a:t>
            </a:r>
            <a:r>
              <a:rPr sz="2000" spc="-4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there</a:t>
            </a:r>
            <a:r>
              <a:rPr sz="2000" spc="-5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is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only</a:t>
            </a:r>
            <a:r>
              <a:rPr sz="2000" spc="-2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one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copy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of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the</a:t>
            </a:r>
            <a:r>
              <a:rPr sz="2000" spc="-4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static</a:t>
            </a:r>
            <a:r>
              <a:rPr sz="2000" spc="-5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variable</a:t>
            </a:r>
            <a:r>
              <a:rPr sz="2000" spc="-3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shared</a:t>
            </a:r>
            <a:r>
              <a:rPr sz="2000" spc="-5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among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all</a:t>
            </a:r>
            <a:r>
              <a:rPr sz="2000" spc="-5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instances</a:t>
            </a:r>
            <a:r>
              <a:rPr sz="2000" spc="-45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of</a:t>
            </a:r>
            <a:r>
              <a:rPr sz="2000" spc="-3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0D0D"/>
                </a:solidFill>
                <a:latin typeface="Cambria"/>
                <a:cs typeface="Cambria"/>
              </a:rPr>
              <a:t>the</a:t>
            </a:r>
            <a:r>
              <a:rPr sz="2000" spc="-5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mbria"/>
                <a:cs typeface="Cambria"/>
              </a:rPr>
              <a:t>class.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dirty="0" smtClean="0">
                <a:latin typeface="Cambria"/>
                <a:cs typeface="Cambria"/>
              </a:rPr>
              <a:t>public</a:t>
            </a:r>
            <a:r>
              <a:rPr sz="2800" spc="-65" dirty="0" smtClean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class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StaticVar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</a:t>
            </a:r>
            <a:endParaRPr sz="2800" dirty="0">
              <a:latin typeface="Cambria"/>
              <a:cs typeface="Cambria"/>
            </a:endParaRPr>
          </a:p>
          <a:p>
            <a:pPr marL="581025">
              <a:lnSpc>
                <a:spcPct val="100000"/>
              </a:lnSpc>
              <a:spcBef>
                <a:spcPts val="1005"/>
              </a:spcBef>
              <a:tabLst>
                <a:tab pos="1620520" algn="l"/>
              </a:tabLst>
            </a:pPr>
            <a:r>
              <a:rPr sz="2800" b="1" i="1" spc="-10" dirty="0">
                <a:solidFill>
                  <a:srgbClr val="FF0000"/>
                </a:solidFill>
                <a:latin typeface="Cambria"/>
                <a:cs typeface="Cambria"/>
              </a:rPr>
              <a:t>static</a:t>
            </a:r>
            <a:r>
              <a:rPr sz="2800" b="1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800" dirty="0">
                <a:latin typeface="Cambria"/>
                <a:cs typeface="Cambria"/>
              </a:rPr>
              <a:t>int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insvar=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20;</a:t>
            </a:r>
            <a:endParaRPr sz="2800" dirty="0">
              <a:latin typeface="Cambria"/>
              <a:cs typeface="Cambria"/>
            </a:endParaRPr>
          </a:p>
          <a:p>
            <a:pPr marL="1047750" marR="4533265" indent="-311150">
              <a:lnSpc>
                <a:spcPct val="130000"/>
              </a:lnSpc>
              <a:spcBef>
                <a:spcPts val="5"/>
              </a:spcBef>
            </a:pPr>
            <a:r>
              <a:rPr sz="2800" dirty="0">
                <a:latin typeface="Cambria"/>
                <a:cs typeface="Cambria"/>
              </a:rPr>
              <a:t>public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static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void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main(String[]</a:t>
            </a:r>
            <a:r>
              <a:rPr sz="2800" spc="-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args)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 </a:t>
            </a:r>
            <a:r>
              <a:rPr sz="2800" spc="-10" dirty="0">
                <a:latin typeface="Cambria"/>
                <a:cs typeface="Cambria"/>
              </a:rPr>
              <a:t>System.out.println(insvar);</a:t>
            </a:r>
            <a:endParaRPr sz="2800" dirty="0">
              <a:latin typeface="Cambria"/>
              <a:cs typeface="Cambria"/>
            </a:endParaRPr>
          </a:p>
          <a:p>
            <a:pPr marL="736600">
              <a:lnSpc>
                <a:spcPct val="100000"/>
              </a:lnSpc>
              <a:spcBef>
                <a:spcPts val="1005"/>
              </a:spcBef>
            </a:pPr>
            <a:r>
              <a:rPr sz="2800" spc="-50" dirty="0">
                <a:latin typeface="Cambria"/>
                <a:cs typeface="Cambria"/>
              </a:rPr>
              <a:t>}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spc="-50" dirty="0">
                <a:latin typeface="Cambria"/>
                <a:cs typeface="Cambria"/>
              </a:rPr>
              <a:t>}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2494" y="254253"/>
            <a:ext cx="43027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25" dirty="0">
                <a:solidFill>
                  <a:srgbClr val="000000"/>
                </a:solidFill>
                <a:latin typeface="Cambria"/>
                <a:cs typeface="Cambria"/>
              </a:rPr>
              <a:t>Constant</a:t>
            </a:r>
            <a:r>
              <a:rPr sz="4400" b="1" spc="-1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4400" b="1" spc="-100" dirty="0">
                <a:solidFill>
                  <a:srgbClr val="000000"/>
                </a:solidFill>
                <a:latin typeface="Cambria"/>
                <a:cs typeface="Cambria"/>
              </a:rPr>
              <a:t>variable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31" y="1117325"/>
            <a:ext cx="11380470" cy="331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95"/>
              </a:spcBef>
              <a:buSzPct val="45833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Java,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constant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refers</a:t>
            </a:r>
            <a:r>
              <a:rPr sz="2400" spc="-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</a:t>
            </a:r>
            <a:r>
              <a:rPr sz="2400" spc="-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whose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cannot</a:t>
            </a:r>
            <a:r>
              <a:rPr sz="2400" i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400" i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mbria"/>
                <a:cs typeface="Cambria"/>
              </a:rPr>
              <a:t>changed</a:t>
            </a:r>
            <a:r>
              <a:rPr sz="2400" i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once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it </a:t>
            </a:r>
            <a:r>
              <a:rPr sz="2400" dirty="0">
                <a:latin typeface="Cambria"/>
                <a:cs typeface="Cambria"/>
              </a:rPr>
              <a:t>has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been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assigned.</a:t>
            </a:r>
            <a:endParaRPr sz="24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SzPct val="45833"/>
              <a:buFont typeface="Wingdings"/>
              <a:buChar char=""/>
              <a:tabLst>
                <a:tab pos="355600" algn="l"/>
              </a:tabLst>
            </a:pPr>
            <a:r>
              <a:rPr sz="2400" spc="-90" dirty="0">
                <a:latin typeface="Cambria"/>
                <a:cs typeface="Cambria"/>
              </a:rPr>
              <a:t>To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create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constant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variables,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you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mbria"/>
                <a:cs typeface="Cambria"/>
              </a:rPr>
              <a:t>final</a:t>
            </a:r>
            <a:r>
              <a:rPr sz="2400" b="1" i="1" spc="-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keyword.</a:t>
            </a:r>
            <a:endParaRPr sz="2400">
              <a:latin typeface="Cambria"/>
              <a:cs typeface="Cambria"/>
            </a:endParaRPr>
          </a:p>
          <a:p>
            <a:pPr marL="355600" marR="964565" indent="-343535">
              <a:lnSpc>
                <a:spcPct val="150000"/>
              </a:lnSpc>
              <a:buSzPct val="45833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Constants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typically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-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values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modified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during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spc="-10" dirty="0">
                <a:latin typeface="Cambria"/>
                <a:cs typeface="Cambria"/>
              </a:rPr>
              <a:t>execution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program.</a:t>
            </a:r>
            <a:endParaRPr sz="240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SzPct val="45833"/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By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convention,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names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variables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defined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final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UPPER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CASE.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6633" y="4650485"/>
            <a:ext cx="6851904" cy="20619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86633" y="4650485"/>
            <a:ext cx="6852284" cy="2062480"/>
          </a:xfrm>
          <a:prstGeom prst="rect">
            <a:avLst/>
          </a:prstGeom>
          <a:ln w="38100">
            <a:solidFill>
              <a:srgbClr val="00AFEF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1462405">
              <a:lnSpc>
                <a:spcPct val="100000"/>
              </a:lnSpc>
              <a:spcBef>
                <a:spcPts val="455"/>
              </a:spcBef>
            </a:pPr>
            <a:r>
              <a:rPr sz="2800" dirty="0">
                <a:latin typeface="Cambria"/>
                <a:cs typeface="Cambria"/>
              </a:rPr>
              <a:t>public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class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Circle</a:t>
            </a:r>
            <a:r>
              <a:rPr sz="2800" spc="-60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{</a:t>
            </a:r>
            <a:endParaRPr sz="2800">
              <a:latin typeface="Cambria"/>
              <a:cs typeface="Cambria"/>
            </a:endParaRPr>
          </a:p>
          <a:p>
            <a:pPr marL="673735" algn="ctr">
              <a:lnSpc>
                <a:spcPct val="100000"/>
              </a:lnSpc>
              <a:spcBef>
                <a:spcPts val="1685"/>
              </a:spcBef>
            </a:pPr>
            <a:r>
              <a:rPr sz="2800" b="1" dirty="0">
                <a:solidFill>
                  <a:srgbClr val="FF0000"/>
                </a:solidFill>
                <a:latin typeface="Cambria"/>
                <a:cs typeface="Cambria"/>
              </a:rPr>
              <a:t>final</a:t>
            </a:r>
            <a:r>
              <a:rPr sz="28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double</a:t>
            </a:r>
            <a:r>
              <a:rPr sz="2800" spc="-40" dirty="0">
                <a:latin typeface="Cambria"/>
                <a:cs typeface="Cambria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mbria"/>
                <a:cs typeface="Cambria"/>
              </a:rPr>
              <a:t>PI</a:t>
            </a:r>
            <a:r>
              <a:rPr sz="2800" b="1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=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3.14159;</a:t>
            </a:r>
            <a:endParaRPr sz="2800">
              <a:latin typeface="Cambria"/>
              <a:cs typeface="Cambria"/>
            </a:endParaRPr>
          </a:p>
          <a:p>
            <a:pPr marL="1462405">
              <a:lnSpc>
                <a:spcPct val="100000"/>
              </a:lnSpc>
              <a:spcBef>
                <a:spcPts val="1680"/>
              </a:spcBef>
            </a:pPr>
            <a:r>
              <a:rPr sz="2800" spc="-50" dirty="0">
                <a:latin typeface="Cambria"/>
                <a:cs typeface="Cambria"/>
              </a:rPr>
              <a:t>}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</TotalTime>
  <Words>1100</Words>
  <Application>Microsoft Office PowerPoint</Application>
  <PresentationFormat>Widescreen</PresentationFormat>
  <Paragraphs>157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MT</vt:lpstr>
      <vt:lpstr>Calibri</vt:lpstr>
      <vt:lpstr>Cambria</vt:lpstr>
      <vt:lpstr>Courier New</vt:lpstr>
      <vt:lpstr>Lucida Console</vt:lpstr>
      <vt:lpstr>Segoe UI Symbol</vt:lpstr>
      <vt:lpstr>Times New Roman</vt:lpstr>
      <vt:lpstr>Wingdings</vt:lpstr>
      <vt:lpstr>Office Theme</vt:lpstr>
      <vt:lpstr>Class and Object in Java</vt:lpstr>
      <vt:lpstr>Key Differences Between Class and Object</vt:lpstr>
      <vt:lpstr>SYNTAX</vt:lpstr>
      <vt:lpstr>public class Main {</vt:lpstr>
      <vt:lpstr>public static void main(String[] args)</vt:lpstr>
      <vt:lpstr>Printing output</vt:lpstr>
      <vt:lpstr>System.out.println("Hello World");</vt:lpstr>
      <vt:lpstr>Data Types</vt:lpstr>
      <vt:lpstr>Data type</vt:lpstr>
      <vt:lpstr>Variable</vt:lpstr>
      <vt:lpstr>Example</vt:lpstr>
      <vt:lpstr>Rules for creating variable</vt:lpstr>
      <vt:lpstr>PowerPoint Presentation</vt:lpstr>
      <vt:lpstr>Declaring (Creating) Variables</vt:lpstr>
      <vt:lpstr>PowerPoint Presentation</vt:lpstr>
      <vt:lpstr>Three types of variable</vt:lpstr>
      <vt:lpstr>Local Variable</vt:lpstr>
      <vt:lpstr>Instance Variable</vt:lpstr>
      <vt:lpstr>PowerPoint Presentation</vt:lpstr>
      <vt:lpstr>Static Variable</vt:lpstr>
      <vt:lpstr>Constant variable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cp:lastModifiedBy>PRAVEEN KUMAR</cp:lastModifiedBy>
  <cp:revision>14</cp:revision>
  <dcterms:created xsi:type="dcterms:W3CDTF">2025-07-15T04:37:49Z</dcterms:created>
  <dcterms:modified xsi:type="dcterms:W3CDTF">2025-09-22T07:45:22Z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2025-07-15T00:00:00Z</vt:filetime>
  </property>
  <property fmtid="{D5CDD505-2E9C-101B-9397-08002B2CF9AE}" pid="5" name="Producer">
    <vt:lpwstr>www.ilovepdf.com</vt:lpwstr>
  </property>
</Properties>
</file>