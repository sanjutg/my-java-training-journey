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0" r:id="rId3"/>
    <p:sldId id="799" r:id="rId4"/>
    <p:sldId id="800" r:id="rId5"/>
    <p:sldId id="801" r:id="rId6"/>
    <p:sldId id="903" r:id="rId7"/>
    <p:sldId id="902" r:id="rId8"/>
    <p:sldId id="802" r:id="rId9"/>
    <p:sldId id="830" r:id="rId10"/>
    <p:sldId id="899" r:id="rId11"/>
    <p:sldId id="803" r:id="rId12"/>
    <p:sldId id="804" r:id="rId13"/>
    <p:sldId id="900" r:id="rId14"/>
    <p:sldId id="934" r:id="rId15"/>
    <p:sldId id="390" r:id="rId16"/>
    <p:sldId id="391" r:id="rId17"/>
    <p:sldId id="933" r:id="rId18"/>
    <p:sldId id="935" r:id="rId19"/>
    <p:sldId id="936" r:id="rId20"/>
    <p:sldId id="937" r:id="rId21"/>
    <p:sldId id="938" r:id="rId22"/>
    <p:sldId id="939" r:id="rId23"/>
    <p:sldId id="940" r:id="rId24"/>
    <p:sldId id="941" r:id="rId25"/>
    <p:sldId id="942" r:id="rId26"/>
    <p:sldId id="943" r:id="rId27"/>
    <p:sldId id="945" r:id="rId28"/>
    <p:sldId id="944" r:id="rId29"/>
    <p:sldId id="94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5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8FE15-75D4-CA74-13D7-265AED71B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BEF09-9401-C716-C548-0A1B3D8D6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9D6A0-AF0A-35FA-8D3D-38A5E72AC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900E1-CA44-4F0F-B1D1-4A907277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84DFF-0443-81B7-3A70-10160227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79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0783-4307-1E56-755B-D6FEB19A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136D-E90A-82E5-4089-3B8C6C03D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5B237-BC88-91FB-C6B2-CABE947E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3D0B6-41D4-E1A7-7918-102B1D6A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F5586-5A5B-F0AD-7840-A1307DB9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56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58FE-48AE-AD1C-434F-7F69E32D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9C1B2-6E21-652B-E6F5-2C07D900F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2B35B-123A-5A8D-7374-40EF011E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94E61-21CB-1BA5-C846-3C3CB72D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CA1DA-3C08-A4D6-8441-0CAAFE58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49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4245-62C6-6DB0-F792-8C3ACE0A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AD51-183A-1000-7A1A-6AC415831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21A45-5396-466A-0C70-07F342A10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90875-1BF6-9ADA-5E73-1F2C986A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C17A2-0010-DDA3-8476-32339896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4DFB1-E568-CD3D-2C85-EE7C73AF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08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DDC7-284C-5788-2544-B310F0F9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58B07-C4F4-3808-CC80-721F0C063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EF29B-5017-03F0-5C2D-32421EABC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15313-629E-6727-3BB7-54A940614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B9CE2-48E8-72B5-A9AC-BCD185BFC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05AD7-8112-CD8F-7EA5-C41A11E2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43E3D-A34C-BF7E-C044-700573DD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4D8A6-819A-2E73-836F-DBDCE433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74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CFF4-2802-F37F-0882-432D775A2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B1E8F-9D6E-B012-B69E-ED0FCBCF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4AF5F-0223-CD0A-AC74-91E8FE69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52CBD-6757-5F3B-0F74-7ED1DA96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55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18F93-50B1-FEBF-02BD-CA2C50BA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46A63-1027-E44F-9F41-FB98BF2C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726FE-C54B-1140-CFBF-5E4BBFAF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867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4C96-B484-8CC6-2C5A-8B6A10C4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EF1D-B972-5EAC-AFF4-F41F4C44B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297CA-7353-B4DF-0D53-9957AB135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546A5-F6CF-60FD-2C7F-340CE0498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B9B6C-F1DA-69E5-2327-89888420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E2C53-51D1-C0C6-26CD-D2FF7F6D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0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A7B1-721E-D555-A45C-6FB2EA5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59223-E77F-12FB-B691-93D643146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990BE-F506-5707-7416-C2C07363F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ABEE8-9CC5-CEF0-113B-5E583DED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5FFA8-5C9B-CDF7-644A-D710DA67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DD146-BAFB-FAC6-B3BD-5BFC7775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35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1833-A5CC-2ABB-2965-3E8FC7FF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127F8-FA4D-358F-0A7E-10F9A9364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447A1-F355-D112-C486-BFEB2FC26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6E795-01B1-F223-2D5B-B6E2E419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22C8-3FEA-8BCD-DE67-72F72A1B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82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04FDC-0168-1F3E-3484-8FC8E5F59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9736D-F14F-9137-3B1E-1BBA99AA9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9E35B-DC4C-B6B2-B01F-0E750E7C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A442F-1070-60E4-8988-185D8D51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1A63-46B4-7768-89DB-175B70E4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587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E39C-B4DA-C99A-C246-DD5EFCCA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21093-A15E-0E67-D282-670AC467E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</a:t>
            </a:r>
            <a:r>
              <a:rPr lang="en-US" dirty="0" err="1"/>
              <a:t>levelFifth</a:t>
            </a:r>
            <a:r>
              <a:rPr lang="en-US" dirty="0"/>
              <a:t>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19973-6C84-6F2F-7031-82B83636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61D7-A111-42A8-8D2F-B50105997553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F363F-491C-F7CB-39A4-7B22B841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5B784-F39A-E3F7-E0F6-ADB58A7E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34115-7C68-4EF9-A200-7EC03E71A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90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FF5FE-E86D-4170-C3DF-A94869C3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67842-B27D-134B-CBA8-4E72F508C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6C4F3-C265-584A-8369-D1B571E62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BF490-1118-499B-8C37-AFE88121625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E1143-1918-C4A2-A39C-EC0BF1A14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2112B-298A-69FC-CF1E-89BF98DEF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71BC5-04FC-4F03-B5BD-38C7B4994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15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DF4E-24CB-9778-A9C1-93019FDFE9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486A8-2960-00B8-6D1D-E7AAB477A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04291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0040-57B8-E5FC-AFFB-2F9DEE1B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90" y="592953"/>
            <a:ext cx="10241280" cy="721673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3B10D-43E5-07D9-076B-87EDF3748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9530" y="1646465"/>
            <a:ext cx="9857740" cy="391610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data structure that allows you to store multiple elements of the same type in a contiguous block of memory.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provide a way to organize data so that a related set of values can be easily accessed and manipulated.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in an array can be accessed using an index, with the first element having an index of 0.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C55D954D-B36A-1DF6-E662-C0E95266F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Implementing Array in Java - Shiksha Online">
            <a:extLst>
              <a:ext uri="{FF2B5EF4-FFF2-40B4-BE49-F238E27FC236}">
                <a16:creationId xmlns:a16="http://schemas.microsoft.com/office/drawing/2014/main" id="{ACBA9FEF-C5CB-9E8B-6379-CE67B94653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1" t="24278" r="15797"/>
          <a:stretch/>
        </p:blipFill>
        <p:spPr bwMode="auto">
          <a:xfrm>
            <a:off x="5717477" y="3913239"/>
            <a:ext cx="5973079" cy="250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38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8339-C8D9-9957-96E3-2A2F25EF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1FBBC-6A94-1509-7146-517460E2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4568" y="1630209"/>
            <a:ext cx="10382864" cy="4511982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Arrays</a:t>
            </a:r>
          </a:p>
          <a:p>
            <a:pPr marL="11430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an array is defined when it is created and cannot be changed.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Homogeneous Elements: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elements in an array are of the same data type.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 Memory Locations: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stored in contiguous memory locations, making access fast and efficient.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Indexed Access: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can be accessed directly using their index.</a:t>
            </a: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1BB0AB24-44F5-AA0B-5283-9283574AAD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5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351D-7135-88FD-71E0-93B8D21C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2346A-EB23-979F-7758-D211D03A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673" y="1556468"/>
            <a:ext cx="8923501" cy="4293726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Arrays in Java</a:t>
            </a:r>
          </a:p>
          <a:p>
            <a:pPr marL="114300" indent="0" algn="ctr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One-Dimensional Arrays: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 row or a list of elements.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Multi-Dimensional Arrays: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Arrays of arrays, such as a matrix (2D array) or higher-dimensional structures.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194A208E-1216-CC61-C6D6-145E6FA534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84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58977-D7BA-F62A-43F5-6768C490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97A77-C74A-3C16-C054-4685CAA8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1428922"/>
            <a:ext cx="10241280" cy="2909562"/>
          </a:xfrm>
        </p:spPr>
        <p:txBody>
          <a:bodyPr/>
          <a:lstStyle/>
          <a:p>
            <a:pPr marL="10160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One-Dimensional Array in Java</a:t>
            </a:r>
          </a:p>
          <a:p>
            <a:pPr marL="10160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one-dimensional array is a collection of elements of the same type, stored in a contiguous memory location. The elements can be accessed using an index.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3582B68E-BA76-24FD-9CE2-922B979C69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rrays in Java. An array is a data ...">
            <a:extLst>
              <a:ext uri="{FF2B5EF4-FFF2-40B4-BE49-F238E27FC236}">
                <a16:creationId xmlns:a16="http://schemas.microsoft.com/office/drawing/2014/main" id="{D1AE707D-3E27-4543-FA52-BF7DE33B9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272" y="3330059"/>
            <a:ext cx="8235442" cy="373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03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0E21-DC9C-90B1-E751-9DCA64E5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E9D1-A392-7F82-2F9D-8483D2289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 Declaration Example: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int[] numbers;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an Array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numbers = new int[5];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 an Element of an Array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numbers[0] = 10;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firstElement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numbers[0];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 Length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length =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numbers.length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61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BDE5-D5EF-D2D3-E09F-0E71F391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93E7-E0E2-5C7E-8D70-523AA7E96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2873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Main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int[]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int[5];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= 10;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= 20;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= 30;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= 40;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50;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("Element at index "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+ " : "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04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AEE6-71B4-A2FB-D20A-27E54781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0657B-9E1E-25DA-35AE-3E47B09ED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540" y="1124122"/>
            <a:ext cx="10331737" cy="5384834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Sample1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Declare and initialize an array of integers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int[] numbers = {1, 2, 3, 4, 5};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Access and print each element using a loop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numbers.length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("Element at index "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": " + numbers[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} }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1430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C21B93CA-4CDE-4DC8-DEE3-2A53503454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89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544B-4033-DF08-5EC0-87DF768A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8C7A7-8210-FF09-D902-D409AE5E6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531" y="888983"/>
            <a:ext cx="10331737" cy="5384834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Arrays using foreach : 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PrintArrayElements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int[] numbers = {1, 2, 3, 4, 5};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("Array elements:");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num : numbers) {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(num);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/*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for 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numbers.length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 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/>
              <a:t>num</a:t>
            </a:r>
            <a:r>
              <a:rPr lang="en-IN" dirty="0"/>
              <a:t> = numbers[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pPr marL="0" indent="0">
              <a:buNone/>
            </a:pPr>
            <a:r>
              <a:rPr lang="en-IN" dirty="0" err="1" smtClean="0"/>
              <a:t>System.out.println</a:t>
            </a:r>
            <a:r>
              <a:rPr lang="en-IN" dirty="0" smtClean="0"/>
              <a:t>(</a:t>
            </a:r>
            <a:r>
              <a:rPr lang="en-IN" dirty="0" err="1" smtClean="0"/>
              <a:t>num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 </a:t>
            </a:r>
            <a:r>
              <a:rPr lang="en-IN" dirty="0" smtClean="0"/>
              <a:t> 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 */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C62A625F-847D-99F9-4210-8381F829E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8A51-C0F1-3C07-69F7-C79FF9D6D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AD393-7E7E-6A9D-76AE-661F9F71E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131" y="1149538"/>
            <a:ext cx="10331737" cy="4558923"/>
          </a:xfrm>
        </p:spPr>
        <p:txBody>
          <a:bodyPr/>
          <a:lstStyle/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IN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print the entire array without the any loop.</a:t>
            </a:r>
          </a:p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IN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java.util.Arrays</a:t>
            </a:r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8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Sample1 {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args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int[] numbers = {1, 2, 3, 4, 5};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System.</a:t>
            </a:r>
            <a:r>
              <a:rPr lang="en-IN" sz="18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.println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Arrays.</a:t>
            </a:r>
            <a:r>
              <a:rPr lang="en-IN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toString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(numbers));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16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0C743962-47EF-18B0-74B9-BFA62EBC95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99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9589-6933-EE89-76DD-5A20AF64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2D8EF-245A-0568-F38C-071BB6228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59" y="850489"/>
            <a:ext cx="10241280" cy="2909562"/>
          </a:xfrm>
        </p:spPr>
        <p:txBody>
          <a:bodyPr/>
          <a:lstStyle/>
          <a:p>
            <a:pPr marL="10160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Multi-Dimensional Array in Java</a:t>
            </a:r>
          </a:p>
          <a:p>
            <a:pPr marL="10160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1016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multi-dimensional array is an array of arrays. The most common type is the two-dimensional array, which can be visualized as a table with rows and columns.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36BACE70-4BAB-86BD-C67C-EDEFB5B4A1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Multidimensional Array in Java | Operations on Multidimensional Arrays">
            <a:extLst>
              <a:ext uri="{FF2B5EF4-FFF2-40B4-BE49-F238E27FC236}">
                <a16:creationId xmlns:a16="http://schemas.microsoft.com/office/drawing/2014/main" id="{F3B529A2-60D1-563D-1406-350560BE5C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92" b="9517"/>
          <a:stretch/>
        </p:blipFill>
        <p:spPr bwMode="auto">
          <a:xfrm>
            <a:off x="3343972" y="3706763"/>
            <a:ext cx="5504055" cy="230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97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8ABD-A5CF-EBAC-F829-51F86831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6CD37-EFB8-79CD-126D-95224AF20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131" y="1025799"/>
            <a:ext cx="10331737" cy="5384834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  <a:p>
            <a:pPr marL="1143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Sample1 {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int[][] matrix = {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{1, 2, 3},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{4, 5, 6},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{7, 8, 9} };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for (int row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0; row 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matrix.length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row++) {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(int col = 0; col &lt; matrix[row].length; col++) {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(matrix[row][col] + " ");  }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Print a new line after each row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}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1430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22F2EBE4-6146-18C8-6EBB-750D1D5677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47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3463-4434-D104-2E5A-E3652090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89E78-62E4-B6E0-8603-8AC8FD5EF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131" y="648511"/>
            <a:ext cx="10331737" cy="556097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Sample1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int[][] matrix =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{1, 2},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{3, 4} };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("Matrix:");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(int[] row : matrix)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(int element : row) {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 + " ");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}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What is String in Java - Java String Methods &amp; Type (Examples)">
            <a:extLst>
              <a:ext uri="{FF2B5EF4-FFF2-40B4-BE49-F238E27FC236}">
                <a16:creationId xmlns:a16="http://schemas.microsoft.com/office/drawing/2014/main" id="{BC1B5F6F-A970-C832-5CB6-2F4E0DB2CB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48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72335" y="132812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 err="1" smtClean="0"/>
              <a:t>System.out.println</a:t>
            </a:r>
            <a:r>
              <a:rPr lang="en-IN" dirty="0"/>
              <a:t>("The 2D array is:");</a:t>
            </a:r>
          </a:p>
          <a:p>
            <a:r>
              <a:rPr lang="en-IN" dirty="0"/>
              <a:t>        for 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rows;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    for (</a:t>
            </a:r>
            <a:r>
              <a:rPr lang="en-IN" dirty="0" err="1"/>
              <a:t>int</a:t>
            </a:r>
            <a:r>
              <a:rPr lang="en-IN" dirty="0"/>
              <a:t> j = 0; j &lt; cols; </a:t>
            </a:r>
            <a:r>
              <a:rPr lang="en-IN" dirty="0" err="1"/>
              <a:t>j++</a:t>
            </a:r>
            <a:r>
              <a:rPr lang="en-IN" dirty="0"/>
              <a:t>) {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][j] + " ");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sc.close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25150" y="519539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2DArray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number of rows: ");</a:t>
            </a:r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rows = </a:t>
            </a:r>
            <a:r>
              <a:rPr lang="en-IN" dirty="0" err="1"/>
              <a:t>sc.nextInt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number of columns: ");</a:t>
            </a:r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cols = </a:t>
            </a:r>
            <a:r>
              <a:rPr lang="en-IN" dirty="0" err="1"/>
              <a:t>sc.nextInt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[][] </a:t>
            </a:r>
            <a:r>
              <a:rPr lang="en-IN" dirty="0" err="1"/>
              <a:t>arr</a:t>
            </a:r>
            <a:r>
              <a:rPr lang="en-IN" dirty="0"/>
              <a:t> = new </a:t>
            </a:r>
            <a:r>
              <a:rPr lang="en-IN" dirty="0" err="1"/>
              <a:t>int</a:t>
            </a:r>
            <a:r>
              <a:rPr lang="en-IN" dirty="0"/>
              <a:t>[rows][cols];</a:t>
            </a:r>
          </a:p>
          <a:p>
            <a:endParaRPr lang="en-IN" dirty="0"/>
          </a:p>
          <a:p>
            <a:r>
              <a:rPr lang="en-IN" dirty="0"/>
              <a:t>       </a:t>
            </a:r>
            <a:r>
              <a:rPr lang="en-IN" dirty="0" err="1"/>
              <a:t>System.out.println</a:t>
            </a:r>
            <a:r>
              <a:rPr lang="en-IN" dirty="0"/>
              <a:t>("Enter the elements:");</a:t>
            </a:r>
          </a:p>
          <a:p>
            <a:r>
              <a:rPr lang="en-IN" dirty="0"/>
              <a:t>        for 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rows;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    for (</a:t>
            </a:r>
            <a:r>
              <a:rPr lang="en-IN" dirty="0" err="1"/>
              <a:t>int</a:t>
            </a:r>
            <a:r>
              <a:rPr lang="en-IN" dirty="0"/>
              <a:t> j = 0; j &lt; cols; </a:t>
            </a:r>
            <a:r>
              <a:rPr lang="en-IN" dirty="0" err="1"/>
              <a:t>j++</a:t>
            </a:r>
            <a:r>
              <a:rPr lang="en-IN" dirty="0"/>
              <a:t>) {</a:t>
            </a:r>
          </a:p>
          <a:p>
            <a:r>
              <a:rPr lang="en-IN" dirty="0"/>
              <a:t>               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][j] = </a:t>
            </a:r>
            <a:r>
              <a:rPr lang="en-IN" dirty="0" err="1"/>
              <a:t>sc.nextInt</a:t>
            </a:r>
            <a:r>
              <a:rPr lang="en-IN" dirty="0"/>
              <a:t>();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040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1654-0B0C-BCF3-3277-4BDC2E9C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AFF2-7B70-7913-A7C6-A9F86E92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Three-Dimensional Array</a:t>
            </a:r>
            <a:endParaRPr lang="en-IN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0C36E-3CAB-AB26-74C7-5C38B9B6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39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three-dimensional array is an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array of arrays of arrays, adding a third layer to the structure.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Each element is accessed by specifying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three indices: row, column, and depth (or height).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Syntax:                           </a:t>
            </a:r>
            <a:r>
              <a:rPr lang="en-US" sz="2400" i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int[][][] </a:t>
            </a:r>
            <a:r>
              <a:rPr lang="en-US" sz="2400" i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arrayName</a:t>
            </a:r>
            <a:r>
              <a:rPr lang="en-US" sz="2400" i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= new int[rows][columns][depth];</a:t>
            </a:r>
            <a:endParaRPr lang="en-IN" sz="2400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66114-CCD6-26CE-F99A-079750C45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86" b="27491"/>
          <a:stretch/>
        </p:blipFill>
        <p:spPr>
          <a:xfrm>
            <a:off x="2286000" y="4125949"/>
            <a:ext cx="7620000" cy="21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3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1A5E-C137-1885-76F9-6C690623C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ADA2-2F47-FD11-1D55-755D4D88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8112"/>
            <a:ext cx="10515600" cy="1040888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Representing sales data for different products in multiple stores across several months.</a:t>
            </a:r>
            <a:b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Rows: Products, Columns: Stores, Depth: Months.</a:t>
            </a:r>
            <a:endParaRPr lang="en-IN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50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C6262-92C4-32C4-69C2-A74552632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06" y="511277"/>
            <a:ext cx="10498394" cy="56656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SalesData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args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int[][][] sales =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{ {200, 300}, {250, 400} }, // Product 1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{ </a:t>
            </a:r>
            <a:r>
              <a:rPr lang="en-IN" sz="16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{150, 280}, {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180, </a:t>
            </a:r>
            <a:r>
              <a:rPr lang="en-IN" sz="16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320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} }  // Product 2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};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for (int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= 0;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&lt;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sales.length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;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++)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("Product " + (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+ 1) + ":");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for (int j = 0; j &lt; sales[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].length;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j++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for (int k = 0; k &lt; sales[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][j].length; k++) {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System.out.print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(sales[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][j][k] + " ");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}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4498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1. Declaring and Initializing an Array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Declaration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In Java, an array is declared by specifying the type of elements followed by square brackets [].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int</a:t>
            </a:r>
            <a:r>
              <a:rPr lang="en-IN" b="1" dirty="0">
                <a:solidFill>
                  <a:srgbClr val="FF0000"/>
                </a:solidFill>
              </a:rPr>
              <a:t>[] numbers;</a:t>
            </a: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/>
              <a:t>// Declaring an integer array</a:t>
            </a:r>
          </a:p>
          <a:p>
            <a:pPr marL="0" indent="0">
              <a:buNone/>
            </a:pPr>
            <a:r>
              <a:rPr lang="en-IN" b="1" dirty="0"/>
              <a:t>Initialization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Arrays must be initialized before use.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numbers = new </a:t>
            </a:r>
            <a:r>
              <a:rPr lang="en-IN" b="1" dirty="0" err="1">
                <a:solidFill>
                  <a:srgbClr val="FF0000"/>
                </a:solidFill>
              </a:rPr>
              <a:t>int</a:t>
            </a:r>
            <a:r>
              <a:rPr lang="en-IN" b="1" dirty="0">
                <a:solidFill>
                  <a:srgbClr val="FF0000"/>
                </a:solidFill>
              </a:rPr>
              <a:t>[5];</a:t>
            </a: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/>
              <a:t>// Creates an array with 5 elements, all initialized to 0</a:t>
            </a:r>
          </a:p>
          <a:p>
            <a:pPr marL="0" indent="0">
              <a:buNone/>
            </a:pPr>
            <a:r>
              <a:rPr lang="en-IN" b="1" dirty="0"/>
              <a:t>Declaration &amp; Initialization Together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You can also declare and initialize in one step.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int</a:t>
            </a:r>
            <a:r>
              <a:rPr lang="en-IN" b="1" dirty="0">
                <a:solidFill>
                  <a:srgbClr val="FF0000"/>
                </a:solidFill>
              </a:rPr>
              <a:t>[] values = {10, 20, 30, 40, 50};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// Array with predefined values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99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2. Accessing Array Elements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Array elements are accessed using an </a:t>
            </a:r>
            <a:r>
              <a:rPr lang="en-IN" b="1" dirty="0"/>
              <a:t>index</a:t>
            </a:r>
            <a:r>
              <a:rPr lang="en-IN" dirty="0"/>
              <a:t> (starting from 0).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int</a:t>
            </a:r>
            <a:r>
              <a:rPr lang="en-IN" b="1" dirty="0">
                <a:solidFill>
                  <a:srgbClr val="FF0000"/>
                </a:solidFill>
              </a:rPr>
              <a:t>[] </a:t>
            </a:r>
            <a:r>
              <a:rPr lang="en-IN" b="1" dirty="0" err="1">
                <a:solidFill>
                  <a:srgbClr val="FF0000"/>
                </a:solidFill>
              </a:rPr>
              <a:t>arr</a:t>
            </a:r>
            <a:r>
              <a:rPr lang="en-IN" b="1" dirty="0">
                <a:solidFill>
                  <a:srgbClr val="FF0000"/>
                </a:solidFill>
              </a:rPr>
              <a:t> = {5, 10, 15, 20};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arr</a:t>
            </a:r>
            <a:r>
              <a:rPr lang="en-IN" b="1" dirty="0">
                <a:solidFill>
                  <a:srgbClr val="FF0000"/>
                </a:solidFill>
              </a:rPr>
              <a:t>[0]); </a:t>
            </a:r>
            <a:r>
              <a:rPr lang="en-IN" dirty="0"/>
              <a:t>// Output: 5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arr</a:t>
            </a:r>
            <a:r>
              <a:rPr lang="en-IN" b="1" dirty="0">
                <a:solidFill>
                  <a:srgbClr val="FF0000"/>
                </a:solidFill>
              </a:rPr>
              <a:t>[2]);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// Output: 15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3. Modifying an Array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You can update the values of an array by referencing their index.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int</a:t>
            </a:r>
            <a:r>
              <a:rPr lang="en-IN" b="1" dirty="0">
                <a:solidFill>
                  <a:srgbClr val="FF0000"/>
                </a:solidFill>
              </a:rPr>
              <a:t>[] data = {1, 2, 3, 4, 5};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data[2] = 100;</a:t>
            </a: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/>
              <a:t>// Modifies the third element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 </a:t>
            </a:r>
            <a:r>
              <a:rPr lang="en-IN" b="1" dirty="0" err="1" smtClean="0">
                <a:solidFill>
                  <a:srgbClr val="FF0000"/>
                </a:solidFill>
              </a:rPr>
              <a:t>System.out.println</a:t>
            </a:r>
            <a:r>
              <a:rPr lang="en-IN" b="1" dirty="0" smtClean="0">
                <a:solidFill>
                  <a:srgbClr val="FF0000"/>
                </a:solidFill>
              </a:rPr>
              <a:t>(data[2</a:t>
            </a:r>
            <a:r>
              <a:rPr lang="en-IN" b="1" dirty="0">
                <a:solidFill>
                  <a:srgbClr val="FF0000"/>
                </a:solidFill>
              </a:rPr>
              <a:t>]);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// Output: 100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41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8644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4. Traversing an Array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Using a for loop</a:t>
            </a: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nums</a:t>
            </a:r>
            <a:r>
              <a:rPr lang="en-IN" dirty="0">
                <a:solidFill>
                  <a:srgbClr val="FF0000"/>
                </a:solidFill>
              </a:rPr>
              <a:t> = {2, 4, 6, 8};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for (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= 0;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&lt; </a:t>
            </a:r>
            <a:r>
              <a:rPr lang="en-IN" dirty="0" err="1">
                <a:solidFill>
                  <a:srgbClr val="FF0000"/>
                </a:solidFill>
              </a:rPr>
              <a:t>nums.length</a:t>
            </a:r>
            <a:r>
              <a:rPr lang="en-IN" dirty="0">
                <a:solidFill>
                  <a:srgbClr val="FF0000"/>
                </a:solidFill>
              </a:rPr>
              <a:t>;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System.out.print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nums</a:t>
            </a:r>
            <a:r>
              <a:rPr lang="en-IN" dirty="0">
                <a:solidFill>
                  <a:srgbClr val="FF0000"/>
                </a:solidFill>
              </a:rPr>
              <a:t>[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] + " ");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/>
              <a:t>// Output: 2 4 6 8</a:t>
            </a:r>
          </a:p>
          <a:p>
            <a:pPr marL="0" indent="0">
              <a:buNone/>
            </a:pPr>
            <a:r>
              <a:rPr lang="en-IN" b="1" dirty="0"/>
              <a:t>Using an Enhanced for </a:t>
            </a:r>
            <a:r>
              <a:rPr lang="en-IN" b="1" dirty="0" smtClean="0"/>
              <a:t>loop(</a:t>
            </a:r>
            <a:r>
              <a:rPr lang="en-IN" b="1" dirty="0" err="1" smtClean="0"/>
              <a:t>Foreach</a:t>
            </a:r>
            <a:r>
              <a:rPr lang="en-IN" b="1" dirty="0" smtClean="0"/>
              <a:t>)</a:t>
            </a:r>
            <a:endParaRPr lang="en-IN" dirty="0"/>
          </a:p>
          <a:p>
            <a:pPr marL="0" lvl="0" indent="0">
              <a:buNone/>
            </a:pPr>
            <a:r>
              <a:rPr lang="en-IN" b="1" dirty="0"/>
              <a:t>Simplifies iteration</a:t>
            </a:r>
            <a:r>
              <a:rPr lang="en-IN" dirty="0"/>
              <a:t> when you don’t need an index.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for (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: </a:t>
            </a:r>
            <a:r>
              <a:rPr lang="en-IN" dirty="0" err="1">
                <a:solidFill>
                  <a:srgbClr val="FF0000"/>
                </a:solidFill>
              </a:rPr>
              <a:t>nums</a:t>
            </a:r>
            <a:r>
              <a:rPr lang="en-IN" dirty="0">
                <a:solidFill>
                  <a:srgbClr val="FF0000"/>
                </a:solidFill>
              </a:rPr>
              <a:t>)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System.out.print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+ " ");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/>
              <a:t>// Output: 2 4 6 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89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558925"/>
            <a:ext cx="11353800" cy="486442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5. Copying an Array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Using clone()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Creates a new array with the same elements.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original = {1, 2, 3};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copy = </a:t>
            </a:r>
            <a:r>
              <a:rPr lang="en-IN" dirty="0" err="1">
                <a:solidFill>
                  <a:srgbClr val="FF0000"/>
                </a:solidFill>
              </a:rPr>
              <a:t>original.clone</a:t>
            </a:r>
            <a:r>
              <a:rPr lang="en-IN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Using </a:t>
            </a:r>
            <a:r>
              <a:rPr lang="en-IN" b="1" dirty="0" err="1"/>
              <a:t>System.arraycopy</a:t>
            </a:r>
            <a:r>
              <a:rPr lang="en-IN" b="1" dirty="0"/>
              <a:t>()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Copies elements from </a:t>
            </a:r>
            <a:r>
              <a:rPr lang="en-IN" b="1" dirty="0"/>
              <a:t>one array to another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source = {10, 20, 30, 40, 50};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destination = new 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[5];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System.arraycopy</a:t>
            </a:r>
            <a:r>
              <a:rPr lang="en-IN" dirty="0">
                <a:solidFill>
                  <a:srgbClr val="FF0000"/>
                </a:solidFill>
              </a:rPr>
              <a:t>(source, 0, destination, 0, 5);</a:t>
            </a:r>
          </a:p>
          <a:p>
            <a:pPr marL="0" indent="0">
              <a:buNone/>
            </a:pPr>
            <a:r>
              <a:rPr lang="en-IN" b="1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Using </a:t>
            </a:r>
            <a:r>
              <a:rPr lang="en-IN" b="1" dirty="0" err="1"/>
              <a:t>Arrays.copyOf</a:t>
            </a:r>
            <a:r>
              <a:rPr lang="en-IN" b="1" dirty="0"/>
              <a:t>()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import </a:t>
            </a:r>
            <a:r>
              <a:rPr lang="en-IN" dirty="0" err="1">
                <a:solidFill>
                  <a:srgbClr val="FF0000"/>
                </a:solidFill>
              </a:rPr>
              <a:t>java.util.Arrays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copiedArray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Arrays.copyOf</a:t>
            </a:r>
            <a:r>
              <a:rPr lang="en-IN" dirty="0">
                <a:solidFill>
                  <a:srgbClr val="FF0000"/>
                </a:solidFill>
              </a:rPr>
              <a:t>(source, </a:t>
            </a:r>
            <a:r>
              <a:rPr lang="en-IN" dirty="0" err="1">
                <a:solidFill>
                  <a:srgbClr val="FF0000"/>
                </a:solidFill>
              </a:rPr>
              <a:t>source.length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36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864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6. Sorting an Array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The </a:t>
            </a:r>
            <a:r>
              <a:rPr lang="en-IN" dirty="0" err="1"/>
              <a:t>Arrays.sort</a:t>
            </a:r>
            <a:r>
              <a:rPr lang="en-IN" dirty="0"/>
              <a:t>() method sorts an array in </a:t>
            </a:r>
            <a:r>
              <a:rPr lang="en-IN" b="1" dirty="0"/>
              <a:t>ascending order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import </a:t>
            </a:r>
            <a:r>
              <a:rPr lang="en-IN" dirty="0" err="1">
                <a:solidFill>
                  <a:srgbClr val="FF0000"/>
                </a:solidFill>
              </a:rPr>
              <a:t>java.util.Arrays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 = {5, 2, 8, 1, 3};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Arrays.sort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Arrays.toString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)); </a:t>
            </a:r>
            <a:r>
              <a:rPr lang="en-IN" dirty="0"/>
              <a:t>// Output: [1, 2, 3, 5, 8]</a:t>
            </a:r>
          </a:p>
        </p:txBody>
      </p:sp>
    </p:spTree>
    <p:extLst>
      <p:ext uri="{BB962C8B-B14F-4D97-AF65-F5344CB8AC3E}">
        <p14:creationId xmlns:p14="http://schemas.microsoft.com/office/powerpoint/2010/main" val="109998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864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7. Searching in an </a:t>
            </a:r>
            <a:r>
              <a:rPr lang="en-IN" b="1" dirty="0" smtClean="0"/>
              <a:t>Array - Linear </a:t>
            </a:r>
            <a:r>
              <a:rPr lang="en-IN" b="1" dirty="0"/>
              <a:t>Search</a:t>
            </a:r>
            <a:endParaRPr lang="en-IN" dirty="0"/>
          </a:p>
          <a:p>
            <a:pPr marL="0" lvl="0" indent="0">
              <a:buNone/>
            </a:pPr>
            <a:r>
              <a:rPr lang="en-IN" b="1" dirty="0"/>
              <a:t>Sequentially checks each element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 = {10, 20, 30, 40};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key = 30;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boolean</a:t>
            </a:r>
            <a:r>
              <a:rPr lang="en-IN" dirty="0">
                <a:solidFill>
                  <a:srgbClr val="FF0000"/>
                </a:solidFill>
              </a:rPr>
              <a:t> found = false;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for (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: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)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if (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== key)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found = true;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break;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(found ? "Found" : "Not Found");</a:t>
            </a:r>
          </a:p>
        </p:txBody>
      </p:sp>
    </p:spTree>
    <p:extLst>
      <p:ext uri="{BB962C8B-B14F-4D97-AF65-F5344CB8AC3E}">
        <p14:creationId xmlns:p14="http://schemas.microsoft.com/office/powerpoint/2010/main" val="3956418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864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8. Finding Maximum and Minimum in an Array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Iterate through the array to determine the maximum and minimum values.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 = {10, 20, 5, 15, 30};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max =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[0], min =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[0];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for (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: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)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if (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&gt; max) max = 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if (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&lt; min) min = 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("Max: " + max + ", Min: " + min); </a:t>
            </a:r>
            <a:r>
              <a:rPr lang="en-IN" dirty="0"/>
              <a:t>// Output: Max: 30, Min:5</a:t>
            </a:r>
          </a:p>
        </p:txBody>
      </p:sp>
    </p:spTree>
    <p:extLst>
      <p:ext uri="{BB962C8B-B14F-4D97-AF65-F5344CB8AC3E}">
        <p14:creationId xmlns:p14="http://schemas.microsoft.com/office/powerpoint/2010/main" val="2323754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864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9. Reversing an Array</a:t>
            </a:r>
            <a:endParaRPr lang="en-IN" dirty="0"/>
          </a:p>
          <a:p>
            <a:pPr marL="0" lvl="0" indent="0">
              <a:buNone/>
            </a:pPr>
            <a:r>
              <a:rPr lang="en-IN" b="1" dirty="0"/>
              <a:t>Swaps elements from both ends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 = {1, 2, 3, 4, 5};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for (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= 0, j = </a:t>
            </a:r>
            <a:r>
              <a:rPr lang="en-IN" dirty="0" err="1">
                <a:solidFill>
                  <a:srgbClr val="FF0000"/>
                </a:solidFill>
              </a:rPr>
              <a:t>arr.length</a:t>
            </a:r>
            <a:r>
              <a:rPr lang="en-IN" dirty="0">
                <a:solidFill>
                  <a:srgbClr val="FF0000"/>
                </a:solidFill>
              </a:rPr>
              <a:t> - 1;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&lt; j;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++, j--)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temp =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];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] =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[j];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[j] = temp;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Arrays.toString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)); </a:t>
            </a:r>
            <a:r>
              <a:rPr lang="en-IN" dirty="0"/>
              <a:t>// Output: [5, 4, 3, 2, 1]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89200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864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10. Converting an Array to String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The </a:t>
            </a:r>
            <a:r>
              <a:rPr lang="en-IN" dirty="0" err="1"/>
              <a:t>Arrays.toString</a:t>
            </a:r>
            <a:r>
              <a:rPr lang="en-IN" dirty="0"/>
              <a:t>() method converts an array into a readable string.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 = { 10, 20, 30 };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String </a:t>
            </a:r>
            <a:r>
              <a:rPr lang="en-IN" dirty="0">
                <a:solidFill>
                  <a:srgbClr val="FF0000"/>
                </a:solidFill>
              </a:rPr>
              <a:t>s = </a:t>
            </a:r>
            <a:r>
              <a:rPr lang="en-IN" dirty="0" err="1">
                <a:solidFill>
                  <a:srgbClr val="FF0000"/>
                </a:solidFill>
              </a:rPr>
              <a:t>Arrays.toString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 err="1" smtClean="0">
                <a:solidFill>
                  <a:srgbClr val="FF0000"/>
                </a:solidFill>
              </a:rPr>
              <a:t>System.out.println</a:t>
            </a:r>
            <a:r>
              <a:rPr lang="en-IN" dirty="0" smtClean="0">
                <a:solidFill>
                  <a:srgbClr val="FF0000"/>
                </a:solidFill>
              </a:rPr>
              <a:t>(s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 err="1" smtClean="0">
                <a:solidFill>
                  <a:srgbClr val="FF0000"/>
                </a:solidFill>
              </a:rPr>
              <a:t>System.out.println</a:t>
            </a:r>
            <a:r>
              <a:rPr lang="en-IN" dirty="0" smtClean="0">
                <a:solidFill>
                  <a:srgbClr val="FF0000"/>
                </a:solidFill>
              </a:rPr>
              <a:t>(</a:t>
            </a:r>
            <a:r>
              <a:rPr lang="en-IN" dirty="0" err="1" smtClean="0">
                <a:solidFill>
                  <a:srgbClr val="FF0000"/>
                </a:solidFill>
              </a:rPr>
              <a:t>s.getClass</a:t>
            </a:r>
            <a:r>
              <a:rPr lang="en-IN" dirty="0">
                <a:solidFill>
                  <a:srgbClr val="FF0000"/>
                </a:solidFill>
              </a:rPr>
              <a:t>().</a:t>
            </a:r>
            <a:r>
              <a:rPr lang="en-IN" dirty="0" err="1">
                <a:solidFill>
                  <a:srgbClr val="FF0000"/>
                </a:solidFill>
              </a:rPr>
              <a:t>getName</a:t>
            </a:r>
            <a:r>
              <a:rPr lang="en-IN" dirty="0">
                <a:solidFill>
                  <a:srgbClr val="FF0000"/>
                </a:solidFill>
              </a:rPr>
              <a:t>());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71850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290" y="1797633"/>
            <a:ext cx="11353800" cy="4864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11. Merging Two Arrays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Combine two arrays using </a:t>
            </a:r>
            <a:r>
              <a:rPr lang="en-IN" dirty="0" err="1"/>
              <a:t>System.arraycopy</a:t>
            </a:r>
            <a:r>
              <a:rPr lang="en-IN" dirty="0"/>
              <a:t>().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arr1 = {1, 2, 3};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arr2 = {4, 5, 6};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merged = new 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[arr1.length + arr2.length];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System.arraycopy</a:t>
            </a:r>
            <a:r>
              <a:rPr lang="en-IN" dirty="0">
                <a:solidFill>
                  <a:srgbClr val="FF0000"/>
                </a:solidFill>
              </a:rPr>
              <a:t>(arr1, 0, merged, 0, arr1.length);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System.arraycopy</a:t>
            </a:r>
            <a:r>
              <a:rPr lang="en-IN" dirty="0">
                <a:solidFill>
                  <a:srgbClr val="FF0000"/>
                </a:solidFill>
              </a:rPr>
              <a:t>(arr2, 0, merged, arr1.length, arr2.length</a:t>
            </a:r>
            <a:r>
              <a:rPr lang="en-IN" dirty="0" smtClean="0">
                <a:solidFill>
                  <a:srgbClr val="FF0000"/>
                </a:solidFill>
              </a:rPr>
              <a:t>);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Arrays.toString</a:t>
            </a:r>
            <a:r>
              <a:rPr lang="en-IN" dirty="0">
                <a:solidFill>
                  <a:srgbClr val="FF0000"/>
                </a:solidFill>
              </a:rPr>
              <a:t>(merged)); </a:t>
            </a:r>
            <a:r>
              <a:rPr lang="en-IN" dirty="0"/>
              <a:t>// Output: [1, 2, 3, 4, 5, 6]</a:t>
            </a:r>
          </a:p>
        </p:txBody>
      </p:sp>
    </p:spTree>
    <p:extLst>
      <p:ext uri="{BB962C8B-B14F-4D97-AF65-F5344CB8AC3E}">
        <p14:creationId xmlns:p14="http://schemas.microsoft.com/office/powerpoint/2010/main" val="2700860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290" y="1797633"/>
            <a:ext cx="11353800" cy="4864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12. </a:t>
            </a:r>
            <a:r>
              <a:rPr lang="en-IN" b="1" dirty="0"/>
              <a:t>Removing an Element from an Array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Shift elements left to remove a specific value.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 = {1, 2, 3, 4, 5};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removeIndex</a:t>
            </a:r>
            <a:r>
              <a:rPr lang="en-IN" dirty="0">
                <a:solidFill>
                  <a:srgbClr val="FF0000"/>
                </a:solidFill>
              </a:rPr>
              <a:t> = 2;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for (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removeIndex</a:t>
            </a:r>
            <a:r>
              <a:rPr lang="en-IN" dirty="0">
                <a:solidFill>
                  <a:srgbClr val="FF0000"/>
                </a:solidFill>
              </a:rPr>
              <a:t>;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&lt; </a:t>
            </a:r>
            <a:r>
              <a:rPr lang="en-IN" dirty="0" err="1">
                <a:solidFill>
                  <a:srgbClr val="FF0000"/>
                </a:solidFill>
              </a:rPr>
              <a:t>arr.length</a:t>
            </a:r>
            <a:r>
              <a:rPr lang="en-IN" dirty="0">
                <a:solidFill>
                  <a:srgbClr val="FF0000"/>
                </a:solidFill>
              </a:rPr>
              <a:t> - 1;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] =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+ 1];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/>
              <a:t>// Printing array after removal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Arrays.toString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Arrays.copyOf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arr.length</a:t>
            </a:r>
            <a:r>
              <a:rPr lang="en-IN" dirty="0">
                <a:solidFill>
                  <a:srgbClr val="FF0000"/>
                </a:solidFill>
              </a:rPr>
              <a:t> - 1)));</a:t>
            </a:r>
          </a:p>
          <a:p>
            <a:pPr marL="0" indent="0">
              <a:buNone/>
            </a:pPr>
            <a:r>
              <a:rPr lang="en-IN" dirty="0"/>
              <a:t>// Output: [1, 2, 4, 5]</a:t>
            </a:r>
          </a:p>
        </p:txBody>
      </p:sp>
    </p:spTree>
    <p:extLst>
      <p:ext uri="{BB962C8B-B14F-4D97-AF65-F5344CB8AC3E}">
        <p14:creationId xmlns:p14="http://schemas.microsoft.com/office/powerpoint/2010/main" val="445148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39" y="14119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273" y="2152196"/>
            <a:ext cx="11353800" cy="4864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13. </a:t>
            </a:r>
            <a:r>
              <a:rPr lang="en-IN" b="1" dirty="0"/>
              <a:t>Finding the Second Largest Element</a:t>
            </a: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[]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 = {10, 20, 5, 30, 25};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Arrays.sort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("Second Largest: " + </a:t>
            </a:r>
            <a:r>
              <a:rPr lang="en-IN" dirty="0" err="1">
                <a:solidFill>
                  <a:srgbClr val="FF0000"/>
                </a:solidFill>
              </a:rPr>
              <a:t>arr</a:t>
            </a:r>
            <a:r>
              <a:rPr lang="en-IN" dirty="0">
                <a:solidFill>
                  <a:srgbClr val="FF0000"/>
                </a:solidFill>
              </a:rPr>
              <a:t>[</a:t>
            </a:r>
            <a:r>
              <a:rPr lang="en-IN" dirty="0" err="1">
                <a:solidFill>
                  <a:srgbClr val="FF0000"/>
                </a:solidFill>
              </a:rPr>
              <a:t>arr.length</a:t>
            </a:r>
            <a:r>
              <a:rPr lang="en-IN" dirty="0">
                <a:solidFill>
                  <a:srgbClr val="FF0000"/>
                </a:solidFill>
              </a:rPr>
              <a:t> - 2]);</a:t>
            </a:r>
            <a:r>
              <a:rPr lang="en-IN" dirty="0"/>
              <a:t> // Output: 25</a:t>
            </a:r>
          </a:p>
        </p:txBody>
      </p:sp>
    </p:spTree>
    <p:extLst>
      <p:ext uri="{BB962C8B-B14F-4D97-AF65-F5344CB8AC3E}">
        <p14:creationId xmlns:p14="http://schemas.microsoft.com/office/powerpoint/2010/main" val="3598500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2116</Words>
  <Application>Microsoft Office PowerPoint</Application>
  <PresentationFormat>Widescreen</PresentationFormat>
  <Paragraphs>289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JAVA </vt:lpstr>
      <vt:lpstr>ARRAYS</vt:lpstr>
      <vt:lpstr>PowerPoint Presentation</vt:lpstr>
      <vt:lpstr>PowerPoint Presentation</vt:lpstr>
      <vt:lpstr>PowerPoint Presentation</vt:lpstr>
      <vt:lpstr>Array Basic Operations</vt:lpstr>
      <vt:lpstr>Example 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Three-Dimensional Array</vt:lpstr>
      <vt:lpstr>Representing sales data for different products in multiple stores across several months. Rows: Products, Columns: Stores, Depth: Months.</vt:lpstr>
      <vt:lpstr>PowerPoint Presentation</vt:lpstr>
      <vt:lpstr>Array  Operations</vt:lpstr>
      <vt:lpstr>Array  Operations</vt:lpstr>
      <vt:lpstr>Array  Operations</vt:lpstr>
      <vt:lpstr>Array  Operations</vt:lpstr>
      <vt:lpstr>Array  Operations</vt:lpstr>
      <vt:lpstr>Array  Operations</vt:lpstr>
      <vt:lpstr>Array  Operations</vt:lpstr>
      <vt:lpstr>Array  Operations</vt:lpstr>
      <vt:lpstr>Array  Operations</vt:lpstr>
      <vt:lpstr>Array  Operations</vt:lpstr>
      <vt:lpstr>Array  Operations</vt:lpstr>
      <vt:lpstr>Array  Operations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</dc:title>
  <dc:creator>Sivasankari B</dc:creator>
  <cp:lastModifiedBy>PRAVEEN KUMAR</cp:lastModifiedBy>
  <cp:revision>29</cp:revision>
  <dcterms:created xsi:type="dcterms:W3CDTF">2024-12-13T07:01:17Z</dcterms:created>
  <dcterms:modified xsi:type="dcterms:W3CDTF">2025-09-22T07:53:16Z</dcterms:modified>
</cp:coreProperties>
</file>