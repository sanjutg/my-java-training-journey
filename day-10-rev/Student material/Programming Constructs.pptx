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313" r:id="rId3"/>
    <p:sldId id="257" r:id="rId4"/>
    <p:sldId id="258" r:id="rId5"/>
    <p:sldId id="259" r:id="rId6"/>
    <p:sldId id="260" r:id="rId7"/>
    <p:sldId id="261" r:id="rId8"/>
    <p:sldId id="262" r:id="rId9"/>
    <p:sldId id="31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5" r:id="rId18"/>
    <p:sldId id="276" r:id="rId19"/>
    <p:sldId id="277" r:id="rId20"/>
    <p:sldId id="278" r:id="rId21"/>
    <p:sldId id="279" r:id="rId22"/>
    <p:sldId id="280" r:id="rId23"/>
    <p:sldId id="281" r:id="rId24"/>
    <p:sldId id="291" r:id="rId25"/>
    <p:sldId id="292" r:id="rId26"/>
    <p:sldId id="293" r:id="rId27"/>
    <p:sldId id="282" r:id="rId28"/>
    <p:sldId id="283" r:id="rId29"/>
    <p:sldId id="284" r:id="rId30"/>
    <p:sldId id="285" r:id="rId31"/>
    <p:sldId id="314" r:id="rId32"/>
    <p:sldId id="286" r:id="rId33"/>
    <p:sldId id="287" r:id="rId34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06" autoAdjust="0"/>
    <p:restoredTop sz="94660"/>
  </p:normalViewPr>
  <p:slideViewPr>
    <p:cSldViewPr>
      <p:cViewPr>
        <p:scale>
          <a:sx n="75" d="100"/>
          <a:sy n="75" d="100"/>
        </p:scale>
        <p:origin x="749" y="20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876" y="2125980"/>
            <a:ext cx="10368598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9752" y="3840480"/>
            <a:ext cx="8538845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7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917" y="1577340"/>
            <a:ext cx="5306282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82150" y="1577340"/>
            <a:ext cx="5306282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9/22/2025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9/22/2025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9/22/2025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44118" y="251536"/>
            <a:ext cx="10710113" cy="10708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7244" y="1814017"/>
            <a:ext cx="7105015" cy="41497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7439" y="6377940"/>
            <a:ext cx="3903472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917" y="6377940"/>
            <a:ext cx="28056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82812" y="6377940"/>
            <a:ext cx="28056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82339" y="2044879"/>
            <a:ext cx="4238625" cy="1935480"/>
          </a:xfrm>
          <a:prstGeom prst="rect">
            <a:avLst/>
          </a:prstGeom>
        </p:spPr>
        <p:txBody>
          <a:bodyPr vert="horz" wrap="square" lIns="0" tIns="460375" rIns="0" bIns="0" rtlCol="0">
            <a:spAutoFit/>
          </a:bodyPr>
          <a:lstStyle/>
          <a:p>
            <a:pPr marL="151130" algn="ctr">
              <a:lnSpc>
                <a:spcPct val="100000"/>
              </a:lnSpc>
              <a:spcBef>
                <a:spcPts val="3625"/>
              </a:spcBef>
            </a:pPr>
            <a:r>
              <a:rPr sz="6000" spc="-20" dirty="0"/>
              <a:t>J</a:t>
            </a:r>
            <a:r>
              <a:rPr sz="6000" spc="-760" dirty="0"/>
              <a:t>AV</a:t>
            </a:r>
            <a:r>
              <a:rPr sz="6000" spc="-20" dirty="0"/>
              <a:t>A</a:t>
            </a:r>
            <a:endParaRPr sz="6000" dirty="0"/>
          </a:p>
          <a:p>
            <a:pPr marL="12700" algn="ctr">
              <a:lnSpc>
                <a:spcPct val="100000"/>
              </a:lnSpc>
              <a:spcBef>
                <a:spcPts val="1430"/>
              </a:spcBef>
            </a:pPr>
            <a:r>
              <a:rPr lang="en-IN" sz="2400" spc="-25" dirty="0"/>
              <a:t>Programming Constructs</a:t>
            </a:r>
            <a:endParaRPr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33400"/>
            <a:ext cx="10710113" cy="492443"/>
          </a:xfrm>
        </p:spPr>
        <p:txBody>
          <a:bodyPr/>
          <a:lstStyle/>
          <a:p>
            <a:pPr algn="ctr"/>
            <a:r>
              <a:rPr lang="en-IN" b="1" u="sng" dirty="0" smtClean="0">
                <a:solidFill>
                  <a:srgbClr val="00B050"/>
                </a:solidFill>
              </a:rPr>
              <a:t>Sequential </a:t>
            </a:r>
            <a:r>
              <a:rPr lang="en-IN" b="1" u="sng" dirty="0">
                <a:solidFill>
                  <a:srgbClr val="00B050"/>
                </a:solidFill>
              </a:rPr>
              <a:t>Construct</a:t>
            </a:r>
            <a:endParaRPr lang="en-IN" u="sng" dirty="0">
              <a:solidFill>
                <a:srgbClr val="00B050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85800" y="1981200"/>
            <a:ext cx="52245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Code is executed line by line, in the order written.</a:t>
            </a:r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3429000" y="3505200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dirty="0" err="1" smtClean="0"/>
              <a:t>int</a:t>
            </a:r>
            <a:r>
              <a:rPr lang="en-IN" dirty="0" smtClean="0"/>
              <a:t> a = 5;</a:t>
            </a:r>
          </a:p>
          <a:p>
            <a:r>
              <a:rPr lang="en-IN" dirty="0" err="1" smtClean="0"/>
              <a:t>int</a:t>
            </a:r>
            <a:r>
              <a:rPr lang="en-IN" dirty="0" smtClean="0"/>
              <a:t> b = 10;</a:t>
            </a:r>
          </a:p>
          <a:p>
            <a:r>
              <a:rPr lang="en-IN" dirty="0" err="1" smtClean="0"/>
              <a:t>int</a:t>
            </a:r>
            <a:r>
              <a:rPr lang="en-IN" dirty="0" smtClean="0"/>
              <a:t> sum = a + b;</a:t>
            </a:r>
          </a:p>
          <a:p>
            <a:r>
              <a:rPr lang="en-IN" dirty="0" err="1" smtClean="0"/>
              <a:t>System.out.println</a:t>
            </a:r>
            <a:r>
              <a:rPr lang="en-IN" dirty="0" smtClean="0"/>
              <a:t>("Sum: " + sum);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011800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90600" y="2057400"/>
            <a:ext cx="10047605" cy="3650615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15"/>
              </a:spcBef>
            </a:pPr>
            <a:r>
              <a:rPr sz="2400" spc="-10" dirty="0">
                <a:latin typeface="Times New Roman"/>
                <a:cs typeface="Times New Roman"/>
              </a:rPr>
              <a:t>Decision-</a:t>
            </a:r>
            <a:r>
              <a:rPr sz="2400" dirty="0">
                <a:latin typeface="Times New Roman"/>
                <a:cs typeface="Times New Roman"/>
              </a:rPr>
              <a:t>making</a:t>
            </a:r>
            <a:r>
              <a:rPr sz="2400" spc="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involves</a:t>
            </a:r>
            <a:r>
              <a:rPr sz="2400" spc="1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evaluating</a:t>
            </a:r>
            <a:r>
              <a:rPr sz="2400" spc="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condition</a:t>
            </a:r>
            <a:r>
              <a:rPr sz="2400" spc="10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1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Boolean</a:t>
            </a:r>
            <a:r>
              <a:rPr sz="2400" spc="1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value</a:t>
            </a:r>
            <a:r>
              <a:rPr sz="2400" spc="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10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making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decision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based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it.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basic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idea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revolves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around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executing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block of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code </a:t>
            </a:r>
            <a:r>
              <a:rPr sz="2400" dirty="0">
                <a:latin typeface="Times New Roman"/>
                <a:cs typeface="Times New Roman"/>
              </a:rPr>
              <a:t>whose</a:t>
            </a:r>
            <a:r>
              <a:rPr sz="2400" spc="4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condition</a:t>
            </a:r>
            <a:r>
              <a:rPr sz="2400" spc="6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evaluates</a:t>
            </a:r>
            <a:r>
              <a:rPr sz="2400" spc="5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3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true.</a:t>
            </a:r>
            <a:r>
              <a:rPr sz="2400" spc="5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Below</a:t>
            </a:r>
            <a:r>
              <a:rPr sz="2400" spc="4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are</a:t>
            </a:r>
            <a:r>
              <a:rPr sz="2400" spc="5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5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types</a:t>
            </a:r>
            <a:r>
              <a:rPr sz="2400" spc="7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40" dirty="0">
                <a:latin typeface="Times New Roman"/>
                <a:cs typeface="Times New Roman"/>
              </a:rPr>
              <a:t>  </a:t>
            </a:r>
            <a:r>
              <a:rPr sz="2400" spc="-10" dirty="0">
                <a:latin typeface="Times New Roman"/>
                <a:cs typeface="Times New Roman"/>
              </a:rPr>
              <a:t>decision-making statements:</a:t>
            </a:r>
            <a:endParaRPr sz="2400" dirty="0">
              <a:latin typeface="Times New Roman"/>
              <a:cs typeface="Times New Roman"/>
            </a:endParaRPr>
          </a:p>
          <a:p>
            <a:pPr marL="3858895" indent="-149860">
              <a:lnSpc>
                <a:spcPct val="100000"/>
              </a:lnSpc>
              <a:spcBef>
                <a:spcPts val="2590"/>
              </a:spcBef>
              <a:buFont typeface="Arial MT"/>
              <a:buChar char="•"/>
              <a:tabLst>
                <a:tab pos="3858895" algn="l"/>
              </a:tabLst>
            </a:pPr>
            <a:r>
              <a:rPr sz="2400" dirty="0">
                <a:latin typeface="Times New Roman"/>
                <a:cs typeface="Times New Roman"/>
              </a:rPr>
              <a:t>if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statement</a:t>
            </a:r>
            <a:endParaRPr sz="2400" dirty="0">
              <a:latin typeface="Times New Roman"/>
              <a:cs typeface="Times New Roman"/>
            </a:endParaRPr>
          </a:p>
          <a:p>
            <a:pPr marL="3858895" indent="-14986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858895" algn="l"/>
              </a:tabLst>
            </a:pPr>
            <a:r>
              <a:rPr sz="2400" dirty="0">
                <a:latin typeface="Times New Roman"/>
                <a:cs typeface="Times New Roman"/>
              </a:rPr>
              <a:t>if…..else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statement</a:t>
            </a:r>
            <a:endParaRPr sz="2400" dirty="0">
              <a:latin typeface="Times New Roman"/>
              <a:cs typeface="Times New Roman"/>
            </a:endParaRPr>
          </a:p>
          <a:p>
            <a:pPr marL="3858895" indent="-149860">
              <a:lnSpc>
                <a:spcPct val="100000"/>
              </a:lnSpc>
              <a:buFont typeface="Arial MT"/>
              <a:buChar char="•"/>
              <a:tabLst>
                <a:tab pos="3858895" algn="l"/>
              </a:tabLst>
            </a:pPr>
            <a:r>
              <a:rPr sz="2400" dirty="0">
                <a:latin typeface="Times New Roman"/>
                <a:cs typeface="Times New Roman"/>
              </a:rPr>
              <a:t>if…..else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if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statement</a:t>
            </a:r>
            <a:endParaRPr sz="2400" dirty="0">
              <a:latin typeface="Times New Roman"/>
              <a:cs typeface="Times New Roman"/>
            </a:endParaRPr>
          </a:p>
          <a:p>
            <a:pPr marL="3858895" indent="-14986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858895" algn="l"/>
              </a:tabLst>
            </a:pPr>
            <a:r>
              <a:rPr sz="2400" dirty="0">
                <a:latin typeface="Times New Roman"/>
                <a:cs typeface="Times New Roman"/>
              </a:rPr>
              <a:t>nested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if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statements</a:t>
            </a:r>
            <a:endParaRPr sz="2400" dirty="0">
              <a:latin typeface="Times New Roman"/>
              <a:cs typeface="Times New Roman"/>
            </a:endParaRPr>
          </a:p>
          <a:p>
            <a:pPr marL="3858895" indent="-149860">
              <a:lnSpc>
                <a:spcPct val="100000"/>
              </a:lnSpc>
              <a:buFont typeface="Arial MT"/>
              <a:buChar char="•"/>
              <a:tabLst>
                <a:tab pos="3858895" algn="l"/>
              </a:tabLst>
            </a:pPr>
            <a:r>
              <a:rPr sz="2400" dirty="0">
                <a:latin typeface="Times New Roman"/>
                <a:cs typeface="Times New Roman"/>
              </a:rPr>
              <a:t>switch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statement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-533400" y="-19050"/>
            <a:ext cx="9448800" cy="1654554"/>
          </a:xfrm>
          <a:prstGeom prst="rect">
            <a:avLst/>
          </a:prstGeom>
        </p:spPr>
        <p:txBody>
          <a:bodyPr vert="horz" wrap="square" lIns="0" tIns="419353" rIns="0" bIns="0" rtlCol="0">
            <a:spAutoFit/>
          </a:bodyPr>
          <a:lstStyle/>
          <a:p>
            <a:pPr marL="3319145" algn="ctr">
              <a:lnSpc>
                <a:spcPct val="100000"/>
              </a:lnSpc>
              <a:spcBef>
                <a:spcPts val="95"/>
              </a:spcBef>
            </a:pPr>
            <a:r>
              <a:rPr lang="en-IN" sz="4000" b="1" u="sng" spc="-25" dirty="0" smtClean="0">
                <a:solidFill>
                  <a:srgbClr val="538235"/>
                </a:solidFill>
                <a:uFill>
                  <a:solidFill>
                    <a:srgbClr val="538235"/>
                  </a:solidFill>
                </a:uFill>
              </a:rPr>
              <a:t>Conditional Construct</a:t>
            </a:r>
            <a:r>
              <a:rPr lang="en-IN" sz="4000" b="1" u="sng" spc="-25" dirty="0">
                <a:solidFill>
                  <a:srgbClr val="538235"/>
                </a:solidFill>
                <a:uFill>
                  <a:solidFill>
                    <a:srgbClr val="538235"/>
                  </a:solidFill>
                </a:uFill>
              </a:rPr>
              <a:t/>
            </a:r>
            <a:br>
              <a:rPr lang="en-IN" sz="4000" b="1" u="sng" spc="-25" dirty="0">
                <a:solidFill>
                  <a:srgbClr val="538235"/>
                </a:solidFill>
                <a:uFill>
                  <a:solidFill>
                    <a:srgbClr val="538235"/>
                  </a:solidFill>
                </a:uFill>
              </a:rPr>
            </a:br>
            <a:r>
              <a:rPr lang="en-IN" sz="4000" b="1" u="sng" spc="-25" dirty="0">
                <a:solidFill>
                  <a:srgbClr val="538235"/>
                </a:solidFill>
                <a:uFill>
                  <a:solidFill>
                    <a:srgbClr val="538235"/>
                  </a:solidFill>
                </a:uFill>
              </a:rPr>
              <a:t>D</a:t>
            </a:r>
            <a:r>
              <a:rPr sz="4000" b="1" u="sng" spc="-25" dirty="0" smtClean="0">
                <a:solidFill>
                  <a:srgbClr val="538235"/>
                </a:solidFill>
                <a:uFill>
                  <a:solidFill>
                    <a:srgbClr val="538235"/>
                  </a:solidFill>
                </a:uFill>
                <a:latin typeface="Times New Roman"/>
                <a:cs typeface="Times New Roman"/>
              </a:rPr>
              <a:t>ecision-</a:t>
            </a:r>
            <a:r>
              <a:rPr sz="4000" b="1" u="sng" spc="-10" dirty="0" smtClean="0">
                <a:solidFill>
                  <a:srgbClr val="538235"/>
                </a:solidFill>
                <a:uFill>
                  <a:solidFill>
                    <a:srgbClr val="538235"/>
                  </a:solidFill>
                </a:uFill>
                <a:latin typeface="Times New Roman"/>
                <a:cs typeface="Times New Roman"/>
              </a:rPr>
              <a:t>making</a:t>
            </a:r>
            <a:endParaRPr sz="40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3806" y="784682"/>
            <a:ext cx="226758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if</a:t>
            </a:r>
            <a:r>
              <a:rPr b="1" u="sng" spc="-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statement</a:t>
            </a:r>
            <a:endParaRPr sz="36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38144" y="797169"/>
            <a:ext cx="3728929" cy="537485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096261" y="3742182"/>
            <a:ext cx="2491740" cy="1819910"/>
          </a:xfrm>
          <a:prstGeom prst="rect">
            <a:avLst/>
          </a:prstGeom>
          <a:ln w="13716">
            <a:solidFill>
              <a:srgbClr val="000000"/>
            </a:solidFill>
          </a:ln>
        </p:spPr>
        <p:txBody>
          <a:bodyPr vert="horz" wrap="square" lIns="0" tIns="40640" rIns="0" bIns="0" rtlCol="0">
            <a:spAutoFit/>
          </a:bodyPr>
          <a:lstStyle/>
          <a:p>
            <a:pPr marL="88265">
              <a:lnSpc>
                <a:spcPct val="100000"/>
              </a:lnSpc>
              <a:spcBef>
                <a:spcPts val="320"/>
              </a:spcBef>
            </a:pPr>
            <a:r>
              <a:rPr sz="2000" b="1" spc="-10" dirty="0">
                <a:solidFill>
                  <a:srgbClr val="0C0C0C"/>
                </a:solidFill>
                <a:latin typeface="Times New Roman"/>
                <a:cs typeface="Times New Roman"/>
              </a:rPr>
              <a:t>Syntax: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0"/>
              </a:spcBef>
            </a:pPr>
            <a:endParaRPr sz="2000">
              <a:latin typeface="Times New Roman"/>
              <a:cs typeface="Times New Roman"/>
            </a:endParaRPr>
          </a:p>
          <a:p>
            <a:pPr marL="88265">
              <a:lnSpc>
                <a:spcPct val="100000"/>
              </a:lnSpc>
            </a:pP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if</a:t>
            </a:r>
            <a:r>
              <a:rPr sz="1800" spc="-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0C0C0C"/>
                </a:solidFill>
                <a:latin typeface="Times New Roman"/>
                <a:cs typeface="Times New Roman"/>
              </a:rPr>
              <a:t>(condition)</a:t>
            </a:r>
            <a:endParaRPr sz="1800">
              <a:latin typeface="Times New Roman"/>
              <a:cs typeface="Times New Roman"/>
            </a:endParaRPr>
          </a:p>
          <a:p>
            <a:pPr marL="142875">
              <a:lnSpc>
                <a:spcPct val="100000"/>
              </a:lnSpc>
              <a:spcBef>
                <a:spcPts val="5"/>
              </a:spcBef>
            </a:pPr>
            <a:r>
              <a:rPr sz="1800" spc="-50" dirty="0">
                <a:solidFill>
                  <a:srgbClr val="0C0C0C"/>
                </a:solidFill>
                <a:latin typeface="Times New Roman"/>
                <a:cs typeface="Times New Roman"/>
              </a:rPr>
              <a:t>{</a:t>
            </a:r>
            <a:endParaRPr sz="1800">
              <a:latin typeface="Times New Roman"/>
              <a:cs typeface="Times New Roman"/>
            </a:endParaRPr>
          </a:p>
          <a:p>
            <a:pPr marL="88265">
              <a:lnSpc>
                <a:spcPct val="100000"/>
              </a:lnSpc>
            </a:pP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//block</a:t>
            </a:r>
            <a:r>
              <a:rPr sz="1800" spc="1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of</a:t>
            </a:r>
            <a:r>
              <a:rPr sz="1800" spc="-4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spc="-20" dirty="0">
                <a:solidFill>
                  <a:srgbClr val="0C0C0C"/>
                </a:solidFill>
                <a:latin typeface="Times New Roman"/>
                <a:cs typeface="Times New Roman"/>
              </a:rPr>
              <a:t>code</a:t>
            </a:r>
            <a:endParaRPr sz="1800">
              <a:latin typeface="Times New Roman"/>
              <a:cs typeface="Times New Roman"/>
            </a:endParaRPr>
          </a:p>
          <a:p>
            <a:pPr marL="88265">
              <a:lnSpc>
                <a:spcPct val="100000"/>
              </a:lnSpc>
            </a:pPr>
            <a:r>
              <a:rPr sz="1800" spc="-50" dirty="0">
                <a:solidFill>
                  <a:srgbClr val="0C0C0C"/>
                </a:solidFill>
                <a:latin typeface="Times New Roman"/>
                <a:cs typeface="Times New Roman"/>
              </a:rPr>
              <a:t>}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3806" y="1812416"/>
            <a:ext cx="6497955" cy="149098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10"/>
              </a:spcBef>
            </a:pPr>
            <a:r>
              <a:rPr sz="2400" dirty="0">
                <a:latin typeface="Times New Roman"/>
                <a:cs typeface="Times New Roman"/>
              </a:rPr>
              <a:t>It</a:t>
            </a:r>
            <a:r>
              <a:rPr sz="2400" spc="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also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known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as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one-</a:t>
            </a:r>
            <a:r>
              <a:rPr sz="2400" dirty="0">
                <a:latin typeface="Times New Roman"/>
                <a:cs typeface="Times New Roman"/>
              </a:rPr>
              <a:t>way selection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statement.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If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condition</a:t>
            </a:r>
            <a:r>
              <a:rPr sz="2400" spc="-1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used,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argument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passed,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if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it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is </a:t>
            </a:r>
            <a:r>
              <a:rPr sz="2400" dirty="0">
                <a:latin typeface="Times New Roman"/>
                <a:cs typeface="Times New Roman"/>
              </a:rPr>
              <a:t>satisfied,</a:t>
            </a:r>
            <a:r>
              <a:rPr sz="2400" spc="-1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corresponding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code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executed; </a:t>
            </a:r>
            <a:r>
              <a:rPr sz="2400" dirty="0">
                <a:latin typeface="Times New Roman"/>
                <a:cs typeface="Times New Roman"/>
              </a:rPr>
              <a:t>otherwise,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nothing</a:t>
            </a:r>
            <a:r>
              <a:rPr sz="2400" spc="-15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happens.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28010" y="456641"/>
            <a:ext cx="5855970" cy="557847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ts val="3354"/>
              </a:lnSpc>
              <a:spcBef>
                <a:spcPts val="110"/>
              </a:spcBef>
            </a:pPr>
            <a:r>
              <a:rPr sz="2800" dirty="0">
                <a:solidFill>
                  <a:srgbClr val="0C0C0C"/>
                </a:solidFill>
                <a:latin typeface="Times New Roman"/>
                <a:cs typeface="Times New Roman"/>
              </a:rPr>
              <a:t>Example</a:t>
            </a:r>
            <a:r>
              <a:rPr sz="2800" spc="-9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800" spc="-50" dirty="0">
                <a:solidFill>
                  <a:srgbClr val="0C0C0C"/>
                </a:solidFill>
                <a:latin typeface="Times New Roman"/>
                <a:cs typeface="Times New Roman"/>
              </a:rPr>
              <a:t>: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ts val="3354"/>
              </a:lnSpc>
            </a:pPr>
            <a:r>
              <a:rPr sz="2800" dirty="0">
                <a:solidFill>
                  <a:srgbClr val="0C0C0C"/>
                </a:solidFill>
                <a:latin typeface="Times New Roman"/>
                <a:cs typeface="Times New Roman"/>
              </a:rPr>
              <a:t>public</a:t>
            </a:r>
            <a:r>
              <a:rPr sz="2800" spc="-4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C0C0C"/>
                </a:solidFill>
                <a:latin typeface="Times New Roman"/>
                <a:cs typeface="Times New Roman"/>
              </a:rPr>
              <a:t>class</a:t>
            </a:r>
            <a:r>
              <a:rPr sz="2800" spc="-4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0C0C0C"/>
                </a:solidFill>
                <a:latin typeface="Times New Roman"/>
                <a:cs typeface="Times New Roman"/>
              </a:rPr>
              <a:t>JavaIf</a:t>
            </a:r>
            <a:endParaRPr sz="2800">
              <a:latin typeface="Times New Roman"/>
              <a:cs typeface="Times New Roman"/>
            </a:endParaRPr>
          </a:p>
          <a:p>
            <a:pPr marL="99060">
              <a:lnSpc>
                <a:spcPts val="3354"/>
              </a:lnSpc>
              <a:spcBef>
                <a:spcPts val="25"/>
              </a:spcBef>
            </a:pPr>
            <a:r>
              <a:rPr sz="2800" spc="-50" dirty="0">
                <a:solidFill>
                  <a:srgbClr val="0C0C0C"/>
                </a:solidFill>
                <a:latin typeface="Times New Roman"/>
                <a:cs typeface="Times New Roman"/>
              </a:rPr>
              <a:t>{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ts val="3350"/>
              </a:lnSpc>
            </a:pPr>
            <a:r>
              <a:rPr sz="2800" dirty="0">
                <a:solidFill>
                  <a:srgbClr val="0C0C0C"/>
                </a:solidFill>
                <a:latin typeface="Times New Roman"/>
                <a:cs typeface="Times New Roman"/>
              </a:rPr>
              <a:t>public</a:t>
            </a:r>
            <a:r>
              <a:rPr sz="2800" spc="-7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C0C0C"/>
                </a:solidFill>
                <a:latin typeface="Times New Roman"/>
                <a:cs typeface="Times New Roman"/>
              </a:rPr>
              <a:t>static</a:t>
            </a:r>
            <a:r>
              <a:rPr sz="2800" spc="-11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C0C0C"/>
                </a:solidFill>
                <a:latin typeface="Times New Roman"/>
                <a:cs typeface="Times New Roman"/>
              </a:rPr>
              <a:t>void</a:t>
            </a:r>
            <a:r>
              <a:rPr sz="2800" spc="-1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C0C0C"/>
                </a:solidFill>
                <a:latin typeface="Times New Roman"/>
                <a:cs typeface="Times New Roman"/>
              </a:rPr>
              <a:t>main(String[]</a:t>
            </a:r>
            <a:r>
              <a:rPr sz="2800" spc="-3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0C0C0C"/>
                </a:solidFill>
                <a:latin typeface="Times New Roman"/>
                <a:cs typeface="Times New Roman"/>
              </a:rPr>
              <a:t>args)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ts val="3354"/>
              </a:lnSpc>
            </a:pPr>
            <a:r>
              <a:rPr sz="2800" spc="-50" dirty="0">
                <a:solidFill>
                  <a:srgbClr val="0C0C0C"/>
                </a:solidFill>
                <a:latin typeface="Times New Roman"/>
                <a:cs typeface="Times New Roman"/>
              </a:rPr>
              <a:t>{</a:t>
            </a:r>
            <a:endParaRPr sz="2800">
              <a:latin typeface="Times New Roman"/>
              <a:cs typeface="Times New Roman"/>
            </a:endParaRPr>
          </a:p>
          <a:p>
            <a:pPr marL="12700" marR="2336800">
              <a:lnSpc>
                <a:spcPct val="100000"/>
              </a:lnSpc>
              <a:spcBef>
                <a:spcPts val="25"/>
              </a:spcBef>
            </a:pPr>
            <a:r>
              <a:rPr sz="2800" dirty="0">
                <a:solidFill>
                  <a:srgbClr val="0C0C0C"/>
                </a:solidFill>
                <a:latin typeface="Times New Roman"/>
                <a:cs typeface="Times New Roman"/>
              </a:rPr>
              <a:t>String</a:t>
            </a:r>
            <a:r>
              <a:rPr sz="2800" spc="-4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C0C0C"/>
                </a:solidFill>
                <a:latin typeface="Times New Roman"/>
                <a:cs typeface="Times New Roman"/>
              </a:rPr>
              <a:t>name</a:t>
            </a:r>
            <a:r>
              <a:rPr sz="2800" spc="-5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C0C0C"/>
                </a:solidFill>
                <a:latin typeface="Times New Roman"/>
                <a:cs typeface="Times New Roman"/>
              </a:rPr>
              <a:t>=</a:t>
            </a:r>
            <a:r>
              <a:rPr sz="2800" spc="-3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0C0C0C"/>
                </a:solidFill>
                <a:latin typeface="Times New Roman"/>
                <a:cs typeface="Times New Roman"/>
              </a:rPr>
              <a:t>"Mohan"; </a:t>
            </a:r>
            <a:r>
              <a:rPr sz="2800" dirty="0">
                <a:solidFill>
                  <a:srgbClr val="0C0C0C"/>
                </a:solidFill>
                <a:latin typeface="Times New Roman"/>
                <a:cs typeface="Times New Roman"/>
              </a:rPr>
              <a:t>int</a:t>
            </a:r>
            <a:r>
              <a:rPr sz="2800" spc="-6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C0C0C"/>
                </a:solidFill>
                <a:latin typeface="Times New Roman"/>
                <a:cs typeface="Times New Roman"/>
              </a:rPr>
              <a:t>Roll</a:t>
            </a:r>
            <a:r>
              <a:rPr sz="2800" spc="1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C0C0C"/>
                </a:solidFill>
                <a:latin typeface="Times New Roman"/>
                <a:cs typeface="Times New Roman"/>
              </a:rPr>
              <a:t>=</a:t>
            </a:r>
            <a:r>
              <a:rPr sz="2800" spc="-25" dirty="0">
                <a:solidFill>
                  <a:srgbClr val="0C0C0C"/>
                </a:solidFill>
                <a:latin typeface="Times New Roman"/>
                <a:cs typeface="Times New Roman"/>
              </a:rPr>
              <a:t> 25;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ts val="3340"/>
              </a:lnSpc>
            </a:pPr>
            <a:r>
              <a:rPr sz="2800" dirty="0">
                <a:solidFill>
                  <a:srgbClr val="0C0C0C"/>
                </a:solidFill>
                <a:latin typeface="Times New Roman"/>
                <a:cs typeface="Times New Roman"/>
              </a:rPr>
              <a:t>if</a:t>
            </a:r>
            <a:r>
              <a:rPr sz="2800" spc="-4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C0C0C"/>
                </a:solidFill>
                <a:latin typeface="Times New Roman"/>
                <a:cs typeface="Times New Roman"/>
              </a:rPr>
              <a:t>(name</a:t>
            </a:r>
            <a:r>
              <a:rPr sz="2800" spc="-3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C0C0C"/>
                </a:solidFill>
                <a:latin typeface="Times New Roman"/>
                <a:cs typeface="Times New Roman"/>
              </a:rPr>
              <a:t>==</a:t>
            </a:r>
            <a:r>
              <a:rPr sz="2800" spc="-7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C0C0C"/>
                </a:solidFill>
                <a:latin typeface="Times New Roman"/>
                <a:cs typeface="Times New Roman"/>
              </a:rPr>
              <a:t>"Mohan"</a:t>
            </a:r>
            <a:r>
              <a:rPr sz="2800" spc="-3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C0C0C"/>
                </a:solidFill>
                <a:latin typeface="Times New Roman"/>
                <a:cs typeface="Times New Roman"/>
              </a:rPr>
              <a:t>&amp;&amp;</a:t>
            </a:r>
            <a:r>
              <a:rPr sz="2800" spc="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C0C0C"/>
                </a:solidFill>
                <a:latin typeface="Times New Roman"/>
                <a:cs typeface="Times New Roman"/>
              </a:rPr>
              <a:t>Roll</a:t>
            </a:r>
            <a:r>
              <a:rPr sz="2800" spc="-3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C0C0C"/>
                </a:solidFill>
                <a:latin typeface="Times New Roman"/>
                <a:cs typeface="Times New Roman"/>
              </a:rPr>
              <a:t>==</a:t>
            </a:r>
            <a:r>
              <a:rPr sz="2800" spc="-4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800" spc="-25" dirty="0">
                <a:solidFill>
                  <a:srgbClr val="0C0C0C"/>
                </a:solidFill>
                <a:latin typeface="Times New Roman"/>
                <a:cs typeface="Times New Roman"/>
              </a:rPr>
              <a:t>25)</a:t>
            </a:r>
            <a:endParaRPr sz="2800">
              <a:latin typeface="Times New Roman"/>
              <a:cs typeface="Times New Roman"/>
            </a:endParaRPr>
          </a:p>
          <a:p>
            <a:pPr marL="99060">
              <a:lnSpc>
                <a:spcPts val="3354"/>
              </a:lnSpc>
              <a:spcBef>
                <a:spcPts val="30"/>
              </a:spcBef>
            </a:pPr>
            <a:r>
              <a:rPr sz="2800" spc="-50" dirty="0">
                <a:solidFill>
                  <a:srgbClr val="0C0C0C"/>
                </a:solidFill>
                <a:latin typeface="Times New Roman"/>
                <a:cs typeface="Times New Roman"/>
              </a:rPr>
              <a:t>{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ts val="3350"/>
              </a:lnSpc>
            </a:pPr>
            <a:r>
              <a:rPr sz="2800" spc="-10" dirty="0">
                <a:solidFill>
                  <a:srgbClr val="0C0C0C"/>
                </a:solidFill>
                <a:latin typeface="Times New Roman"/>
                <a:cs typeface="Times New Roman"/>
              </a:rPr>
              <a:t>System.out.println("Details</a:t>
            </a:r>
            <a:r>
              <a:rPr sz="2800" spc="-5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C0C0C"/>
                </a:solidFill>
                <a:latin typeface="Times New Roman"/>
                <a:cs typeface="Times New Roman"/>
              </a:rPr>
              <a:t>of</a:t>
            </a:r>
            <a:r>
              <a:rPr sz="2800" spc="114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0C0C0C"/>
                </a:solidFill>
                <a:latin typeface="Times New Roman"/>
                <a:cs typeface="Times New Roman"/>
              </a:rPr>
              <a:t>Mohan.");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ts val="3354"/>
              </a:lnSpc>
            </a:pPr>
            <a:r>
              <a:rPr sz="2800" spc="-50" dirty="0">
                <a:solidFill>
                  <a:srgbClr val="0C0C0C"/>
                </a:solidFill>
                <a:latin typeface="Times New Roman"/>
                <a:cs typeface="Times New Roman"/>
              </a:rPr>
              <a:t>}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ts val="3354"/>
              </a:lnSpc>
              <a:spcBef>
                <a:spcPts val="25"/>
              </a:spcBef>
            </a:pPr>
            <a:r>
              <a:rPr sz="2800" spc="-50" dirty="0">
                <a:solidFill>
                  <a:srgbClr val="0C0C0C"/>
                </a:solidFill>
                <a:latin typeface="Times New Roman"/>
                <a:cs typeface="Times New Roman"/>
              </a:rPr>
              <a:t>}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ts val="3354"/>
              </a:lnSpc>
            </a:pPr>
            <a:r>
              <a:rPr sz="2800" spc="-50" dirty="0">
                <a:solidFill>
                  <a:srgbClr val="0C0C0C"/>
                </a:solidFill>
                <a:latin typeface="Times New Roman"/>
                <a:cs typeface="Times New Roman"/>
              </a:rPr>
              <a:t>}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73468" y="1193291"/>
            <a:ext cx="4166057" cy="480559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18821" rIns="0" bIns="0" rtlCol="0">
            <a:spAutoFit/>
          </a:bodyPr>
          <a:lstStyle/>
          <a:p>
            <a:pPr marL="3912870">
              <a:lnSpc>
                <a:spcPct val="100000"/>
              </a:lnSpc>
              <a:spcBef>
                <a:spcPts val="110"/>
              </a:spcBef>
            </a:pPr>
            <a:r>
              <a:rPr sz="28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if…..else</a:t>
            </a:r>
            <a:r>
              <a:rPr sz="2800" b="1" u="sng" spc="-10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Statement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28268" y="1463497"/>
            <a:ext cx="7221220" cy="43065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00099"/>
              </a:lnSpc>
              <a:spcBef>
                <a:spcPts val="95"/>
              </a:spcBef>
            </a:pPr>
            <a:r>
              <a:rPr sz="2200" dirty="0">
                <a:latin typeface="Times New Roman"/>
                <a:cs typeface="Times New Roman"/>
              </a:rPr>
              <a:t>In</a:t>
            </a:r>
            <a:r>
              <a:rPr sz="2200" spc="1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</a:t>
            </a:r>
            <a:r>
              <a:rPr sz="2200" spc="1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if…..else</a:t>
            </a:r>
            <a:r>
              <a:rPr sz="2200" spc="10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statement</a:t>
            </a:r>
            <a:r>
              <a:rPr sz="2200" spc="1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we</a:t>
            </a:r>
            <a:r>
              <a:rPr sz="2200" spc="10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have</a:t>
            </a:r>
            <a:r>
              <a:rPr sz="2200" spc="10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two</a:t>
            </a:r>
            <a:r>
              <a:rPr sz="2200" spc="8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blocks</a:t>
            </a:r>
            <a:r>
              <a:rPr sz="2200" spc="114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9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code,</a:t>
            </a:r>
            <a:r>
              <a:rPr sz="2200" spc="9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wherein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1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former</a:t>
            </a:r>
            <a:r>
              <a:rPr sz="2200" spc="1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block</a:t>
            </a:r>
            <a:r>
              <a:rPr sz="2200" spc="1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1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code</a:t>
            </a:r>
            <a:r>
              <a:rPr sz="2200" spc="1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(code</a:t>
            </a:r>
            <a:r>
              <a:rPr sz="2200" spc="1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inside</a:t>
            </a:r>
            <a:r>
              <a:rPr sz="2200" spc="1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if</a:t>
            </a:r>
            <a:r>
              <a:rPr sz="2200" spc="1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statement)</a:t>
            </a:r>
            <a:r>
              <a:rPr sz="2200" spc="1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14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executed </a:t>
            </a:r>
            <a:r>
              <a:rPr sz="2200" dirty="0">
                <a:latin typeface="Times New Roman"/>
                <a:cs typeface="Times New Roman"/>
              </a:rPr>
              <a:t>if</a:t>
            </a:r>
            <a:r>
              <a:rPr sz="2200" spc="1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condition</a:t>
            </a:r>
            <a:r>
              <a:rPr sz="2200" spc="17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evaluates</a:t>
            </a:r>
            <a:r>
              <a:rPr sz="2200" spc="1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1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true</a:t>
            </a:r>
            <a:r>
              <a:rPr sz="2200" spc="1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1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1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later</a:t>
            </a:r>
            <a:r>
              <a:rPr sz="2200" spc="1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block</a:t>
            </a:r>
            <a:r>
              <a:rPr sz="2200" spc="17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1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code</a:t>
            </a:r>
            <a:r>
              <a:rPr sz="2200" spc="15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(code </a:t>
            </a:r>
            <a:r>
              <a:rPr sz="2200" dirty="0">
                <a:latin typeface="Times New Roman"/>
                <a:cs typeface="Times New Roman"/>
              </a:rPr>
              <a:t>inside</a:t>
            </a:r>
            <a:r>
              <a:rPr sz="2200" spc="-7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else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statement)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executed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if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condition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false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34"/>
              </a:spcBef>
            </a:pPr>
            <a:endParaRPr sz="2200">
              <a:latin typeface="Times New Roman"/>
              <a:cs typeface="Times New Roman"/>
            </a:endParaRPr>
          </a:p>
          <a:p>
            <a:pPr marL="237490">
              <a:lnSpc>
                <a:spcPct val="100000"/>
              </a:lnSpc>
            </a:pPr>
            <a:r>
              <a:rPr sz="2400" b="1" spc="-10" dirty="0">
                <a:latin typeface="Times New Roman"/>
                <a:cs typeface="Times New Roman"/>
              </a:rPr>
              <a:t>Syntax:</a:t>
            </a:r>
            <a:endParaRPr sz="2400">
              <a:latin typeface="Times New Roman"/>
              <a:cs typeface="Times New Roman"/>
            </a:endParaRPr>
          </a:p>
          <a:p>
            <a:pPr marL="237490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Times New Roman"/>
                <a:cs typeface="Times New Roman"/>
              </a:rPr>
              <a:t>if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(condition)</a:t>
            </a:r>
            <a:endParaRPr sz="2400">
              <a:latin typeface="Times New Roman"/>
              <a:cs typeface="Times New Roman"/>
            </a:endParaRPr>
          </a:p>
          <a:p>
            <a:pPr marL="237490">
              <a:lnSpc>
                <a:spcPct val="100000"/>
              </a:lnSpc>
            </a:pPr>
            <a:r>
              <a:rPr sz="2400" spc="-50" dirty="0">
                <a:latin typeface="Times New Roman"/>
                <a:cs typeface="Times New Roman"/>
              </a:rPr>
              <a:t>{</a:t>
            </a:r>
            <a:endParaRPr sz="2400">
              <a:latin typeface="Times New Roman"/>
              <a:cs typeface="Times New Roman"/>
            </a:endParaRPr>
          </a:p>
          <a:p>
            <a:pPr marL="237490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//block</a:t>
            </a:r>
            <a:r>
              <a:rPr sz="2400" spc="-1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code</a:t>
            </a:r>
            <a:endParaRPr sz="2400">
              <a:latin typeface="Times New Roman"/>
              <a:cs typeface="Times New Roman"/>
            </a:endParaRPr>
          </a:p>
          <a:p>
            <a:pPr marL="237490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Times New Roman"/>
                <a:cs typeface="Times New Roman"/>
              </a:rPr>
              <a:t>} </a:t>
            </a:r>
            <a:r>
              <a:rPr sz="2400" spc="-20" dirty="0">
                <a:latin typeface="Times New Roman"/>
                <a:cs typeface="Times New Roman"/>
              </a:rPr>
              <a:t>else</a:t>
            </a:r>
            <a:endParaRPr sz="2400">
              <a:latin typeface="Times New Roman"/>
              <a:cs typeface="Times New Roman"/>
            </a:endParaRPr>
          </a:p>
          <a:p>
            <a:pPr marL="237490">
              <a:lnSpc>
                <a:spcPct val="100000"/>
              </a:lnSpc>
            </a:pPr>
            <a:r>
              <a:rPr sz="2400" spc="-50" dirty="0">
                <a:latin typeface="Times New Roman"/>
                <a:cs typeface="Times New Roman"/>
              </a:rPr>
              <a:t>{</a:t>
            </a:r>
            <a:endParaRPr sz="2400">
              <a:latin typeface="Times New Roman"/>
              <a:cs typeface="Times New Roman"/>
            </a:endParaRPr>
          </a:p>
          <a:p>
            <a:pPr marL="237490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Times New Roman"/>
                <a:cs typeface="Times New Roman"/>
              </a:rPr>
              <a:t>//block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code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imes New Roman"/>
                <a:cs typeface="Times New Roman"/>
              </a:rPr>
              <a:t>}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780792" y="1711055"/>
            <a:ext cx="6859905" cy="37725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1423670">
              <a:lnSpc>
                <a:spcPct val="135100"/>
              </a:lnSpc>
              <a:spcBef>
                <a:spcPts val="95"/>
              </a:spcBef>
            </a:pPr>
            <a:r>
              <a:rPr sz="2400" b="1" spc="-30" dirty="0">
                <a:latin typeface="Times New Roman"/>
                <a:cs typeface="Times New Roman"/>
              </a:rPr>
              <a:t>Task: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Even</a:t>
            </a:r>
            <a:r>
              <a:rPr sz="2400" b="1" spc="-8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or</a:t>
            </a:r>
            <a:r>
              <a:rPr sz="2400" b="1" spc="-13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Odd</a:t>
            </a:r>
            <a:r>
              <a:rPr sz="2400" b="1" spc="-6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Number</a:t>
            </a:r>
            <a:r>
              <a:rPr sz="2400" b="1" spc="-7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Check </a:t>
            </a:r>
            <a:r>
              <a:rPr sz="2400" b="1" dirty="0">
                <a:latin typeface="Times New Roman"/>
                <a:cs typeface="Times New Roman"/>
              </a:rPr>
              <a:t>Objective</a:t>
            </a:r>
            <a:r>
              <a:rPr sz="2400" dirty="0">
                <a:latin typeface="Times New Roman"/>
                <a:cs typeface="Times New Roman"/>
              </a:rPr>
              <a:t>: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Practice</a:t>
            </a:r>
            <a:r>
              <a:rPr sz="2400" spc="-1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using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if-else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statements. </a:t>
            </a:r>
            <a:r>
              <a:rPr sz="2400" b="1" spc="-10" dirty="0">
                <a:latin typeface="Times New Roman"/>
                <a:cs typeface="Times New Roman"/>
              </a:rPr>
              <a:t>Instructions</a:t>
            </a:r>
            <a:r>
              <a:rPr sz="2400" spc="-10" dirty="0">
                <a:latin typeface="Times New Roman"/>
                <a:cs typeface="Times New Roman"/>
              </a:rPr>
              <a:t>:</a:t>
            </a:r>
            <a:endParaRPr sz="2400">
              <a:latin typeface="Times New Roman"/>
              <a:cs typeface="Times New Roman"/>
            </a:endParaRPr>
          </a:p>
          <a:p>
            <a:pPr marL="355600" marR="5080" indent="-343535">
              <a:lnSpc>
                <a:spcPct val="106400"/>
              </a:lnSpc>
              <a:spcBef>
                <a:spcPts val="825"/>
              </a:spcBef>
              <a:buSzPct val="41666"/>
              <a:buFont typeface="Symbol"/>
              <a:buChar char=""/>
              <a:tabLst>
                <a:tab pos="355600" algn="l"/>
              </a:tabLst>
            </a:pPr>
            <a:r>
              <a:rPr sz="2400" spc="-10" dirty="0">
                <a:latin typeface="Times New Roman"/>
                <a:cs typeface="Times New Roman"/>
              </a:rPr>
              <a:t>Write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Java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program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that</a:t>
            </a:r>
            <a:r>
              <a:rPr sz="2400" spc="-10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takes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integer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input</a:t>
            </a:r>
            <a:r>
              <a:rPr sz="2400" spc="-14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from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user.</a:t>
            </a:r>
            <a:endParaRPr sz="2400">
              <a:latin typeface="Times New Roman"/>
              <a:cs typeface="Times New Roman"/>
            </a:endParaRPr>
          </a:p>
          <a:p>
            <a:pPr marL="355600" marR="272415" indent="-343535">
              <a:lnSpc>
                <a:spcPct val="107600"/>
              </a:lnSpc>
              <a:spcBef>
                <a:spcPts val="790"/>
              </a:spcBef>
              <a:buSzPct val="41666"/>
              <a:buFont typeface="Symbol"/>
              <a:buChar char="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Check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if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number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even</a:t>
            </a:r>
            <a:r>
              <a:rPr sz="2400" spc="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or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odd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using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if-</a:t>
            </a:r>
            <a:r>
              <a:rPr sz="2400" spc="-20" dirty="0">
                <a:latin typeface="Times New Roman"/>
                <a:cs typeface="Times New Roman"/>
              </a:rPr>
              <a:t>else </a:t>
            </a:r>
            <a:r>
              <a:rPr sz="2400" spc="-10" dirty="0">
                <a:latin typeface="Times New Roman"/>
                <a:cs typeface="Times New Roman"/>
              </a:rPr>
              <a:t>statement.</a:t>
            </a:r>
            <a:endParaRPr sz="24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1015"/>
              </a:spcBef>
              <a:buSzPct val="41666"/>
              <a:buFont typeface="Symbol"/>
              <a:buChar char="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Print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result.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223386" y="559765"/>
            <a:ext cx="5571490" cy="5517515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2400" dirty="0">
                <a:solidFill>
                  <a:srgbClr val="0C0C0C"/>
                </a:solidFill>
                <a:latin typeface="Times New Roman"/>
                <a:cs typeface="Times New Roman"/>
              </a:rPr>
              <a:t>Example</a:t>
            </a:r>
            <a:r>
              <a:rPr sz="2400" spc="-7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400" spc="-50" dirty="0">
                <a:solidFill>
                  <a:srgbClr val="0C0C0C"/>
                </a:solidFill>
                <a:latin typeface="Times New Roman"/>
                <a:cs typeface="Times New Roman"/>
              </a:rPr>
              <a:t>:</a:t>
            </a:r>
            <a:endParaRPr sz="2400">
              <a:latin typeface="Times New Roman"/>
              <a:cs typeface="Times New Roman"/>
            </a:endParaRPr>
          </a:p>
          <a:p>
            <a:pPr marL="12700" marR="3347720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import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java.util.*; </a:t>
            </a:r>
            <a:r>
              <a:rPr sz="2400" dirty="0">
                <a:latin typeface="Times New Roman"/>
                <a:cs typeface="Times New Roman"/>
              </a:rPr>
              <a:t>class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sample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imes New Roman"/>
                <a:cs typeface="Times New Roman"/>
              </a:rPr>
              <a:t>{</a:t>
            </a:r>
            <a:endParaRPr sz="2400">
              <a:latin typeface="Times New Roman"/>
              <a:cs typeface="Times New Roman"/>
            </a:endParaRPr>
          </a:p>
          <a:p>
            <a:pPr marL="90170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public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static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void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main(String[]</a:t>
            </a:r>
            <a:r>
              <a:rPr sz="2400" spc="-10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args)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spc="-50" dirty="0">
                <a:latin typeface="Times New Roman"/>
                <a:cs typeface="Times New Roman"/>
              </a:rPr>
              <a:t>{</a:t>
            </a:r>
            <a:endParaRPr sz="2400">
              <a:latin typeface="Times New Roman"/>
              <a:cs typeface="Times New Roman"/>
            </a:endParaRPr>
          </a:p>
          <a:p>
            <a:pPr marL="90170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int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=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10;</a:t>
            </a:r>
            <a:endParaRPr sz="2400">
              <a:latin typeface="Times New Roman"/>
              <a:cs typeface="Times New Roman"/>
            </a:endParaRPr>
          </a:p>
          <a:p>
            <a:pPr marL="90170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Times New Roman"/>
                <a:cs typeface="Times New Roman"/>
              </a:rPr>
              <a:t>if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(a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%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2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==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0)</a:t>
            </a:r>
            <a:endParaRPr sz="2400">
              <a:latin typeface="Times New Roman"/>
              <a:cs typeface="Times New Roman"/>
            </a:endParaRPr>
          </a:p>
          <a:p>
            <a:pPr marL="90170">
              <a:lnSpc>
                <a:spcPct val="100000"/>
              </a:lnSpc>
            </a:pPr>
            <a:r>
              <a:rPr sz="2400" spc="-50" dirty="0">
                <a:latin typeface="Times New Roman"/>
                <a:cs typeface="Times New Roman"/>
              </a:rPr>
              <a:t>{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spc="-10" dirty="0">
                <a:latin typeface="Times New Roman"/>
                <a:cs typeface="Times New Roman"/>
              </a:rPr>
              <a:t>System.out.println(a</a:t>
            </a:r>
            <a:r>
              <a:rPr sz="2400" spc="-1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+</a:t>
            </a:r>
            <a:r>
              <a:rPr sz="2400" spc="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"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even</a:t>
            </a:r>
            <a:r>
              <a:rPr sz="2400" spc="3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number");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spc="-50" dirty="0">
                <a:latin typeface="Times New Roman"/>
                <a:cs typeface="Times New Roman"/>
              </a:rPr>
              <a:t>}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spc="-20" dirty="0">
                <a:latin typeface="Times New Roman"/>
                <a:cs typeface="Times New Roman"/>
              </a:rPr>
              <a:t>else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spc="-50" dirty="0">
                <a:latin typeface="Times New Roman"/>
                <a:cs typeface="Times New Roman"/>
              </a:rPr>
              <a:t>{</a:t>
            </a:r>
            <a:endParaRPr sz="2400">
              <a:latin typeface="Times New Roman"/>
              <a:cs typeface="Times New Roman"/>
            </a:endParaRPr>
          </a:p>
          <a:p>
            <a:pPr marL="90170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System.out.println(a</a:t>
            </a:r>
            <a:r>
              <a:rPr sz="2400" spc="-1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+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"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odd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number");</a:t>
            </a:r>
            <a:endParaRPr sz="2400">
              <a:latin typeface="Times New Roman"/>
              <a:cs typeface="Times New Roman"/>
            </a:endParaRPr>
          </a:p>
          <a:p>
            <a:pPr marL="90170">
              <a:lnSpc>
                <a:spcPct val="100000"/>
              </a:lnSpc>
            </a:pPr>
            <a:r>
              <a:rPr sz="2400" spc="-50" dirty="0">
                <a:latin typeface="Times New Roman"/>
                <a:cs typeface="Times New Roman"/>
              </a:rPr>
              <a:t>}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Times New Roman"/>
                <a:cs typeface="Times New Roman"/>
              </a:rPr>
              <a:t>} </a:t>
            </a:r>
            <a:r>
              <a:rPr sz="2400" spc="-50" dirty="0">
                <a:latin typeface="Times New Roman"/>
                <a:cs typeface="Times New Roman"/>
              </a:rPr>
              <a:t>}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752600" y="1828800"/>
            <a:ext cx="395172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 err="1" smtClean="0"/>
              <a:t>System.out.print</a:t>
            </a:r>
            <a:r>
              <a:rPr lang="en-IN" dirty="0" smtClean="0"/>
              <a:t>("Enter a number: ");</a:t>
            </a:r>
          </a:p>
          <a:p>
            <a:r>
              <a:rPr lang="en-IN" dirty="0" err="1" smtClean="0"/>
              <a:t>int</a:t>
            </a:r>
            <a:r>
              <a:rPr lang="en-IN" dirty="0" smtClean="0"/>
              <a:t> </a:t>
            </a:r>
            <a:r>
              <a:rPr lang="en-IN" dirty="0" err="1" smtClean="0"/>
              <a:t>num</a:t>
            </a:r>
            <a:r>
              <a:rPr lang="en-IN" dirty="0" smtClean="0"/>
              <a:t> = </a:t>
            </a:r>
            <a:r>
              <a:rPr lang="en-IN" dirty="0" err="1" smtClean="0"/>
              <a:t>scanner.nextInt</a:t>
            </a:r>
            <a:r>
              <a:rPr lang="en-IN" dirty="0" smtClean="0"/>
              <a:t>();</a:t>
            </a:r>
            <a:endParaRPr lang="en-IN" dirty="0"/>
          </a:p>
        </p:txBody>
      </p:sp>
      <p:sp>
        <p:nvSpPr>
          <p:cNvPr id="3" name="Rectangle 2"/>
          <p:cNvSpPr/>
          <p:nvPr/>
        </p:nvSpPr>
        <p:spPr>
          <a:xfrm>
            <a:off x="533400" y="1066800"/>
            <a:ext cx="214193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800" b="1" dirty="0"/>
              <a:t>R</a:t>
            </a:r>
            <a:r>
              <a:rPr lang="en-IN" sz="2800" b="1" dirty="0" smtClean="0"/>
              <a:t>eading </a:t>
            </a:r>
            <a:r>
              <a:rPr lang="en-IN" sz="2800" b="1" dirty="0" err="1" smtClean="0"/>
              <a:t>int</a:t>
            </a:r>
            <a:endParaRPr lang="en-IN" sz="2800" b="1" dirty="0"/>
          </a:p>
        </p:txBody>
      </p:sp>
      <p:sp>
        <p:nvSpPr>
          <p:cNvPr id="4" name="Rectangle 3"/>
          <p:cNvSpPr/>
          <p:nvPr/>
        </p:nvSpPr>
        <p:spPr>
          <a:xfrm>
            <a:off x="609600" y="2895600"/>
            <a:ext cx="294022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800" b="1" dirty="0" smtClean="0"/>
              <a:t>Reading Strings</a:t>
            </a:r>
            <a:endParaRPr lang="en-IN" sz="2800" b="1" dirty="0"/>
          </a:p>
        </p:txBody>
      </p:sp>
      <p:sp>
        <p:nvSpPr>
          <p:cNvPr id="5" name="Rectangle 4"/>
          <p:cNvSpPr/>
          <p:nvPr/>
        </p:nvSpPr>
        <p:spPr>
          <a:xfrm>
            <a:off x="1600200" y="3657600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dirty="0" smtClean="0"/>
              <a:t>String word = </a:t>
            </a:r>
            <a:r>
              <a:rPr lang="en-IN" dirty="0" err="1" smtClean="0"/>
              <a:t>scanner.next</a:t>
            </a:r>
            <a:r>
              <a:rPr lang="en-IN" dirty="0" smtClean="0"/>
              <a:t>();      // e.g., Hello</a:t>
            </a:r>
          </a:p>
          <a:p>
            <a:r>
              <a:rPr lang="en-IN" dirty="0" smtClean="0"/>
              <a:t>String line = </a:t>
            </a:r>
            <a:r>
              <a:rPr lang="en-IN" dirty="0" err="1" smtClean="0"/>
              <a:t>scanner.nextLine</a:t>
            </a:r>
            <a:r>
              <a:rPr lang="en-IN" dirty="0" smtClean="0"/>
              <a:t>();   // e.g., Hello World!</a:t>
            </a:r>
            <a:endParaRPr lang="en-IN" dirty="0"/>
          </a:p>
        </p:txBody>
      </p:sp>
      <p:sp>
        <p:nvSpPr>
          <p:cNvPr id="7" name="Rectangle 6"/>
          <p:cNvSpPr/>
          <p:nvPr/>
        </p:nvSpPr>
        <p:spPr>
          <a:xfrm>
            <a:off x="3886200" y="4495800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next()</a:t>
            </a:r>
            <a:r>
              <a:rPr kumimoji="0" lang="en-US" altLang="en-US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→ reads </a:t>
            </a:r>
            <a:r>
              <a:rPr kumimoji="0" lang="en-US" altLang="en-US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one word (stops at space)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nextLine</a:t>
            </a:r>
            <a:r>
              <a:rPr kumimoji="0" lang="en-US" altLang="en-US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()</a:t>
            </a:r>
            <a:r>
              <a:rPr kumimoji="0" lang="en-US" altLang="en-US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→ reads the </a:t>
            </a:r>
            <a:r>
              <a:rPr kumimoji="0" lang="en-US" altLang="en-US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entire line, including spaces</a:t>
            </a:r>
          </a:p>
        </p:txBody>
      </p:sp>
      <p:sp>
        <p:nvSpPr>
          <p:cNvPr id="8" name="Rectangle 7"/>
          <p:cNvSpPr/>
          <p:nvPr/>
        </p:nvSpPr>
        <p:spPr>
          <a:xfrm>
            <a:off x="1752600" y="5562600"/>
            <a:ext cx="4089581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 smtClean="0"/>
              <a:t>double price = </a:t>
            </a:r>
            <a:r>
              <a:rPr lang="en-IN" dirty="0" err="1" smtClean="0"/>
              <a:t>scanner.nextDouble</a:t>
            </a:r>
            <a:r>
              <a:rPr lang="en-IN" dirty="0" smtClean="0"/>
              <a:t>();</a:t>
            </a:r>
          </a:p>
          <a:p>
            <a:r>
              <a:rPr lang="en-IN" dirty="0" err="1" smtClean="0"/>
              <a:t>boolean</a:t>
            </a:r>
            <a:r>
              <a:rPr lang="en-IN" dirty="0" smtClean="0"/>
              <a:t> flag = </a:t>
            </a:r>
            <a:r>
              <a:rPr lang="en-IN" dirty="0" err="1" smtClean="0"/>
              <a:t>scanner.nextBoolean</a:t>
            </a:r>
            <a:r>
              <a:rPr lang="en-IN" dirty="0" smtClean="0"/>
              <a:t>();</a:t>
            </a:r>
          </a:p>
          <a:p>
            <a:r>
              <a:rPr lang="en-IN" dirty="0" smtClean="0"/>
              <a:t>char </a:t>
            </a:r>
            <a:r>
              <a:rPr lang="en-IN" dirty="0" err="1" smtClean="0"/>
              <a:t>ch</a:t>
            </a:r>
            <a:r>
              <a:rPr lang="en-IN" dirty="0" smtClean="0"/>
              <a:t> = </a:t>
            </a:r>
            <a:r>
              <a:rPr lang="en-IN" dirty="0" err="1" smtClean="0"/>
              <a:t>scanner.next</a:t>
            </a:r>
            <a:r>
              <a:rPr lang="en-IN" dirty="0" smtClean="0"/>
              <a:t>().</a:t>
            </a:r>
            <a:r>
              <a:rPr lang="en-IN" dirty="0" err="1" smtClean="0"/>
              <a:t>charAt</a:t>
            </a:r>
            <a:r>
              <a:rPr lang="en-IN" dirty="0" smtClean="0"/>
              <a:t>(0);</a:t>
            </a:r>
            <a:endParaRPr lang="en-IN" dirty="0"/>
          </a:p>
        </p:txBody>
      </p:sp>
      <p:sp>
        <p:nvSpPr>
          <p:cNvPr id="9" name="Rectangle 8"/>
          <p:cNvSpPr/>
          <p:nvPr/>
        </p:nvSpPr>
        <p:spPr>
          <a:xfrm>
            <a:off x="2057400" y="304800"/>
            <a:ext cx="786625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800" b="1" dirty="0" smtClean="0"/>
              <a:t> Scanner </a:t>
            </a:r>
            <a:r>
              <a:rPr lang="en-IN" sz="2800" b="1" dirty="0" err="1" smtClean="0"/>
              <a:t>scanner</a:t>
            </a:r>
            <a:r>
              <a:rPr lang="en-IN" sz="2800" b="1" dirty="0" smtClean="0"/>
              <a:t> = new Scanner(System.in);</a:t>
            </a: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39429022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77036" y="1056980"/>
            <a:ext cx="5019675" cy="4792980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60"/>
              </a:spcBef>
            </a:pPr>
            <a:r>
              <a:rPr sz="2000" dirty="0">
                <a:latin typeface="Times New Roman"/>
                <a:cs typeface="Times New Roman"/>
              </a:rPr>
              <a:t>import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java.util.Scanner;</a:t>
            </a:r>
            <a:endParaRPr sz="20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sz="2000" dirty="0">
                <a:latin typeface="Times New Roman"/>
                <a:cs typeface="Times New Roman"/>
              </a:rPr>
              <a:t>public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class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EvenOddChecker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60" dirty="0">
                <a:latin typeface="Times New Roman"/>
                <a:cs typeface="Times New Roman"/>
              </a:rPr>
              <a:t>{</a:t>
            </a:r>
            <a:endParaRPr sz="2000" dirty="0">
              <a:latin typeface="Times New Roman"/>
              <a:cs typeface="Times New Roman"/>
            </a:endParaRPr>
          </a:p>
          <a:p>
            <a:pPr marL="268605">
              <a:lnSpc>
                <a:spcPct val="100000"/>
              </a:lnSpc>
              <a:spcBef>
                <a:spcPts val="305"/>
              </a:spcBef>
            </a:pPr>
            <a:r>
              <a:rPr sz="2000" dirty="0">
                <a:latin typeface="Times New Roman"/>
                <a:cs typeface="Times New Roman"/>
              </a:rPr>
              <a:t>public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static</a:t>
            </a:r>
            <a:r>
              <a:rPr sz="2000" spc="-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void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main(String[]</a:t>
            </a:r>
            <a:r>
              <a:rPr sz="2000" spc="-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args)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50" dirty="0">
                <a:latin typeface="Times New Roman"/>
                <a:cs typeface="Times New Roman"/>
              </a:rPr>
              <a:t>{</a:t>
            </a:r>
            <a:endParaRPr sz="2000" dirty="0">
              <a:latin typeface="Times New Roman"/>
              <a:cs typeface="Times New Roman"/>
            </a:endParaRPr>
          </a:p>
          <a:p>
            <a:pPr marL="1028065" marR="5080" indent="-508000">
              <a:lnSpc>
                <a:spcPts val="2700"/>
              </a:lnSpc>
              <a:spcBef>
                <a:spcPts val="105"/>
              </a:spcBef>
            </a:pPr>
            <a:r>
              <a:rPr sz="2000" dirty="0">
                <a:latin typeface="Times New Roman"/>
                <a:cs typeface="Times New Roman"/>
              </a:rPr>
              <a:t>Scanner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scanner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=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new </a:t>
            </a:r>
            <a:r>
              <a:rPr sz="2000" spc="-10" dirty="0">
                <a:latin typeface="Times New Roman"/>
                <a:cs typeface="Times New Roman"/>
              </a:rPr>
              <a:t>Scanner(System.in); </a:t>
            </a:r>
            <a:r>
              <a:rPr sz="2000" dirty="0">
                <a:latin typeface="Times New Roman"/>
                <a:cs typeface="Times New Roman"/>
              </a:rPr>
              <a:t>System.out.print("Enter</a:t>
            </a:r>
            <a:r>
              <a:rPr sz="2000" spc="-1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integer: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");</a:t>
            </a:r>
            <a:endParaRPr sz="2000" dirty="0">
              <a:latin typeface="Times New Roman"/>
              <a:cs typeface="Times New Roman"/>
            </a:endParaRPr>
          </a:p>
          <a:p>
            <a:pPr marL="520065">
              <a:lnSpc>
                <a:spcPct val="100000"/>
              </a:lnSpc>
              <a:spcBef>
                <a:spcPts val="125"/>
              </a:spcBef>
            </a:pPr>
            <a:r>
              <a:rPr sz="2000" dirty="0">
                <a:latin typeface="Times New Roman"/>
                <a:cs typeface="Times New Roman"/>
              </a:rPr>
              <a:t>int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number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=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scanner.nextInt();</a:t>
            </a:r>
            <a:endParaRPr sz="2000" dirty="0">
              <a:latin typeface="Times New Roman"/>
              <a:cs typeface="Times New Roman"/>
            </a:endParaRPr>
          </a:p>
          <a:p>
            <a:pPr marL="1028065">
              <a:lnSpc>
                <a:spcPct val="100000"/>
              </a:lnSpc>
              <a:spcBef>
                <a:spcPts val="305"/>
              </a:spcBef>
            </a:pPr>
            <a:r>
              <a:rPr sz="2000" dirty="0">
                <a:latin typeface="Times New Roman"/>
                <a:cs typeface="Times New Roman"/>
              </a:rPr>
              <a:t>if</a:t>
            </a:r>
            <a:r>
              <a:rPr sz="2000" spc="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(number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%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2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==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0)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50" dirty="0">
                <a:latin typeface="Times New Roman"/>
                <a:cs typeface="Times New Roman"/>
              </a:rPr>
              <a:t>{</a:t>
            </a:r>
            <a:endParaRPr sz="2000" dirty="0">
              <a:latin typeface="Times New Roman"/>
              <a:cs typeface="Times New Roman"/>
            </a:endParaRPr>
          </a:p>
          <a:p>
            <a:pPr marL="775970">
              <a:lnSpc>
                <a:spcPct val="100000"/>
              </a:lnSpc>
              <a:spcBef>
                <a:spcPts val="265"/>
              </a:spcBef>
            </a:pPr>
            <a:r>
              <a:rPr sz="2000" dirty="0">
                <a:latin typeface="Times New Roman"/>
                <a:cs typeface="Times New Roman"/>
              </a:rPr>
              <a:t>System.out.println(number</a:t>
            </a:r>
            <a:r>
              <a:rPr sz="2000" spc="-1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+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"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 </a:t>
            </a:r>
            <a:r>
              <a:rPr sz="2000" spc="-10" dirty="0">
                <a:latin typeface="Times New Roman"/>
                <a:cs typeface="Times New Roman"/>
              </a:rPr>
              <a:t>even.");</a:t>
            </a:r>
            <a:endParaRPr sz="2000" dirty="0">
              <a:latin typeface="Times New Roman"/>
              <a:cs typeface="Times New Roman"/>
            </a:endParaRPr>
          </a:p>
          <a:p>
            <a:pPr marL="520065">
              <a:lnSpc>
                <a:spcPct val="100000"/>
              </a:lnSpc>
              <a:spcBef>
                <a:spcPts val="300"/>
              </a:spcBef>
            </a:pPr>
            <a:r>
              <a:rPr sz="2000" dirty="0">
                <a:latin typeface="Times New Roman"/>
                <a:cs typeface="Times New Roman"/>
              </a:rPr>
              <a:t>}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else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50" dirty="0">
                <a:latin typeface="Times New Roman"/>
                <a:cs typeface="Times New Roman"/>
              </a:rPr>
              <a:t>{</a:t>
            </a:r>
            <a:endParaRPr sz="2000" dirty="0">
              <a:latin typeface="Times New Roman"/>
              <a:cs typeface="Times New Roman"/>
            </a:endParaRPr>
          </a:p>
          <a:p>
            <a:pPr marL="775970">
              <a:lnSpc>
                <a:spcPct val="100000"/>
              </a:lnSpc>
              <a:spcBef>
                <a:spcPts val="270"/>
              </a:spcBef>
            </a:pPr>
            <a:r>
              <a:rPr sz="2000" spc="-10" dirty="0">
                <a:latin typeface="Times New Roman"/>
                <a:cs typeface="Times New Roman"/>
              </a:rPr>
              <a:t>System.out.println(number</a:t>
            </a:r>
            <a:r>
              <a:rPr sz="2000" spc="-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+</a:t>
            </a:r>
            <a:r>
              <a:rPr sz="2000" spc="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"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5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odd.");</a:t>
            </a:r>
            <a:endParaRPr sz="2000" dirty="0">
              <a:latin typeface="Times New Roman"/>
              <a:cs typeface="Times New Roman"/>
            </a:endParaRPr>
          </a:p>
          <a:p>
            <a:pPr marL="520065">
              <a:lnSpc>
                <a:spcPct val="100000"/>
              </a:lnSpc>
              <a:spcBef>
                <a:spcPts val="265"/>
              </a:spcBef>
            </a:pPr>
            <a:r>
              <a:rPr sz="2000" spc="-50" dirty="0">
                <a:latin typeface="Times New Roman"/>
                <a:cs typeface="Times New Roman"/>
              </a:rPr>
              <a:t>}</a:t>
            </a:r>
            <a:endParaRPr sz="2000" dirty="0">
              <a:latin typeface="Times New Roman"/>
              <a:cs typeface="Times New Roman"/>
            </a:endParaRPr>
          </a:p>
          <a:p>
            <a:pPr marL="1028065">
              <a:lnSpc>
                <a:spcPct val="100000"/>
              </a:lnSpc>
              <a:spcBef>
                <a:spcPts val="300"/>
              </a:spcBef>
            </a:pPr>
            <a:r>
              <a:rPr sz="2000" spc="-10" dirty="0">
                <a:latin typeface="Times New Roman"/>
                <a:cs typeface="Times New Roman"/>
              </a:rPr>
              <a:t>scanner.close();</a:t>
            </a:r>
            <a:endParaRPr sz="2000" dirty="0">
              <a:latin typeface="Times New Roman"/>
              <a:cs typeface="Times New Roman"/>
            </a:endParaRPr>
          </a:p>
          <a:p>
            <a:pPr marL="268605">
              <a:lnSpc>
                <a:spcPct val="100000"/>
              </a:lnSpc>
              <a:spcBef>
                <a:spcPts val="265"/>
              </a:spcBef>
            </a:pPr>
            <a:r>
              <a:rPr sz="2000" spc="-50" dirty="0">
                <a:latin typeface="Times New Roman"/>
                <a:cs typeface="Times New Roman"/>
              </a:rPr>
              <a:t>}</a:t>
            </a:r>
            <a:endParaRPr sz="20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05"/>
              </a:spcBef>
            </a:pPr>
            <a:r>
              <a:rPr sz="2000" spc="-50" dirty="0">
                <a:latin typeface="Times New Roman"/>
                <a:cs typeface="Times New Roman"/>
              </a:rPr>
              <a:t>}</a:t>
            </a:r>
            <a:endParaRPr sz="20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51223" y="342976"/>
            <a:ext cx="2794635" cy="39370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24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if…..else</a:t>
            </a:r>
            <a:r>
              <a:rPr sz="2400" b="1" u="sng" spc="-9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4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if</a:t>
            </a:r>
            <a:r>
              <a:rPr sz="2400" b="1" u="sng" spc="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400" b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Statement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9292" y="1293114"/>
            <a:ext cx="7228840" cy="48221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 marR="5080" algn="just">
              <a:lnSpc>
                <a:spcPct val="99800"/>
              </a:lnSpc>
              <a:spcBef>
                <a:spcPts val="120"/>
              </a:spcBef>
            </a:pPr>
            <a:r>
              <a:rPr sz="2000" dirty="0">
                <a:latin typeface="Times New Roman"/>
                <a:cs typeface="Times New Roman"/>
              </a:rPr>
              <a:t>But</a:t>
            </a:r>
            <a:r>
              <a:rPr sz="2000" spc="1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what</a:t>
            </a:r>
            <a:r>
              <a:rPr sz="2000" spc="1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if</a:t>
            </a:r>
            <a:r>
              <a:rPr sz="2000" spc="1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we</a:t>
            </a:r>
            <a:r>
              <a:rPr sz="2000" spc="1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have</a:t>
            </a:r>
            <a:r>
              <a:rPr sz="2000" spc="1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more</a:t>
            </a:r>
            <a:r>
              <a:rPr sz="2000" spc="1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than</a:t>
            </a:r>
            <a:r>
              <a:rPr sz="2000" spc="1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two</a:t>
            </a:r>
            <a:r>
              <a:rPr sz="2000" spc="1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blocks</a:t>
            </a:r>
            <a:r>
              <a:rPr sz="2000" spc="1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1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code?</a:t>
            </a:r>
            <a:r>
              <a:rPr sz="2000" spc="1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1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what</a:t>
            </a:r>
            <a:r>
              <a:rPr sz="2000" spc="1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if</a:t>
            </a:r>
            <a:r>
              <a:rPr sz="2000" spc="17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we </a:t>
            </a:r>
            <a:r>
              <a:rPr sz="2000" dirty="0">
                <a:latin typeface="Times New Roman"/>
                <a:cs typeface="Times New Roman"/>
              </a:rPr>
              <a:t>need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check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which</a:t>
            </a:r>
            <a:r>
              <a:rPr sz="2000" spc="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block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code</a:t>
            </a:r>
            <a:r>
              <a:rPr sz="2000" spc="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evaluates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true?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35" dirty="0">
                <a:latin typeface="Times New Roman"/>
                <a:cs typeface="Times New Roman"/>
              </a:rPr>
              <a:t>Well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here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we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use </a:t>
            </a:r>
            <a:r>
              <a:rPr sz="2000" dirty="0">
                <a:latin typeface="Times New Roman"/>
                <a:cs typeface="Times New Roman"/>
              </a:rPr>
              <a:t>an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if…..else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if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statement.</a:t>
            </a:r>
            <a:endParaRPr sz="2000">
              <a:latin typeface="Times New Roman"/>
              <a:cs typeface="Times New Roman"/>
            </a:endParaRPr>
          </a:p>
          <a:p>
            <a:pPr marL="12700" marR="8890" algn="just">
              <a:lnSpc>
                <a:spcPts val="2380"/>
              </a:lnSpc>
              <a:spcBef>
                <a:spcPts val="110"/>
              </a:spcBef>
            </a:pPr>
            <a:r>
              <a:rPr sz="2000" dirty="0">
                <a:latin typeface="Times New Roman"/>
                <a:cs typeface="Times New Roman"/>
              </a:rPr>
              <a:t>if……else</a:t>
            </a:r>
            <a:r>
              <a:rPr sz="2000" spc="1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if</a:t>
            </a:r>
            <a:r>
              <a:rPr sz="2000" spc="1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statements</a:t>
            </a:r>
            <a:r>
              <a:rPr sz="2000" spc="2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allows</a:t>
            </a:r>
            <a:r>
              <a:rPr sz="2000" spc="229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</a:t>
            </a:r>
            <a:r>
              <a:rPr sz="2000" spc="1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2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check</a:t>
            </a:r>
            <a:r>
              <a:rPr sz="2000" spc="1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multiple</a:t>
            </a:r>
            <a:r>
              <a:rPr sz="2000" spc="229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expressions</a:t>
            </a:r>
            <a:r>
              <a:rPr sz="2000" spc="19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and </a:t>
            </a:r>
            <a:r>
              <a:rPr sz="2000" dirty="0">
                <a:latin typeface="Times New Roman"/>
                <a:cs typeface="Times New Roman"/>
              </a:rPr>
              <a:t>enter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block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code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where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condition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evaluates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true.</a:t>
            </a:r>
            <a:endParaRPr sz="2000">
              <a:latin typeface="Times New Roman"/>
              <a:cs typeface="Times New Roman"/>
            </a:endParaRPr>
          </a:p>
          <a:p>
            <a:pPr marL="1017269">
              <a:lnSpc>
                <a:spcPts val="2390"/>
              </a:lnSpc>
              <a:spcBef>
                <a:spcPts val="1675"/>
              </a:spcBef>
            </a:pPr>
            <a:r>
              <a:rPr sz="2000" b="1" spc="-10" dirty="0">
                <a:latin typeface="Times New Roman"/>
                <a:cs typeface="Times New Roman"/>
              </a:rPr>
              <a:t>Syntax:</a:t>
            </a:r>
            <a:endParaRPr sz="2000">
              <a:latin typeface="Times New Roman"/>
              <a:cs typeface="Times New Roman"/>
            </a:endParaRPr>
          </a:p>
          <a:p>
            <a:pPr marL="1017269">
              <a:lnSpc>
                <a:spcPts val="2390"/>
              </a:lnSpc>
            </a:pPr>
            <a:r>
              <a:rPr sz="2000" dirty="0">
                <a:latin typeface="Times New Roman"/>
                <a:cs typeface="Times New Roman"/>
              </a:rPr>
              <a:t>if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(condition</a:t>
            </a:r>
            <a:r>
              <a:rPr sz="2000" spc="-10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1)</a:t>
            </a:r>
            <a:endParaRPr sz="2000">
              <a:latin typeface="Times New Roman"/>
              <a:cs typeface="Times New Roman"/>
            </a:endParaRPr>
          </a:p>
          <a:p>
            <a:pPr marL="1081405">
              <a:lnSpc>
                <a:spcPct val="100000"/>
              </a:lnSpc>
              <a:spcBef>
                <a:spcPts val="15"/>
              </a:spcBef>
            </a:pPr>
            <a:r>
              <a:rPr sz="2000" dirty="0">
                <a:latin typeface="Times New Roman"/>
                <a:cs typeface="Times New Roman"/>
              </a:rPr>
              <a:t>{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//block</a:t>
            </a:r>
            <a:r>
              <a:rPr sz="2000" spc="-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code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50" dirty="0">
                <a:latin typeface="Times New Roman"/>
                <a:cs typeface="Times New Roman"/>
              </a:rPr>
              <a:t>}</a:t>
            </a:r>
            <a:endParaRPr sz="2000">
              <a:latin typeface="Times New Roman"/>
              <a:cs typeface="Times New Roman"/>
            </a:endParaRPr>
          </a:p>
          <a:p>
            <a:pPr marL="1017269">
              <a:lnSpc>
                <a:spcPts val="2390"/>
              </a:lnSpc>
              <a:spcBef>
                <a:spcPts val="15"/>
              </a:spcBef>
            </a:pPr>
            <a:r>
              <a:rPr sz="2000" dirty="0">
                <a:latin typeface="Times New Roman"/>
                <a:cs typeface="Times New Roman"/>
              </a:rPr>
              <a:t>else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if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(condition</a:t>
            </a:r>
            <a:r>
              <a:rPr sz="2000" spc="-11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2)</a:t>
            </a:r>
            <a:endParaRPr sz="2000">
              <a:latin typeface="Times New Roman"/>
              <a:cs typeface="Times New Roman"/>
            </a:endParaRPr>
          </a:p>
          <a:p>
            <a:pPr marL="1017269" marR="4211955">
              <a:lnSpc>
                <a:spcPts val="2410"/>
              </a:lnSpc>
              <a:spcBef>
                <a:spcPts val="60"/>
              </a:spcBef>
            </a:pPr>
            <a:r>
              <a:rPr sz="2000" dirty="0">
                <a:latin typeface="Times New Roman"/>
                <a:cs typeface="Times New Roman"/>
              </a:rPr>
              <a:t>{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//block</a:t>
            </a:r>
            <a:r>
              <a:rPr sz="2000" spc="-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code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50" dirty="0">
                <a:latin typeface="Times New Roman"/>
                <a:cs typeface="Times New Roman"/>
              </a:rPr>
              <a:t>} </a:t>
            </a:r>
            <a:r>
              <a:rPr sz="2000" dirty="0">
                <a:latin typeface="Times New Roman"/>
                <a:cs typeface="Times New Roman"/>
              </a:rPr>
              <a:t>else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if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(condition</a:t>
            </a:r>
            <a:r>
              <a:rPr sz="2000" spc="-10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3)</a:t>
            </a:r>
            <a:endParaRPr sz="2000">
              <a:latin typeface="Times New Roman"/>
              <a:cs typeface="Times New Roman"/>
            </a:endParaRPr>
          </a:p>
          <a:p>
            <a:pPr marL="1017269">
              <a:lnSpc>
                <a:spcPts val="2325"/>
              </a:lnSpc>
            </a:pPr>
            <a:r>
              <a:rPr sz="2000" dirty="0">
                <a:latin typeface="Times New Roman"/>
                <a:cs typeface="Times New Roman"/>
              </a:rPr>
              <a:t>{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//block</a:t>
            </a:r>
            <a:r>
              <a:rPr sz="2000" spc="-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code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0" dirty="0">
                <a:latin typeface="Times New Roman"/>
                <a:cs typeface="Times New Roman"/>
              </a:rPr>
              <a:t>}</a:t>
            </a:r>
            <a:endParaRPr sz="2000">
              <a:latin typeface="Times New Roman"/>
              <a:cs typeface="Times New Roman"/>
            </a:endParaRPr>
          </a:p>
          <a:p>
            <a:pPr marL="1017269">
              <a:lnSpc>
                <a:spcPts val="2390"/>
              </a:lnSpc>
            </a:pPr>
            <a:r>
              <a:rPr sz="2000" dirty="0">
                <a:latin typeface="Times New Roman"/>
                <a:cs typeface="Times New Roman"/>
              </a:rPr>
              <a:t>else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if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(condition</a:t>
            </a:r>
            <a:r>
              <a:rPr sz="2000" spc="-10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4)</a:t>
            </a:r>
            <a:endParaRPr sz="2000">
              <a:latin typeface="Times New Roman"/>
              <a:cs typeface="Times New Roman"/>
            </a:endParaRPr>
          </a:p>
          <a:p>
            <a:pPr marL="1081405">
              <a:lnSpc>
                <a:spcPct val="100000"/>
              </a:lnSpc>
              <a:spcBef>
                <a:spcPts val="15"/>
              </a:spcBef>
            </a:pPr>
            <a:r>
              <a:rPr sz="2000" dirty="0">
                <a:latin typeface="Times New Roman"/>
                <a:cs typeface="Times New Roman"/>
              </a:rPr>
              <a:t>{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//block</a:t>
            </a:r>
            <a:r>
              <a:rPr sz="2000" spc="-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code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50" dirty="0">
                <a:latin typeface="Times New Roman"/>
                <a:cs typeface="Times New Roman"/>
              </a:rPr>
              <a:t>}</a:t>
            </a:r>
            <a:endParaRPr sz="2000">
              <a:latin typeface="Times New Roman"/>
              <a:cs typeface="Times New Roman"/>
            </a:endParaRPr>
          </a:p>
          <a:p>
            <a:pPr marL="1017269">
              <a:lnSpc>
                <a:spcPct val="100000"/>
              </a:lnSpc>
              <a:spcBef>
                <a:spcPts val="10"/>
              </a:spcBef>
            </a:pPr>
            <a:r>
              <a:rPr sz="2000" dirty="0">
                <a:latin typeface="Times New Roman"/>
                <a:cs typeface="Times New Roman"/>
              </a:rPr>
              <a:t>else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{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//if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no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condition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matches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//block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code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spc="-50" dirty="0">
                <a:latin typeface="Times New Roman"/>
                <a:cs typeface="Times New Roman"/>
              </a:rPr>
              <a:t>}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36407" y="1298447"/>
            <a:ext cx="3931920" cy="473870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14294" y="354914"/>
            <a:ext cx="4536440" cy="588391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2400" dirty="0">
                <a:solidFill>
                  <a:srgbClr val="0C0C0C"/>
                </a:solidFill>
                <a:latin typeface="Times New Roman"/>
                <a:cs typeface="Times New Roman"/>
              </a:rPr>
              <a:t>Example</a:t>
            </a:r>
            <a:r>
              <a:rPr sz="2400" spc="-9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400" spc="-50" dirty="0">
                <a:solidFill>
                  <a:srgbClr val="0C0C0C"/>
                </a:solidFill>
                <a:latin typeface="Times New Roman"/>
                <a:cs typeface="Times New Roman"/>
              </a:rPr>
              <a:t>:</a:t>
            </a:r>
            <a:endParaRPr sz="2400">
              <a:latin typeface="Times New Roman"/>
              <a:cs typeface="Times New Roman"/>
            </a:endParaRPr>
          </a:p>
          <a:p>
            <a:pPr marL="12700" marR="2313305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import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java.util.*; </a:t>
            </a:r>
            <a:r>
              <a:rPr sz="2400" dirty="0">
                <a:latin typeface="Times New Roman"/>
                <a:cs typeface="Times New Roman"/>
              </a:rPr>
              <a:t>class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sample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spc="-50" dirty="0">
                <a:latin typeface="Times New Roman"/>
                <a:cs typeface="Times New Roman"/>
              </a:rPr>
              <a:t>{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public</a:t>
            </a:r>
            <a:r>
              <a:rPr sz="2400" spc="-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static</a:t>
            </a:r>
            <a:r>
              <a:rPr sz="2400" spc="-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void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main(String[]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args)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spc="-50" dirty="0">
                <a:latin typeface="Times New Roman"/>
                <a:cs typeface="Times New Roman"/>
              </a:rPr>
              <a:t>{</a:t>
            </a:r>
            <a:endParaRPr sz="2400">
              <a:latin typeface="Times New Roman"/>
              <a:cs typeface="Times New Roman"/>
            </a:endParaRPr>
          </a:p>
          <a:p>
            <a:pPr marL="12700" marR="3316604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Times New Roman"/>
                <a:cs typeface="Times New Roman"/>
              </a:rPr>
              <a:t>int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 =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3; </a:t>
            </a:r>
            <a:r>
              <a:rPr sz="2400" dirty="0">
                <a:latin typeface="Times New Roman"/>
                <a:cs typeface="Times New Roman"/>
              </a:rPr>
              <a:t>if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(i</a:t>
            </a:r>
            <a:r>
              <a:rPr sz="2400" spc="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==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1)</a:t>
            </a:r>
            <a:endParaRPr sz="2400">
              <a:latin typeface="Times New Roman"/>
              <a:cs typeface="Times New Roman"/>
            </a:endParaRPr>
          </a:p>
          <a:p>
            <a:pPr marL="12700" marR="710565">
              <a:lnSpc>
                <a:spcPct val="100000"/>
              </a:lnSpc>
            </a:pPr>
            <a:r>
              <a:rPr sz="2400" spc="-10" dirty="0">
                <a:latin typeface="Times New Roman"/>
                <a:cs typeface="Times New Roman"/>
              </a:rPr>
              <a:t>System.out.println("January"); </a:t>
            </a:r>
            <a:r>
              <a:rPr sz="2400" dirty="0">
                <a:latin typeface="Times New Roman"/>
                <a:cs typeface="Times New Roman"/>
              </a:rPr>
              <a:t>else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if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(i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==2) </a:t>
            </a:r>
            <a:r>
              <a:rPr sz="2400" spc="-10" dirty="0">
                <a:latin typeface="Times New Roman"/>
                <a:cs typeface="Times New Roman"/>
              </a:rPr>
              <a:t>System.out.println("February") </a:t>
            </a:r>
            <a:r>
              <a:rPr sz="2400" dirty="0">
                <a:latin typeface="Times New Roman"/>
                <a:cs typeface="Times New Roman"/>
              </a:rPr>
              <a:t>else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if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(i==3) System.out.println("March"); </a:t>
            </a:r>
            <a:r>
              <a:rPr sz="2400" spc="-20" dirty="0">
                <a:latin typeface="Times New Roman"/>
                <a:cs typeface="Times New Roman"/>
              </a:rPr>
              <a:t>else </a:t>
            </a:r>
            <a:r>
              <a:rPr sz="2400" spc="-10" dirty="0">
                <a:latin typeface="Times New Roman"/>
                <a:cs typeface="Times New Roman"/>
              </a:rPr>
              <a:t>System.out.println("April");</a:t>
            </a:r>
            <a:endParaRPr sz="2400">
              <a:latin typeface="Times New Roman"/>
              <a:cs typeface="Times New Roman"/>
            </a:endParaRPr>
          </a:p>
          <a:p>
            <a:pPr marL="163195">
              <a:lnSpc>
                <a:spcPct val="100000"/>
              </a:lnSpc>
              <a:spcBef>
                <a:spcPts val="15"/>
              </a:spcBef>
            </a:pPr>
            <a:r>
              <a:rPr sz="2400" dirty="0">
                <a:latin typeface="Times New Roman"/>
                <a:cs typeface="Times New Roman"/>
              </a:rPr>
              <a:t>} </a:t>
            </a:r>
            <a:r>
              <a:rPr sz="2400" spc="-50" dirty="0">
                <a:latin typeface="Times New Roman"/>
                <a:cs typeface="Times New Roman"/>
              </a:rPr>
              <a:t>}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96614" y="315925"/>
            <a:ext cx="357759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Nested</a:t>
            </a:r>
            <a:r>
              <a:rPr b="1" u="sng" spc="-7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if</a:t>
            </a:r>
            <a:r>
              <a:rPr b="1" u="sng" spc="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b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Statements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45947" y="1286713"/>
            <a:ext cx="7335520" cy="417830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15"/>
              </a:spcBef>
              <a:tabLst>
                <a:tab pos="382905" algn="l"/>
                <a:tab pos="1832610" algn="l"/>
                <a:tab pos="2733675" algn="l"/>
                <a:tab pos="3822065" algn="l"/>
                <a:tab pos="4178935" algn="l"/>
                <a:tab pos="5624195" algn="l"/>
                <a:tab pos="6168390" algn="l"/>
                <a:tab pos="7065009" algn="l"/>
              </a:tabLst>
            </a:pPr>
            <a:r>
              <a:rPr sz="2400" spc="-25" dirty="0">
                <a:latin typeface="Times New Roman"/>
                <a:cs typeface="Times New Roman"/>
              </a:rPr>
              <a:t>If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conditions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inside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another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if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conditions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are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called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as </a:t>
            </a:r>
            <a:r>
              <a:rPr sz="2400" dirty="0">
                <a:latin typeface="Times New Roman"/>
                <a:cs typeface="Times New Roman"/>
              </a:rPr>
              <a:t>Nested If</a:t>
            </a:r>
            <a:r>
              <a:rPr sz="2400" spc="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conditional</a:t>
            </a:r>
            <a:r>
              <a:rPr sz="2400" spc="-1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statements</a:t>
            </a:r>
            <a:r>
              <a:rPr sz="2400" spc="-1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java..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55"/>
              </a:spcBef>
            </a:pPr>
            <a:endParaRPr sz="2400">
              <a:latin typeface="Times New Roman"/>
              <a:cs typeface="Times New Roman"/>
            </a:endParaRPr>
          </a:p>
          <a:p>
            <a:pPr marL="1165860">
              <a:lnSpc>
                <a:spcPct val="100000"/>
              </a:lnSpc>
            </a:pPr>
            <a:r>
              <a:rPr sz="2000" b="1" dirty="0">
                <a:latin typeface="Times New Roman"/>
                <a:cs typeface="Times New Roman"/>
              </a:rPr>
              <a:t>Syntax</a:t>
            </a:r>
            <a:r>
              <a:rPr sz="2000" b="1" spc="-80" dirty="0">
                <a:latin typeface="Times New Roman"/>
                <a:cs typeface="Times New Roman"/>
              </a:rPr>
              <a:t> </a:t>
            </a:r>
            <a:r>
              <a:rPr sz="2000" b="1" spc="-50" dirty="0">
                <a:latin typeface="Times New Roman"/>
                <a:cs typeface="Times New Roman"/>
              </a:rPr>
              <a:t>: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2000">
              <a:latin typeface="Times New Roman"/>
              <a:cs typeface="Times New Roman"/>
            </a:endParaRPr>
          </a:p>
          <a:p>
            <a:pPr marL="1165860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Times New Roman"/>
                <a:cs typeface="Times New Roman"/>
              </a:rPr>
              <a:t>if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(condition1)</a:t>
            </a:r>
            <a:endParaRPr sz="2000">
              <a:latin typeface="Times New Roman"/>
              <a:cs typeface="Times New Roman"/>
            </a:endParaRPr>
          </a:p>
          <a:p>
            <a:pPr marL="1165860">
              <a:lnSpc>
                <a:spcPts val="2390"/>
              </a:lnSpc>
              <a:spcBef>
                <a:spcPts val="10"/>
              </a:spcBef>
            </a:pPr>
            <a:r>
              <a:rPr sz="2000" spc="-50" dirty="0">
                <a:latin typeface="Times New Roman"/>
                <a:cs typeface="Times New Roman"/>
              </a:rPr>
              <a:t>{</a:t>
            </a:r>
            <a:endParaRPr sz="2000">
              <a:latin typeface="Times New Roman"/>
              <a:cs typeface="Times New Roman"/>
            </a:endParaRPr>
          </a:p>
          <a:p>
            <a:pPr marL="1165860">
              <a:lnSpc>
                <a:spcPts val="2390"/>
              </a:lnSpc>
            </a:pPr>
            <a:r>
              <a:rPr sz="2000" dirty="0">
                <a:latin typeface="Times New Roman"/>
                <a:cs typeface="Times New Roman"/>
              </a:rPr>
              <a:t>//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Statement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1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will</a:t>
            </a:r>
            <a:r>
              <a:rPr sz="2000" spc="4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execute</a:t>
            </a:r>
            <a:endParaRPr sz="2000">
              <a:latin typeface="Times New Roman"/>
              <a:cs typeface="Times New Roman"/>
            </a:endParaRPr>
          </a:p>
          <a:p>
            <a:pPr marL="1165860">
              <a:lnSpc>
                <a:spcPct val="100000"/>
              </a:lnSpc>
              <a:spcBef>
                <a:spcPts val="15"/>
              </a:spcBef>
            </a:pPr>
            <a:r>
              <a:rPr sz="2000" dirty="0">
                <a:latin typeface="Times New Roman"/>
                <a:cs typeface="Times New Roman"/>
              </a:rPr>
              <a:t>if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(condition2)</a:t>
            </a:r>
            <a:endParaRPr sz="2000">
              <a:latin typeface="Times New Roman"/>
              <a:cs typeface="Times New Roman"/>
            </a:endParaRPr>
          </a:p>
          <a:p>
            <a:pPr marL="1229995">
              <a:lnSpc>
                <a:spcPts val="2390"/>
              </a:lnSpc>
              <a:spcBef>
                <a:spcPts val="10"/>
              </a:spcBef>
            </a:pPr>
            <a:r>
              <a:rPr sz="2000" spc="-50" dirty="0">
                <a:latin typeface="Times New Roman"/>
                <a:cs typeface="Times New Roman"/>
              </a:rPr>
              <a:t>{</a:t>
            </a:r>
            <a:endParaRPr sz="2000">
              <a:latin typeface="Times New Roman"/>
              <a:cs typeface="Times New Roman"/>
            </a:endParaRPr>
          </a:p>
          <a:p>
            <a:pPr marL="1229995">
              <a:lnSpc>
                <a:spcPts val="2390"/>
              </a:lnSpc>
            </a:pPr>
            <a:r>
              <a:rPr sz="2000" dirty="0">
                <a:latin typeface="Times New Roman"/>
                <a:cs typeface="Times New Roman"/>
              </a:rPr>
              <a:t>//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Statement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2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will</a:t>
            </a:r>
            <a:r>
              <a:rPr sz="2000" spc="4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execute</a:t>
            </a:r>
            <a:endParaRPr sz="2000">
              <a:latin typeface="Times New Roman"/>
              <a:cs typeface="Times New Roman"/>
            </a:endParaRPr>
          </a:p>
          <a:p>
            <a:pPr marL="1229995">
              <a:lnSpc>
                <a:spcPct val="100000"/>
              </a:lnSpc>
              <a:spcBef>
                <a:spcPts val="15"/>
              </a:spcBef>
            </a:pPr>
            <a:r>
              <a:rPr sz="2000" dirty="0">
                <a:latin typeface="Times New Roman"/>
                <a:cs typeface="Times New Roman"/>
              </a:rPr>
              <a:t>} </a:t>
            </a:r>
            <a:r>
              <a:rPr sz="2000" spc="-50" dirty="0">
                <a:latin typeface="Times New Roman"/>
                <a:cs typeface="Times New Roman"/>
              </a:rPr>
              <a:t>}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50807" y="589787"/>
            <a:ext cx="2907792" cy="544525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59683" y="232410"/>
            <a:ext cx="7167245" cy="624903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400" dirty="0">
                <a:solidFill>
                  <a:srgbClr val="0C0C0C"/>
                </a:solidFill>
                <a:latin typeface="Times New Roman"/>
                <a:cs typeface="Times New Roman"/>
              </a:rPr>
              <a:t>Example</a:t>
            </a:r>
            <a:r>
              <a:rPr sz="2400" spc="-8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400" spc="-50" dirty="0">
                <a:solidFill>
                  <a:srgbClr val="0C0C0C"/>
                </a:solidFill>
                <a:latin typeface="Times New Roman"/>
                <a:cs typeface="Times New Roman"/>
              </a:rPr>
              <a:t>: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b="1" dirty="0">
                <a:latin typeface="Times New Roman"/>
                <a:cs typeface="Times New Roman"/>
              </a:rPr>
              <a:t>public</a:t>
            </a:r>
            <a:r>
              <a:rPr sz="2400" b="1" spc="-4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class</a:t>
            </a:r>
            <a:r>
              <a:rPr sz="2400" b="1" spc="-5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JavaNestedIfExample</a:t>
            </a:r>
            <a:endParaRPr sz="2400">
              <a:latin typeface="Times New Roman"/>
              <a:cs typeface="Times New Roman"/>
            </a:endParaRPr>
          </a:p>
          <a:p>
            <a:pPr marL="90170">
              <a:lnSpc>
                <a:spcPct val="100000"/>
              </a:lnSpc>
            </a:pPr>
            <a:r>
              <a:rPr sz="2400" spc="-50" dirty="0">
                <a:latin typeface="Times New Roman"/>
                <a:cs typeface="Times New Roman"/>
              </a:rPr>
              <a:t>{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b="1" dirty="0">
                <a:latin typeface="Times New Roman"/>
                <a:cs typeface="Times New Roman"/>
              </a:rPr>
              <a:t>public</a:t>
            </a:r>
            <a:r>
              <a:rPr sz="2400" b="1" spc="-5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static</a:t>
            </a:r>
            <a:r>
              <a:rPr sz="2400" b="1" spc="-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void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main(String[]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args)</a:t>
            </a:r>
            <a:endParaRPr sz="2400">
              <a:latin typeface="Times New Roman"/>
              <a:cs typeface="Times New Roman"/>
            </a:endParaRPr>
          </a:p>
          <a:p>
            <a:pPr marL="90170">
              <a:lnSpc>
                <a:spcPct val="100000"/>
              </a:lnSpc>
            </a:pPr>
            <a:r>
              <a:rPr sz="2400" spc="-50" dirty="0">
                <a:latin typeface="Times New Roman"/>
                <a:cs typeface="Times New Roman"/>
              </a:rPr>
              <a:t>{</a:t>
            </a:r>
            <a:endParaRPr sz="2400">
              <a:latin typeface="Times New Roman"/>
              <a:cs typeface="Times New Roman"/>
            </a:endParaRPr>
          </a:p>
          <a:p>
            <a:pPr marL="318770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//Creating</a:t>
            </a:r>
            <a:r>
              <a:rPr sz="2400" spc="-1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two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variables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age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weight</a:t>
            </a:r>
            <a:endParaRPr sz="2400">
              <a:latin typeface="Times New Roman"/>
              <a:cs typeface="Times New Roman"/>
            </a:endParaRPr>
          </a:p>
          <a:p>
            <a:pPr marL="318770">
              <a:lnSpc>
                <a:spcPct val="100000"/>
              </a:lnSpc>
              <a:spcBef>
                <a:spcPts val="5"/>
              </a:spcBef>
            </a:pPr>
            <a:r>
              <a:rPr sz="2400" b="1" dirty="0">
                <a:latin typeface="Times New Roman"/>
                <a:cs typeface="Times New Roman"/>
              </a:rPr>
              <a:t>int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age=20;</a:t>
            </a:r>
            <a:endParaRPr sz="2400">
              <a:latin typeface="Times New Roman"/>
              <a:cs typeface="Times New Roman"/>
            </a:endParaRPr>
          </a:p>
          <a:p>
            <a:pPr marL="318770">
              <a:lnSpc>
                <a:spcPct val="100000"/>
              </a:lnSpc>
            </a:pPr>
            <a:r>
              <a:rPr sz="2400" b="1" dirty="0">
                <a:latin typeface="Times New Roman"/>
                <a:cs typeface="Times New Roman"/>
              </a:rPr>
              <a:t>int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weight=80;</a:t>
            </a:r>
            <a:endParaRPr sz="2400">
              <a:latin typeface="Times New Roman"/>
              <a:cs typeface="Times New Roman"/>
            </a:endParaRPr>
          </a:p>
          <a:p>
            <a:pPr marL="318770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//applying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condition</a:t>
            </a:r>
            <a:r>
              <a:rPr sz="2400" spc="-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</a:t>
            </a:r>
            <a:r>
              <a:rPr sz="2400" spc="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age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weight</a:t>
            </a:r>
            <a:endParaRPr sz="2400">
              <a:latin typeface="Times New Roman"/>
              <a:cs typeface="Times New Roman"/>
            </a:endParaRPr>
          </a:p>
          <a:p>
            <a:pPr marL="621030" marR="4686935" indent="-302260">
              <a:lnSpc>
                <a:spcPct val="100000"/>
              </a:lnSpc>
              <a:spcBef>
                <a:spcPts val="5"/>
              </a:spcBef>
            </a:pPr>
            <a:r>
              <a:rPr sz="2400" b="1" spc="-10" dirty="0">
                <a:latin typeface="Times New Roman"/>
                <a:cs typeface="Times New Roman"/>
              </a:rPr>
              <a:t>if</a:t>
            </a:r>
            <a:r>
              <a:rPr sz="2400" spc="-10" dirty="0">
                <a:latin typeface="Times New Roman"/>
                <a:cs typeface="Times New Roman"/>
              </a:rPr>
              <a:t>(age&gt;=18){ </a:t>
            </a:r>
            <a:r>
              <a:rPr sz="2400" b="1" spc="-10" dirty="0">
                <a:latin typeface="Times New Roman"/>
                <a:cs typeface="Times New Roman"/>
              </a:rPr>
              <a:t>if</a:t>
            </a:r>
            <a:r>
              <a:rPr sz="2400" spc="-10" dirty="0">
                <a:latin typeface="Times New Roman"/>
                <a:cs typeface="Times New Roman"/>
              </a:rPr>
              <a:t>(weight&gt;50){</a:t>
            </a:r>
            <a:endParaRPr sz="2400">
              <a:latin typeface="Times New Roman"/>
              <a:cs typeface="Times New Roman"/>
            </a:endParaRPr>
          </a:p>
          <a:p>
            <a:pPr marL="927100">
              <a:lnSpc>
                <a:spcPct val="100000"/>
              </a:lnSpc>
            </a:pPr>
            <a:r>
              <a:rPr sz="2400" spc="-20" dirty="0">
                <a:latin typeface="Times New Roman"/>
                <a:cs typeface="Times New Roman"/>
              </a:rPr>
              <a:t>System.out.println("You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are eligible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donate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bloo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spc="-20" dirty="0">
                <a:latin typeface="Times New Roman"/>
                <a:cs typeface="Times New Roman"/>
              </a:rPr>
              <a:t>d");</a:t>
            </a:r>
            <a:endParaRPr sz="2400">
              <a:latin typeface="Times New Roman"/>
              <a:cs typeface="Times New Roman"/>
            </a:endParaRPr>
          </a:p>
          <a:p>
            <a:pPr marL="621030">
              <a:lnSpc>
                <a:spcPct val="100000"/>
              </a:lnSpc>
            </a:pPr>
            <a:r>
              <a:rPr sz="2400" spc="-50" dirty="0">
                <a:latin typeface="Times New Roman"/>
                <a:cs typeface="Times New Roman"/>
              </a:rPr>
              <a:t>}</a:t>
            </a:r>
            <a:endParaRPr sz="2400">
              <a:latin typeface="Times New Roman"/>
              <a:cs typeface="Times New Roman"/>
            </a:endParaRPr>
          </a:p>
          <a:p>
            <a:pPr marL="318770">
              <a:lnSpc>
                <a:spcPct val="100000"/>
              </a:lnSpc>
              <a:spcBef>
                <a:spcPts val="5"/>
              </a:spcBef>
            </a:pPr>
            <a:r>
              <a:rPr sz="2400" spc="-50" dirty="0">
                <a:latin typeface="Times New Roman"/>
                <a:cs typeface="Times New Roman"/>
              </a:rPr>
              <a:t>}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spc="-25" dirty="0">
                <a:latin typeface="Times New Roman"/>
                <a:cs typeface="Times New Roman"/>
              </a:rPr>
              <a:t>}}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5278" rIns="0" bIns="0" rtlCol="0">
            <a:spAutoFit/>
          </a:bodyPr>
          <a:lstStyle/>
          <a:p>
            <a:pPr marL="2932430">
              <a:lnSpc>
                <a:spcPct val="100000"/>
              </a:lnSpc>
              <a:spcBef>
                <a:spcPts val="115"/>
              </a:spcBef>
            </a:pPr>
            <a:r>
              <a:rPr sz="24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switch</a:t>
            </a:r>
            <a:r>
              <a:rPr sz="2400" b="1" u="sng" spc="-6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4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case</a:t>
            </a:r>
            <a:r>
              <a:rPr sz="2400" b="1" u="sng" spc="-4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400" b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Statements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79272" y="1404315"/>
            <a:ext cx="6052820" cy="4912995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15"/>
              </a:spcBef>
            </a:pP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switch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statement,</a:t>
            </a:r>
            <a:r>
              <a:rPr sz="2400" spc="-11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block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code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executed </a:t>
            </a:r>
            <a:r>
              <a:rPr sz="2400" dirty="0">
                <a:latin typeface="Times New Roman"/>
                <a:cs typeface="Times New Roman"/>
              </a:rPr>
              <a:t>from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many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based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switch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case.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25"/>
              </a:spcBef>
            </a:pPr>
            <a:endParaRPr sz="2400">
              <a:latin typeface="Times New Roman"/>
              <a:cs typeface="Times New Roman"/>
            </a:endParaRPr>
          </a:p>
          <a:p>
            <a:pPr marL="234950">
              <a:lnSpc>
                <a:spcPct val="100000"/>
              </a:lnSpc>
              <a:spcBef>
                <a:spcPts val="5"/>
              </a:spcBef>
            </a:pPr>
            <a:r>
              <a:rPr sz="2400" b="1" spc="-10" dirty="0">
                <a:latin typeface="Times New Roman"/>
                <a:cs typeface="Times New Roman"/>
              </a:rPr>
              <a:t>Syntax:</a:t>
            </a:r>
            <a:endParaRPr sz="2400">
              <a:latin typeface="Times New Roman"/>
              <a:cs typeface="Times New Roman"/>
            </a:endParaRPr>
          </a:p>
          <a:p>
            <a:pPr marL="234950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switch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(expression)</a:t>
            </a:r>
            <a:endParaRPr sz="2400">
              <a:latin typeface="Times New Roman"/>
              <a:cs typeface="Times New Roman"/>
            </a:endParaRPr>
          </a:p>
          <a:p>
            <a:pPr marL="234950">
              <a:lnSpc>
                <a:spcPct val="100000"/>
              </a:lnSpc>
              <a:spcBef>
                <a:spcPts val="5"/>
              </a:spcBef>
            </a:pPr>
            <a:r>
              <a:rPr sz="2400" spc="-50" dirty="0">
                <a:latin typeface="Times New Roman"/>
                <a:cs typeface="Times New Roman"/>
              </a:rPr>
              <a:t>{</a:t>
            </a:r>
            <a:endParaRPr sz="2400">
              <a:latin typeface="Times New Roman"/>
              <a:cs typeface="Times New Roman"/>
            </a:endParaRPr>
          </a:p>
          <a:p>
            <a:pPr marL="234950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case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value1:</a:t>
            </a:r>
            <a:endParaRPr sz="2400">
              <a:latin typeface="Times New Roman"/>
              <a:cs typeface="Times New Roman"/>
            </a:endParaRPr>
          </a:p>
          <a:p>
            <a:pPr marL="234950" marR="4149725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//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code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break; </a:t>
            </a:r>
            <a:r>
              <a:rPr sz="2400" dirty="0">
                <a:latin typeface="Times New Roman"/>
                <a:cs typeface="Times New Roman"/>
              </a:rPr>
              <a:t>case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value2:</a:t>
            </a:r>
            <a:endParaRPr sz="2400">
              <a:latin typeface="Times New Roman"/>
              <a:cs typeface="Times New Roman"/>
            </a:endParaRPr>
          </a:p>
          <a:p>
            <a:pPr marL="313055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Times New Roman"/>
                <a:cs typeface="Times New Roman"/>
              </a:rPr>
              <a:t>//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code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break;</a:t>
            </a:r>
            <a:endParaRPr sz="2400">
              <a:latin typeface="Times New Roman"/>
              <a:cs typeface="Times New Roman"/>
            </a:endParaRPr>
          </a:p>
          <a:p>
            <a:pPr marL="313055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Times New Roman"/>
                <a:cs typeface="Times New Roman"/>
              </a:rPr>
              <a:t>...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...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default:</a:t>
            </a:r>
            <a:endParaRPr sz="2400">
              <a:latin typeface="Times New Roman"/>
              <a:cs typeface="Times New Roman"/>
            </a:endParaRPr>
          </a:p>
          <a:p>
            <a:pPr marL="234950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//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default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statements</a:t>
            </a:r>
            <a:endParaRPr sz="2400">
              <a:latin typeface="Times New Roman"/>
              <a:cs typeface="Times New Roman"/>
            </a:endParaRPr>
          </a:p>
          <a:p>
            <a:pPr marL="313055">
              <a:lnSpc>
                <a:spcPct val="100000"/>
              </a:lnSpc>
            </a:pPr>
            <a:r>
              <a:rPr sz="2400" spc="-50" dirty="0">
                <a:latin typeface="Times New Roman"/>
                <a:cs typeface="Times New Roman"/>
              </a:rPr>
              <a:t>}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97495" y="484631"/>
            <a:ext cx="4585715" cy="580186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82264" y="406095"/>
            <a:ext cx="5203825" cy="612521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ts val="2390"/>
              </a:lnSpc>
              <a:spcBef>
                <a:spcPts val="114"/>
              </a:spcBef>
            </a:pPr>
            <a:r>
              <a:rPr sz="2000" dirty="0">
                <a:solidFill>
                  <a:srgbClr val="0C0C0C"/>
                </a:solidFill>
                <a:latin typeface="Times New Roman"/>
                <a:cs typeface="Times New Roman"/>
              </a:rPr>
              <a:t>Example</a:t>
            </a:r>
            <a:r>
              <a:rPr sz="2000" spc="-50" dirty="0">
                <a:solidFill>
                  <a:srgbClr val="0C0C0C"/>
                </a:solidFill>
                <a:latin typeface="Times New Roman"/>
                <a:cs typeface="Times New Roman"/>
              </a:rPr>
              <a:t> :</a:t>
            </a:r>
            <a:endParaRPr sz="2000" dirty="0">
              <a:latin typeface="Times New Roman"/>
              <a:cs typeface="Times New Roman"/>
            </a:endParaRPr>
          </a:p>
          <a:p>
            <a:pPr marL="12700">
              <a:lnSpc>
                <a:spcPts val="2390"/>
              </a:lnSpc>
            </a:pPr>
            <a:r>
              <a:rPr sz="2000" dirty="0">
                <a:latin typeface="Times New Roman"/>
                <a:cs typeface="Times New Roman"/>
              </a:rPr>
              <a:t>public</a:t>
            </a:r>
            <a:r>
              <a:rPr sz="2000" spc="-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class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JavaSwitch </a:t>
            </a:r>
            <a:r>
              <a:rPr sz="2000" spc="-50" dirty="0">
                <a:latin typeface="Times New Roman"/>
                <a:cs typeface="Times New Roman"/>
              </a:rPr>
              <a:t>{</a:t>
            </a:r>
            <a:endParaRPr sz="2000" dirty="0">
              <a:latin typeface="Times New Roman"/>
              <a:cs typeface="Times New Roman"/>
            </a:endParaRPr>
          </a:p>
          <a:p>
            <a:pPr marL="268605">
              <a:lnSpc>
                <a:spcPct val="100000"/>
              </a:lnSpc>
              <a:spcBef>
                <a:spcPts val="15"/>
              </a:spcBef>
            </a:pPr>
            <a:r>
              <a:rPr sz="2000" dirty="0">
                <a:latin typeface="Times New Roman"/>
                <a:cs typeface="Times New Roman"/>
              </a:rPr>
              <a:t>public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static</a:t>
            </a:r>
            <a:r>
              <a:rPr sz="2000" spc="-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void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main(String[]</a:t>
            </a:r>
            <a:r>
              <a:rPr sz="2000" spc="-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args)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50" dirty="0">
                <a:latin typeface="Times New Roman"/>
                <a:cs typeface="Times New Roman"/>
              </a:rPr>
              <a:t>{</a:t>
            </a:r>
            <a:endParaRPr sz="2000" dirty="0">
              <a:latin typeface="Times New Roman"/>
              <a:cs typeface="Times New Roman"/>
            </a:endParaRPr>
          </a:p>
          <a:p>
            <a:pPr marL="520065">
              <a:lnSpc>
                <a:spcPts val="2390"/>
              </a:lnSpc>
              <a:spcBef>
                <a:spcPts val="15"/>
              </a:spcBef>
            </a:pPr>
            <a:r>
              <a:rPr sz="2000" dirty="0">
                <a:latin typeface="Times New Roman"/>
                <a:cs typeface="Times New Roman"/>
              </a:rPr>
              <a:t>String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day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=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"Wednesday";</a:t>
            </a:r>
            <a:endParaRPr sz="2000" dirty="0">
              <a:latin typeface="Times New Roman"/>
              <a:cs typeface="Times New Roman"/>
            </a:endParaRPr>
          </a:p>
          <a:p>
            <a:pPr marL="647700" marR="3009265" indent="-128270">
              <a:lnSpc>
                <a:spcPts val="2420"/>
              </a:lnSpc>
              <a:spcBef>
                <a:spcPts val="50"/>
              </a:spcBef>
            </a:pPr>
            <a:r>
              <a:rPr sz="2000" dirty="0">
                <a:latin typeface="Times New Roman"/>
                <a:cs typeface="Times New Roman"/>
              </a:rPr>
              <a:t>switch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(day)</a:t>
            </a:r>
            <a:r>
              <a:rPr sz="2000" spc="-50" dirty="0">
                <a:latin typeface="Times New Roman"/>
                <a:cs typeface="Times New Roman"/>
              </a:rPr>
              <a:t> { </a:t>
            </a:r>
            <a:r>
              <a:rPr sz="2000" dirty="0">
                <a:latin typeface="Times New Roman"/>
                <a:cs typeface="Times New Roman"/>
              </a:rPr>
              <a:t>case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"Sunday":</a:t>
            </a:r>
            <a:endParaRPr sz="2000" dirty="0">
              <a:latin typeface="Times New Roman"/>
              <a:cs typeface="Times New Roman"/>
            </a:endParaRPr>
          </a:p>
          <a:p>
            <a:pPr marL="775970">
              <a:lnSpc>
                <a:spcPts val="2310"/>
              </a:lnSpc>
            </a:pPr>
            <a:r>
              <a:rPr sz="2000" spc="-10" dirty="0">
                <a:latin typeface="Times New Roman"/>
                <a:cs typeface="Times New Roman"/>
              </a:rPr>
              <a:t>System.out.println("Today</a:t>
            </a:r>
            <a:r>
              <a:rPr sz="2000" spc="-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3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Sunday");</a:t>
            </a:r>
            <a:endParaRPr sz="2000" dirty="0">
              <a:latin typeface="Times New Roman"/>
              <a:cs typeface="Times New Roman"/>
            </a:endParaRPr>
          </a:p>
          <a:p>
            <a:pPr marL="775970">
              <a:lnSpc>
                <a:spcPts val="2390"/>
              </a:lnSpc>
            </a:pPr>
            <a:r>
              <a:rPr sz="2000" spc="-10" dirty="0">
                <a:latin typeface="Times New Roman"/>
                <a:cs typeface="Times New Roman"/>
              </a:rPr>
              <a:t>break;</a:t>
            </a:r>
            <a:endParaRPr sz="2000" dirty="0">
              <a:latin typeface="Times New Roman"/>
              <a:cs typeface="Times New Roman"/>
            </a:endParaRPr>
          </a:p>
          <a:p>
            <a:pPr marL="775970" marR="320040" indent="-128270">
              <a:lnSpc>
                <a:spcPct val="99800"/>
              </a:lnSpc>
              <a:spcBef>
                <a:spcPts val="20"/>
              </a:spcBef>
            </a:pPr>
            <a:r>
              <a:rPr sz="2000" dirty="0">
                <a:latin typeface="Times New Roman"/>
                <a:cs typeface="Times New Roman"/>
              </a:rPr>
              <a:t>case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"Monday": System.out.println("Today</a:t>
            </a:r>
            <a:r>
              <a:rPr sz="2000" spc="-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3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Monday"); break;</a:t>
            </a:r>
            <a:endParaRPr sz="2000" dirty="0">
              <a:latin typeface="Times New Roman"/>
              <a:cs typeface="Times New Roman"/>
            </a:endParaRPr>
          </a:p>
          <a:p>
            <a:pPr marL="775970" marR="315595" indent="-128270">
              <a:lnSpc>
                <a:spcPct val="99800"/>
              </a:lnSpc>
              <a:spcBef>
                <a:spcPts val="20"/>
              </a:spcBef>
            </a:pPr>
            <a:r>
              <a:rPr sz="2000" dirty="0">
                <a:latin typeface="Times New Roman"/>
                <a:cs typeface="Times New Roman"/>
              </a:rPr>
              <a:t>case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"Tuesday": System.out.println("Today</a:t>
            </a:r>
            <a:r>
              <a:rPr sz="2000" spc="-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 </a:t>
            </a:r>
            <a:r>
              <a:rPr sz="2000" spc="-10" dirty="0">
                <a:latin typeface="Times New Roman"/>
                <a:cs typeface="Times New Roman"/>
              </a:rPr>
              <a:t>Tuesday"); break;</a:t>
            </a:r>
            <a:endParaRPr sz="2000" dirty="0">
              <a:latin typeface="Times New Roman"/>
              <a:cs typeface="Times New Roman"/>
            </a:endParaRPr>
          </a:p>
          <a:p>
            <a:pPr marL="775970" marR="5080" indent="-128270">
              <a:lnSpc>
                <a:spcPct val="99800"/>
              </a:lnSpc>
              <a:spcBef>
                <a:spcPts val="20"/>
              </a:spcBef>
            </a:pPr>
            <a:r>
              <a:rPr sz="2000" dirty="0">
                <a:latin typeface="Times New Roman"/>
                <a:cs typeface="Times New Roman"/>
              </a:rPr>
              <a:t>case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"Wednesday": System.out.println("Today</a:t>
            </a:r>
            <a:r>
              <a:rPr sz="2000" spc="-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 </a:t>
            </a:r>
            <a:r>
              <a:rPr sz="2000" spc="-10" dirty="0">
                <a:latin typeface="Times New Roman"/>
                <a:cs typeface="Times New Roman"/>
              </a:rPr>
              <a:t>Wednesday"); break;</a:t>
            </a:r>
            <a:endParaRPr sz="20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2000" spc="-50" dirty="0">
                <a:latin typeface="Times New Roman"/>
                <a:cs typeface="Times New Roman"/>
              </a:rPr>
              <a:t>}</a:t>
            </a:r>
            <a:endParaRPr sz="2000" dirty="0">
              <a:latin typeface="Times New Roman"/>
              <a:cs typeface="Times New Roman"/>
            </a:endParaRPr>
          </a:p>
          <a:p>
            <a:pPr marL="268605">
              <a:lnSpc>
                <a:spcPts val="2390"/>
              </a:lnSpc>
              <a:spcBef>
                <a:spcPts val="10"/>
              </a:spcBef>
            </a:pPr>
            <a:r>
              <a:rPr sz="2000" spc="-50" dirty="0">
                <a:latin typeface="Times New Roman"/>
                <a:cs typeface="Times New Roman"/>
              </a:rPr>
              <a:t>}</a:t>
            </a:r>
            <a:endParaRPr sz="2000" dirty="0">
              <a:latin typeface="Times New Roman"/>
              <a:cs typeface="Times New Roman"/>
            </a:endParaRPr>
          </a:p>
          <a:p>
            <a:pPr marL="12700">
              <a:lnSpc>
                <a:spcPts val="2390"/>
              </a:lnSpc>
            </a:pPr>
            <a:r>
              <a:rPr sz="2000" spc="-50" dirty="0">
                <a:latin typeface="Times New Roman"/>
                <a:cs typeface="Times New Roman"/>
              </a:rPr>
              <a:t>}</a:t>
            </a:r>
            <a:endParaRPr sz="20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59332" y="1999869"/>
            <a:ext cx="10479405" cy="372935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10"/>
              </a:spcBef>
            </a:pPr>
            <a:r>
              <a:rPr sz="2400" dirty="0">
                <a:latin typeface="Times New Roman"/>
                <a:cs typeface="Times New Roman"/>
              </a:rPr>
              <a:t>Loops</a:t>
            </a:r>
            <a:r>
              <a:rPr sz="2400" spc="1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1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any</a:t>
            </a:r>
            <a:r>
              <a:rPr sz="2400" spc="1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programming</a:t>
            </a:r>
            <a:r>
              <a:rPr sz="2400" spc="1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language</a:t>
            </a:r>
            <a:r>
              <a:rPr sz="2400" spc="1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are</a:t>
            </a:r>
            <a:r>
              <a:rPr sz="2400" spc="1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used</a:t>
            </a:r>
            <a:r>
              <a:rPr sz="2400" spc="1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1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execute</a:t>
            </a:r>
            <a:r>
              <a:rPr sz="2400" spc="1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1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block</a:t>
            </a:r>
            <a:r>
              <a:rPr sz="2400" spc="1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1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code</a:t>
            </a:r>
            <a:r>
              <a:rPr sz="2400" spc="1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again</a:t>
            </a:r>
            <a:r>
              <a:rPr sz="2400" spc="18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and </a:t>
            </a:r>
            <a:r>
              <a:rPr sz="2400" dirty="0">
                <a:latin typeface="Times New Roman"/>
                <a:cs typeface="Times New Roman"/>
              </a:rPr>
              <a:t>again</a:t>
            </a:r>
            <a:r>
              <a:rPr sz="2400" spc="1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until</a:t>
            </a:r>
            <a:r>
              <a:rPr sz="2400" spc="1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1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base</a:t>
            </a:r>
            <a:r>
              <a:rPr sz="2400" spc="1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condition</a:t>
            </a:r>
            <a:r>
              <a:rPr sz="2400" spc="1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1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achieved.</a:t>
            </a:r>
            <a:r>
              <a:rPr sz="2400" spc="1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As</a:t>
            </a:r>
            <a:r>
              <a:rPr sz="2400" spc="1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soon</a:t>
            </a:r>
            <a:r>
              <a:rPr sz="2400" spc="1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as</a:t>
            </a:r>
            <a:r>
              <a:rPr sz="2400" spc="11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1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base</a:t>
            </a:r>
            <a:r>
              <a:rPr sz="2400" spc="1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condition</a:t>
            </a:r>
            <a:r>
              <a:rPr sz="2400" spc="1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1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satisfied</a:t>
            </a:r>
            <a:r>
              <a:rPr sz="2400" spc="14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the </a:t>
            </a:r>
            <a:r>
              <a:rPr sz="2400" dirty="0">
                <a:latin typeface="Times New Roman"/>
                <a:cs typeface="Times New Roman"/>
              </a:rPr>
              <a:t>loop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terminated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control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returned to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main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body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program.</a:t>
            </a:r>
            <a:endParaRPr sz="2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2400" dirty="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5"/>
              </a:spcBef>
            </a:pPr>
            <a:r>
              <a:rPr sz="2400" b="1" dirty="0">
                <a:latin typeface="Times New Roman"/>
                <a:cs typeface="Times New Roman"/>
              </a:rPr>
              <a:t>There</a:t>
            </a:r>
            <a:r>
              <a:rPr sz="2400" b="1" spc="-5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are</a:t>
            </a:r>
            <a:r>
              <a:rPr sz="2400" b="1" spc="-9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three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types</a:t>
            </a:r>
            <a:r>
              <a:rPr sz="2400" b="1" spc="-2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of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loops</a:t>
            </a:r>
            <a:r>
              <a:rPr sz="2400" b="1" spc="-6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in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java:</a:t>
            </a:r>
            <a:endParaRPr sz="2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880"/>
              </a:spcBef>
            </a:pPr>
            <a:endParaRPr sz="2400" dirty="0">
              <a:latin typeface="Times New Roman"/>
              <a:cs typeface="Times New Roman"/>
            </a:endParaRPr>
          </a:p>
          <a:p>
            <a:pPr marL="4225925" indent="-149860">
              <a:lnSpc>
                <a:spcPts val="3354"/>
              </a:lnSpc>
              <a:buSzPct val="85714"/>
              <a:buFont typeface="Arial MT"/>
              <a:buChar char="•"/>
              <a:tabLst>
                <a:tab pos="4225925" algn="l"/>
              </a:tabLst>
            </a:pPr>
            <a:r>
              <a:rPr sz="2800" dirty="0">
                <a:latin typeface="Times New Roman"/>
                <a:cs typeface="Times New Roman"/>
              </a:rPr>
              <a:t>for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loop</a:t>
            </a:r>
            <a:endParaRPr sz="2800" dirty="0">
              <a:latin typeface="Times New Roman"/>
              <a:cs typeface="Times New Roman"/>
            </a:endParaRPr>
          </a:p>
          <a:p>
            <a:pPr marL="4225925" indent="-149860">
              <a:lnSpc>
                <a:spcPts val="3354"/>
              </a:lnSpc>
              <a:buSzPct val="85714"/>
              <a:buFont typeface="Arial MT"/>
              <a:buChar char="•"/>
              <a:tabLst>
                <a:tab pos="4225925" algn="l"/>
              </a:tabLst>
            </a:pPr>
            <a:r>
              <a:rPr sz="2800" dirty="0">
                <a:latin typeface="Times New Roman"/>
                <a:cs typeface="Times New Roman"/>
              </a:rPr>
              <a:t>while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loop</a:t>
            </a:r>
            <a:endParaRPr sz="2800" dirty="0">
              <a:latin typeface="Times New Roman"/>
              <a:cs typeface="Times New Roman"/>
            </a:endParaRPr>
          </a:p>
          <a:p>
            <a:pPr marL="4225925" indent="-149860">
              <a:lnSpc>
                <a:spcPct val="100000"/>
              </a:lnSpc>
              <a:spcBef>
                <a:spcPts val="30"/>
              </a:spcBef>
              <a:buSzPct val="85714"/>
              <a:buFont typeface="Arial MT"/>
              <a:buChar char="•"/>
              <a:tabLst>
                <a:tab pos="4225925" algn="l"/>
              </a:tabLst>
            </a:pPr>
            <a:r>
              <a:rPr sz="2800" dirty="0">
                <a:latin typeface="Times New Roman"/>
                <a:cs typeface="Times New Roman"/>
              </a:rPr>
              <a:t>do…while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loop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61999" y="251536"/>
            <a:ext cx="7848601" cy="1521904"/>
          </a:xfrm>
          <a:prstGeom prst="rect">
            <a:avLst/>
          </a:prstGeom>
        </p:spPr>
        <p:txBody>
          <a:bodyPr vert="horz" wrap="square" lIns="0" tIns="287985" rIns="0" bIns="0" rtlCol="0">
            <a:spAutoFit/>
          </a:bodyPr>
          <a:lstStyle/>
          <a:p>
            <a:pPr marL="2999105">
              <a:lnSpc>
                <a:spcPct val="100000"/>
              </a:lnSpc>
              <a:spcBef>
                <a:spcPts val="100"/>
              </a:spcBef>
            </a:pPr>
            <a:r>
              <a:rPr lang="en-IN" sz="4000" b="1" u="sng" dirty="0">
                <a:solidFill>
                  <a:srgbClr val="538235"/>
                </a:solidFill>
                <a:uFill>
                  <a:solidFill>
                    <a:srgbClr val="538235"/>
                  </a:solidFill>
                </a:uFill>
              </a:rPr>
              <a:t>Looping </a:t>
            </a:r>
            <a:r>
              <a:rPr lang="en-IN" sz="4000" b="1" u="sng" dirty="0" smtClean="0">
                <a:solidFill>
                  <a:srgbClr val="538235"/>
                </a:solidFill>
                <a:uFill>
                  <a:solidFill>
                    <a:srgbClr val="538235"/>
                  </a:solidFill>
                </a:uFill>
              </a:rPr>
              <a:t>Construct </a:t>
            </a:r>
            <a:r>
              <a:rPr sz="4000" b="1" u="sng" dirty="0" smtClean="0">
                <a:solidFill>
                  <a:srgbClr val="538235"/>
                </a:solidFill>
                <a:uFill>
                  <a:solidFill>
                    <a:srgbClr val="538235"/>
                  </a:solidFill>
                </a:uFill>
                <a:latin typeface="Times New Roman"/>
                <a:cs typeface="Times New Roman"/>
              </a:rPr>
              <a:t>Iteration</a:t>
            </a:r>
            <a:r>
              <a:rPr sz="4000" b="1" u="sng" spc="-114" dirty="0" smtClean="0">
                <a:solidFill>
                  <a:srgbClr val="538235"/>
                </a:solidFill>
                <a:uFill>
                  <a:solidFill>
                    <a:srgbClr val="538235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4000" b="1" u="sng" spc="-10" dirty="0">
                <a:solidFill>
                  <a:srgbClr val="538235"/>
                </a:solidFill>
                <a:uFill>
                  <a:solidFill>
                    <a:srgbClr val="538235"/>
                  </a:solidFill>
                </a:uFill>
                <a:latin typeface="Times New Roman"/>
                <a:cs typeface="Times New Roman"/>
              </a:rPr>
              <a:t>Statements</a:t>
            </a:r>
            <a:endParaRPr sz="40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28108" y="325958"/>
            <a:ext cx="155448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for</a:t>
            </a:r>
            <a:r>
              <a:rPr sz="3600" b="1" u="sng" spc="-10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sng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loop</a:t>
            </a:r>
            <a:endParaRPr sz="36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95714" y="845819"/>
            <a:ext cx="3788106" cy="487465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56412" y="1279601"/>
            <a:ext cx="7603490" cy="4984115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235585" marR="5080">
              <a:lnSpc>
                <a:spcPct val="100000"/>
              </a:lnSpc>
              <a:spcBef>
                <a:spcPts val="115"/>
              </a:spcBef>
            </a:pPr>
            <a:r>
              <a:rPr sz="2400" dirty="0">
                <a:solidFill>
                  <a:srgbClr val="0C0C0C"/>
                </a:solidFill>
                <a:latin typeface="Times New Roman"/>
                <a:cs typeface="Times New Roman"/>
              </a:rPr>
              <a:t>The</a:t>
            </a:r>
            <a:r>
              <a:rPr sz="2400" spc="-3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C0C0C"/>
                </a:solidFill>
                <a:latin typeface="Times New Roman"/>
                <a:cs typeface="Times New Roman"/>
              </a:rPr>
              <a:t>for</a:t>
            </a:r>
            <a:r>
              <a:rPr sz="2400" spc="2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C0C0C"/>
                </a:solidFill>
                <a:latin typeface="Times New Roman"/>
                <a:cs typeface="Times New Roman"/>
              </a:rPr>
              <a:t>loop</a:t>
            </a:r>
            <a:r>
              <a:rPr sz="2400" spc="1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C0C0C"/>
                </a:solidFill>
                <a:latin typeface="Times New Roman"/>
                <a:cs typeface="Times New Roman"/>
              </a:rPr>
              <a:t>is</a:t>
            </a:r>
            <a:r>
              <a:rPr sz="2400" spc="-4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C0C0C"/>
                </a:solidFill>
                <a:latin typeface="Times New Roman"/>
                <a:cs typeface="Times New Roman"/>
              </a:rPr>
              <a:t>used</a:t>
            </a:r>
            <a:r>
              <a:rPr sz="2400" spc="-2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C0C0C"/>
                </a:solidFill>
                <a:latin typeface="Times New Roman"/>
                <a:cs typeface="Times New Roman"/>
              </a:rPr>
              <a:t>when</a:t>
            </a:r>
            <a:r>
              <a:rPr sz="2400" spc="1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C0C0C"/>
                </a:solidFill>
                <a:latin typeface="Times New Roman"/>
                <a:cs typeface="Times New Roman"/>
              </a:rPr>
              <a:t>the</a:t>
            </a:r>
            <a:r>
              <a:rPr sz="2400" spc="-6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C0C0C"/>
                </a:solidFill>
                <a:latin typeface="Times New Roman"/>
                <a:cs typeface="Times New Roman"/>
              </a:rPr>
              <a:t>number</a:t>
            </a:r>
            <a:r>
              <a:rPr sz="2400" spc="-7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C0C0C"/>
                </a:solidFill>
                <a:latin typeface="Times New Roman"/>
                <a:cs typeface="Times New Roman"/>
              </a:rPr>
              <a:t>of</a:t>
            </a:r>
            <a:r>
              <a:rPr sz="2400" spc="-1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C0C0C"/>
                </a:solidFill>
                <a:latin typeface="Times New Roman"/>
                <a:cs typeface="Times New Roman"/>
              </a:rPr>
              <a:t>iterations</a:t>
            </a:r>
            <a:r>
              <a:rPr sz="2400" spc="-11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C0C0C"/>
                </a:solidFill>
                <a:latin typeface="Times New Roman"/>
                <a:cs typeface="Times New Roman"/>
              </a:rPr>
              <a:t>is</a:t>
            </a:r>
            <a:r>
              <a:rPr sz="2400" spc="-4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0C0C0C"/>
                </a:solidFill>
                <a:latin typeface="Times New Roman"/>
                <a:cs typeface="Times New Roman"/>
              </a:rPr>
              <a:t>known beforehand.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40"/>
              </a:spcBef>
            </a:pPr>
            <a:endParaRPr sz="2400">
              <a:latin typeface="Times New Roman"/>
              <a:cs typeface="Times New Roman"/>
            </a:endParaRPr>
          </a:p>
          <a:p>
            <a:pPr marL="235585">
              <a:lnSpc>
                <a:spcPct val="100000"/>
              </a:lnSpc>
              <a:spcBef>
                <a:spcPts val="5"/>
              </a:spcBef>
            </a:pPr>
            <a:r>
              <a:rPr sz="2200" b="1" spc="-10" dirty="0">
                <a:solidFill>
                  <a:srgbClr val="0C0C0C"/>
                </a:solidFill>
                <a:latin typeface="Times New Roman"/>
                <a:cs typeface="Times New Roman"/>
              </a:rPr>
              <a:t>Syntax:</a:t>
            </a:r>
            <a:endParaRPr sz="2200">
              <a:latin typeface="Times New Roman"/>
              <a:cs typeface="Times New Roman"/>
            </a:endParaRPr>
          </a:p>
          <a:p>
            <a:pPr marL="235585">
              <a:lnSpc>
                <a:spcPct val="100000"/>
              </a:lnSpc>
              <a:spcBef>
                <a:spcPts val="10"/>
              </a:spcBef>
            </a:pPr>
            <a:r>
              <a:rPr sz="2000" dirty="0">
                <a:solidFill>
                  <a:srgbClr val="0C0C0C"/>
                </a:solidFill>
                <a:latin typeface="Times New Roman"/>
                <a:cs typeface="Times New Roman"/>
              </a:rPr>
              <a:t>for</a:t>
            </a:r>
            <a:r>
              <a:rPr sz="2000" spc="1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0C0C0C"/>
                </a:solidFill>
                <a:latin typeface="Times New Roman"/>
                <a:cs typeface="Times New Roman"/>
              </a:rPr>
              <a:t>(initializeVariable,</a:t>
            </a:r>
            <a:r>
              <a:rPr sz="2000" dirty="0">
                <a:solidFill>
                  <a:srgbClr val="0C0C0C"/>
                </a:solidFill>
                <a:latin typeface="Times New Roman"/>
                <a:cs typeface="Times New Roman"/>
              </a:rPr>
              <a:t> testCondition,</a:t>
            </a:r>
            <a:r>
              <a:rPr sz="2000" spc="-4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0C0C0C"/>
                </a:solidFill>
                <a:latin typeface="Times New Roman"/>
                <a:cs typeface="Times New Roman"/>
              </a:rPr>
              <a:t>increment/decrement)</a:t>
            </a:r>
            <a:endParaRPr sz="2000">
              <a:latin typeface="Times New Roman"/>
              <a:cs typeface="Times New Roman"/>
            </a:endParaRPr>
          </a:p>
          <a:p>
            <a:pPr marL="235585">
              <a:lnSpc>
                <a:spcPts val="2390"/>
              </a:lnSpc>
              <a:spcBef>
                <a:spcPts val="15"/>
              </a:spcBef>
            </a:pPr>
            <a:r>
              <a:rPr sz="2000" spc="-50" dirty="0">
                <a:solidFill>
                  <a:srgbClr val="0C0C0C"/>
                </a:solidFill>
                <a:latin typeface="Times New Roman"/>
                <a:cs typeface="Times New Roman"/>
              </a:rPr>
              <a:t>{</a:t>
            </a:r>
            <a:endParaRPr sz="2000">
              <a:latin typeface="Times New Roman"/>
              <a:cs typeface="Times New Roman"/>
            </a:endParaRPr>
          </a:p>
          <a:p>
            <a:pPr marL="235585">
              <a:lnSpc>
                <a:spcPts val="2390"/>
              </a:lnSpc>
            </a:pPr>
            <a:r>
              <a:rPr sz="2000" dirty="0">
                <a:solidFill>
                  <a:srgbClr val="0C0C0C"/>
                </a:solidFill>
                <a:latin typeface="Times New Roman"/>
                <a:cs typeface="Times New Roman"/>
              </a:rPr>
              <a:t>//block</a:t>
            </a:r>
            <a:r>
              <a:rPr sz="2000" spc="-5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C0C0C"/>
                </a:solidFill>
                <a:latin typeface="Times New Roman"/>
                <a:cs typeface="Times New Roman"/>
              </a:rPr>
              <a:t>of </a:t>
            </a:r>
            <a:r>
              <a:rPr sz="2000" spc="-20" dirty="0">
                <a:solidFill>
                  <a:srgbClr val="0C0C0C"/>
                </a:solidFill>
                <a:latin typeface="Times New Roman"/>
                <a:cs typeface="Times New Roman"/>
              </a:rPr>
              <a:t>code</a:t>
            </a:r>
            <a:endParaRPr sz="2000">
              <a:latin typeface="Times New Roman"/>
              <a:cs typeface="Times New Roman"/>
            </a:endParaRPr>
          </a:p>
          <a:p>
            <a:pPr marL="235585">
              <a:lnSpc>
                <a:spcPct val="100000"/>
              </a:lnSpc>
              <a:spcBef>
                <a:spcPts val="10"/>
              </a:spcBef>
            </a:pPr>
            <a:r>
              <a:rPr sz="2000" spc="-50" dirty="0">
                <a:solidFill>
                  <a:srgbClr val="0C0C0C"/>
                </a:solidFill>
                <a:latin typeface="Times New Roman"/>
                <a:cs typeface="Times New Roman"/>
              </a:rPr>
              <a:t>}</a:t>
            </a:r>
            <a:endParaRPr sz="2000">
              <a:latin typeface="Times New Roman"/>
              <a:cs typeface="Times New Roman"/>
            </a:endParaRPr>
          </a:p>
          <a:p>
            <a:pPr marL="126364" indent="-113664">
              <a:lnSpc>
                <a:spcPts val="2390"/>
              </a:lnSpc>
              <a:spcBef>
                <a:spcPts val="1300"/>
              </a:spcBef>
              <a:buSzPct val="90000"/>
              <a:buFont typeface="Arial MT"/>
              <a:buChar char="•"/>
              <a:tabLst>
                <a:tab pos="126364" algn="l"/>
              </a:tabLst>
            </a:pPr>
            <a:r>
              <a:rPr sz="2000" spc="-10" dirty="0">
                <a:latin typeface="Times New Roman"/>
                <a:cs typeface="Times New Roman"/>
              </a:rPr>
              <a:t>InitializeVariable:</a:t>
            </a:r>
            <a:r>
              <a:rPr sz="2000" spc="2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initialize</a:t>
            </a:r>
            <a:r>
              <a:rPr sz="2000" spc="2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2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new</a:t>
            </a:r>
            <a:r>
              <a:rPr sz="2000" spc="2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variable</a:t>
            </a:r>
            <a:r>
              <a:rPr sz="2000" spc="2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</a:t>
            </a:r>
            <a:r>
              <a:rPr sz="2000" spc="2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use</a:t>
            </a:r>
            <a:r>
              <a:rPr sz="2000" spc="229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</a:t>
            </a:r>
            <a:r>
              <a:rPr sz="2000" spc="2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already</a:t>
            </a:r>
            <a:r>
              <a:rPr sz="2000" spc="229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existing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ts val="2390"/>
              </a:lnSpc>
            </a:pPr>
            <a:r>
              <a:rPr sz="2000" spc="-20" dirty="0">
                <a:latin typeface="Times New Roman"/>
                <a:cs typeface="Times New Roman"/>
              </a:rPr>
              <a:t>one.</a:t>
            </a:r>
            <a:endParaRPr sz="2000">
              <a:latin typeface="Times New Roman"/>
              <a:cs typeface="Times New Roman"/>
            </a:endParaRPr>
          </a:p>
          <a:p>
            <a:pPr marL="12700" marR="187325" indent="113664" algn="just">
              <a:lnSpc>
                <a:spcPct val="99800"/>
              </a:lnSpc>
              <a:spcBef>
                <a:spcPts val="20"/>
              </a:spcBef>
              <a:buSzPct val="90000"/>
              <a:buFont typeface="Arial MT"/>
              <a:buChar char="•"/>
              <a:tabLst>
                <a:tab pos="126364" algn="l"/>
              </a:tabLst>
            </a:pPr>
            <a:r>
              <a:rPr sz="2000" dirty="0">
                <a:latin typeface="Times New Roman"/>
                <a:cs typeface="Times New Roman"/>
              </a:rPr>
              <a:t>TestCondition:</a:t>
            </a:r>
            <a:r>
              <a:rPr sz="2000" spc="2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2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checks</a:t>
            </a:r>
            <a:r>
              <a:rPr sz="2000" spc="2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2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testing</a:t>
            </a:r>
            <a:r>
              <a:rPr sz="2000" spc="2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condition</a:t>
            </a:r>
            <a:r>
              <a:rPr sz="2000" spc="3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3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3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loop</a:t>
            </a:r>
            <a:r>
              <a:rPr sz="2000" spc="2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after</a:t>
            </a:r>
            <a:r>
              <a:rPr sz="2000" spc="330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each </a:t>
            </a:r>
            <a:r>
              <a:rPr sz="2000" dirty="0">
                <a:latin typeface="Times New Roman"/>
                <a:cs typeface="Times New Roman"/>
              </a:rPr>
              <a:t>iteration</a:t>
            </a:r>
            <a:r>
              <a:rPr sz="2000" spc="4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4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returns</a:t>
            </a:r>
            <a:r>
              <a:rPr sz="2000" spc="4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4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Boolean</a:t>
            </a:r>
            <a:r>
              <a:rPr sz="2000" spc="4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value,</a:t>
            </a:r>
            <a:r>
              <a:rPr sz="2000" spc="4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which</a:t>
            </a:r>
            <a:r>
              <a:rPr sz="2000" spc="4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determines</a:t>
            </a:r>
            <a:r>
              <a:rPr sz="2000" spc="4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if</a:t>
            </a:r>
            <a:r>
              <a:rPr sz="2000" spc="4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480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loop </a:t>
            </a:r>
            <a:r>
              <a:rPr sz="2000" dirty="0">
                <a:latin typeface="Times New Roman"/>
                <a:cs typeface="Times New Roman"/>
              </a:rPr>
              <a:t>should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terminated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not.</a:t>
            </a:r>
            <a:endParaRPr sz="2000">
              <a:latin typeface="Times New Roman"/>
              <a:cs typeface="Times New Roman"/>
            </a:endParaRPr>
          </a:p>
          <a:p>
            <a:pPr marL="12700" marR="193040" indent="113664" algn="just">
              <a:lnSpc>
                <a:spcPct val="100600"/>
              </a:lnSpc>
              <a:buSzPct val="90000"/>
              <a:buFont typeface="Arial MT"/>
              <a:buChar char="•"/>
              <a:tabLst>
                <a:tab pos="126364" algn="l"/>
              </a:tabLst>
            </a:pPr>
            <a:r>
              <a:rPr sz="2000" dirty="0">
                <a:latin typeface="Times New Roman"/>
                <a:cs typeface="Times New Roman"/>
              </a:rPr>
              <a:t>Increment/decrement: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used</a:t>
            </a:r>
            <a:r>
              <a:rPr sz="2000" spc="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increment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</a:t>
            </a:r>
            <a:r>
              <a:rPr sz="2000" spc="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decrement</a:t>
            </a:r>
            <a:r>
              <a:rPr sz="2000" spc="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6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variable </a:t>
            </a:r>
            <a:r>
              <a:rPr sz="2000" dirty="0">
                <a:latin typeface="Times New Roman"/>
                <a:cs typeface="Times New Roman"/>
              </a:rPr>
              <a:t>after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each </a:t>
            </a:r>
            <a:r>
              <a:rPr sz="2000" spc="-10" dirty="0">
                <a:latin typeface="Times New Roman"/>
                <a:cs typeface="Times New Roman"/>
              </a:rPr>
              <a:t>iteraton.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00455" y="1237564"/>
            <a:ext cx="1061085" cy="3333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000" dirty="0">
                <a:solidFill>
                  <a:srgbClr val="0C0C0C"/>
                </a:solidFill>
                <a:latin typeface="Times New Roman"/>
                <a:cs typeface="Times New Roman"/>
              </a:rPr>
              <a:t>Example</a:t>
            </a:r>
            <a:r>
              <a:rPr sz="2000" spc="-50" dirty="0">
                <a:solidFill>
                  <a:srgbClr val="0C0C0C"/>
                </a:solidFill>
                <a:latin typeface="Times New Roman"/>
                <a:cs typeface="Times New Roman"/>
              </a:rPr>
              <a:t> :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00455" y="1846021"/>
            <a:ext cx="1993264" cy="6991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dirty="0"/>
              <a:t>public</a:t>
            </a:r>
            <a:r>
              <a:rPr sz="2200" spc="-60" dirty="0"/>
              <a:t> </a:t>
            </a:r>
            <a:r>
              <a:rPr sz="2200" dirty="0"/>
              <a:t>class</a:t>
            </a:r>
            <a:r>
              <a:rPr sz="2200" spc="-10" dirty="0"/>
              <a:t> </a:t>
            </a:r>
            <a:r>
              <a:rPr sz="2200" spc="-20" dirty="0"/>
              <a:t>Main</a:t>
            </a:r>
            <a:endParaRPr sz="2200"/>
          </a:p>
          <a:p>
            <a:pPr marL="81280">
              <a:lnSpc>
                <a:spcPct val="100000"/>
              </a:lnSpc>
              <a:spcBef>
                <a:spcPts val="30"/>
              </a:spcBef>
            </a:pPr>
            <a:r>
              <a:rPr sz="2200" spc="-50" dirty="0"/>
              <a:t>{</a:t>
            </a:r>
            <a:endParaRPr sz="2200"/>
          </a:p>
        </p:txBody>
      </p:sp>
      <p:sp>
        <p:nvSpPr>
          <p:cNvPr id="4" name="object 4"/>
          <p:cNvSpPr txBox="1"/>
          <p:nvPr/>
        </p:nvSpPr>
        <p:spPr>
          <a:xfrm>
            <a:off x="1000455" y="2518613"/>
            <a:ext cx="4999355" cy="30460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2635"/>
              </a:lnSpc>
              <a:spcBef>
                <a:spcPts val="95"/>
              </a:spcBef>
            </a:pPr>
            <a:r>
              <a:rPr sz="2200" dirty="0">
                <a:latin typeface="Times New Roman"/>
                <a:cs typeface="Times New Roman"/>
              </a:rPr>
              <a:t>public</a:t>
            </a:r>
            <a:r>
              <a:rPr sz="2200" spc="-1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static</a:t>
            </a:r>
            <a:r>
              <a:rPr sz="2200" spc="-8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void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main(String[]</a:t>
            </a:r>
            <a:r>
              <a:rPr sz="2200" spc="3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args)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ts val="2635"/>
              </a:lnSpc>
            </a:pPr>
            <a:r>
              <a:rPr sz="2200" spc="-50" dirty="0">
                <a:latin typeface="Times New Roman"/>
                <a:cs typeface="Times New Roman"/>
              </a:rPr>
              <a:t>{</a:t>
            </a:r>
            <a:endParaRPr sz="2200">
              <a:latin typeface="Times New Roman"/>
              <a:cs typeface="Times New Roman"/>
            </a:endParaRPr>
          </a:p>
          <a:p>
            <a:pPr marL="81280" marR="5080">
              <a:lnSpc>
                <a:spcPct val="100000"/>
              </a:lnSpc>
              <a:spcBef>
                <a:spcPts val="25"/>
              </a:spcBef>
            </a:pPr>
            <a:r>
              <a:rPr sz="2200" dirty="0">
                <a:latin typeface="Times New Roman"/>
                <a:cs typeface="Times New Roman"/>
              </a:rPr>
              <a:t>//</a:t>
            </a:r>
            <a:r>
              <a:rPr sz="2200" spc="-1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-1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for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loop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that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prints</a:t>
            </a:r>
            <a:r>
              <a:rPr sz="2200" spc="-7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numbers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from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1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50" dirty="0">
                <a:latin typeface="Times New Roman"/>
                <a:cs typeface="Times New Roman"/>
              </a:rPr>
              <a:t>5 </a:t>
            </a:r>
            <a:r>
              <a:rPr sz="2200" dirty="0">
                <a:latin typeface="Times New Roman"/>
                <a:cs typeface="Times New Roman"/>
              </a:rPr>
              <a:t>for</a:t>
            </a:r>
            <a:r>
              <a:rPr sz="2200" spc="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(int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=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1;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&lt;=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5;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i++)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ts val="2620"/>
              </a:lnSpc>
            </a:pPr>
            <a:r>
              <a:rPr sz="2200" spc="-50" dirty="0">
                <a:latin typeface="Times New Roman"/>
                <a:cs typeface="Times New Roman"/>
              </a:rPr>
              <a:t>{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ts val="2635"/>
              </a:lnSpc>
              <a:spcBef>
                <a:spcPts val="25"/>
              </a:spcBef>
            </a:pPr>
            <a:r>
              <a:rPr sz="2200" spc="-10" dirty="0">
                <a:latin typeface="Times New Roman"/>
                <a:cs typeface="Times New Roman"/>
              </a:rPr>
              <a:t>System.out.println("Number:</a:t>
            </a:r>
            <a:r>
              <a:rPr sz="2200" spc="9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"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+ </a:t>
            </a:r>
            <a:r>
              <a:rPr sz="2200" spc="-25" dirty="0">
                <a:latin typeface="Times New Roman"/>
                <a:cs typeface="Times New Roman"/>
              </a:rPr>
              <a:t>i);</a:t>
            </a:r>
            <a:endParaRPr sz="2200">
              <a:latin typeface="Times New Roman"/>
              <a:cs typeface="Times New Roman"/>
            </a:endParaRPr>
          </a:p>
          <a:p>
            <a:pPr marL="81280">
              <a:lnSpc>
                <a:spcPts val="2630"/>
              </a:lnSpc>
            </a:pPr>
            <a:r>
              <a:rPr sz="2200" spc="-50" dirty="0">
                <a:latin typeface="Times New Roman"/>
                <a:cs typeface="Times New Roman"/>
              </a:rPr>
              <a:t>}</a:t>
            </a:r>
            <a:endParaRPr sz="2200">
              <a:latin typeface="Times New Roman"/>
              <a:cs typeface="Times New Roman"/>
            </a:endParaRPr>
          </a:p>
          <a:p>
            <a:pPr marL="81280">
              <a:lnSpc>
                <a:spcPts val="2635"/>
              </a:lnSpc>
            </a:pPr>
            <a:r>
              <a:rPr sz="2200" spc="-50" dirty="0">
                <a:latin typeface="Times New Roman"/>
                <a:cs typeface="Times New Roman"/>
              </a:rPr>
              <a:t>}</a:t>
            </a:r>
            <a:endParaRPr sz="2200">
              <a:latin typeface="Times New Roman"/>
              <a:cs typeface="Times New Roman"/>
            </a:endParaRPr>
          </a:p>
          <a:p>
            <a:pPr marL="81280">
              <a:lnSpc>
                <a:spcPct val="100000"/>
              </a:lnSpc>
              <a:spcBef>
                <a:spcPts val="30"/>
              </a:spcBef>
            </a:pPr>
            <a:r>
              <a:rPr sz="2200" spc="-50" dirty="0">
                <a:latin typeface="Times New Roman"/>
                <a:cs typeface="Times New Roman"/>
              </a:rPr>
              <a:t>}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83073" y="854963"/>
            <a:ext cx="3695112" cy="529775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73779">
              <a:lnSpc>
                <a:spcPct val="100000"/>
              </a:lnSpc>
              <a:spcBef>
                <a:spcPts val="105"/>
              </a:spcBef>
            </a:pPr>
            <a:r>
              <a:rPr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while</a:t>
            </a:r>
            <a:r>
              <a:rPr b="1" u="sng" spc="-4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b="1" u="sng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Loop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88365" y="1674367"/>
            <a:ext cx="7429500" cy="444881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6364" indent="-113664" algn="just">
              <a:lnSpc>
                <a:spcPts val="2390"/>
              </a:lnSpc>
              <a:spcBef>
                <a:spcPts val="114"/>
              </a:spcBef>
              <a:buSzPct val="90000"/>
              <a:buFont typeface="Arial MT"/>
              <a:buChar char="•"/>
              <a:tabLst>
                <a:tab pos="126364" algn="l"/>
              </a:tabLst>
            </a:pPr>
            <a:r>
              <a:rPr sz="2000" dirty="0">
                <a:latin typeface="Times New Roman"/>
                <a:cs typeface="Times New Roman"/>
              </a:rPr>
              <a:t>Whenever</a:t>
            </a:r>
            <a:r>
              <a:rPr sz="2000" spc="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we</a:t>
            </a:r>
            <a:r>
              <a:rPr sz="2000" spc="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not</a:t>
            </a:r>
            <a:r>
              <a:rPr sz="2000" spc="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sure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about</a:t>
            </a:r>
            <a:r>
              <a:rPr sz="2000" spc="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number of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times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loop</a:t>
            </a:r>
            <a:r>
              <a:rPr sz="2000" spc="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needs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to</a:t>
            </a:r>
            <a:endParaRPr sz="2000">
              <a:latin typeface="Times New Roman"/>
              <a:cs typeface="Times New Roman"/>
            </a:endParaRPr>
          </a:p>
          <a:p>
            <a:pPr marL="12700" algn="just">
              <a:lnSpc>
                <a:spcPts val="2390"/>
              </a:lnSpc>
            </a:pPr>
            <a:r>
              <a:rPr sz="2000" dirty="0">
                <a:latin typeface="Times New Roman"/>
                <a:cs typeface="Times New Roman"/>
              </a:rPr>
              <a:t>be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run,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we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use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while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loop.</a:t>
            </a:r>
            <a:endParaRPr sz="2000">
              <a:latin typeface="Times New Roman"/>
              <a:cs typeface="Times New Roman"/>
            </a:endParaRPr>
          </a:p>
          <a:p>
            <a:pPr marL="12700" marR="5080" indent="113664" algn="just">
              <a:lnSpc>
                <a:spcPct val="100600"/>
              </a:lnSpc>
              <a:buSzPct val="90000"/>
              <a:buFont typeface="Arial MT"/>
              <a:buChar char="•"/>
              <a:tabLst>
                <a:tab pos="126364" algn="l"/>
              </a:tabLst>
            </a:pP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while</a:t>
            </a:r>
            <a:r>
              <a:rPr sz="2000" spc="1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loop</a:t>
            </a:r>
            <a:r>
              <a:rPr sz="2000" spc="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keeps</a:t>
            </a:r>
            <a:r>
              <a:rPr sz="2000" spc="1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</a:t>
            </a:r>
            <a:r>
              <a:rPr sz="2000" spc="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running</a:t>
            </a:r>
            <a:r>
              <a:rPr sz="2000" spc="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till</a:t>
            </a:r>
            <a:r>
              <a:rPr sz="2000" spc="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1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condition</a:t>
            </a:r>
            <a:r>
              <a:rPr sz="2000" spc="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true,</a:t>
            </a:r>
            <a:r>
              <a:rPr sz="2000" spc="10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as</a:t>
            </a:r>
            <a:r>
              <a:rPr sz="2000" spc="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soon</a:t>
            </a:r>
            <a:r>
              <a:rPr sz="2000" spc="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as</a:t>
            </a:r>
            <a:r>
              <a:rPr sz="2000" spc="9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the </a:t>
            </a:r>
            <a:r>
              <a:rPr sz="2000" dirty="0">
                <a:latin typeface="Times New Roman"/>
                <a:cs typeface="Times New Roman"/>
              </a:rPr>
              <a:t>condition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false,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control</a:t>
            </a:r>
            <a:r>
              <a:rPr sz="2000" spc="-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returned</a:t>
            </a:r>
            <a:r>
              <a:rPr sz="2000" spc="-1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main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body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program.</a:t>
            </a:r>
            <a:endParaRPr sz="2000">
              <a:latin typeface="Times New Roman"/>
              <a:cs typeface="Times New Roman"/>
            </a:endParaRPr>
          </a:p>
          <a:p>
            <a:pPr marL="12700" marR="6985" indent="113664" algn="just">
              <a:lnSpc>
                <a:spcPts val="2410"/>
              </a:lnSpc>
              <a:spcBef>
                <a:spcPts val="45"/>
              </a:spcBef>
              <a:buSzPct val="90000"/>
              <a:buFont typeface="Arial MT"/>
              <a:buChar char="•"/>
              <a:tabLst>
                <a:tab pos="126364" algn="l"/>
              </a:tabLst>
            </a:pP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while</a:t>
            </a:r>
            <a:r>
              <a:rPr sz="2000" spc="11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loop</a:t>
            </a:r>
            <a:r>
              <a:rPr sz="2000" spc="10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considered</a:t>
            </a:r>
            <a:r>
              <a:rPr sz="2000" spc="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</a:t>
            </a:r>
            <a:r>
              <a:rPr sz="2000" spc="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entry</a:t>
            </a:r>
            <a:r>
              <a:rPr sz="2000" spc="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control</a:t>
            </a:r>
            <a:r>
              <a:rPr sz="2000" spc="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loop</a:t>
            </a:r>
            <a:r>
              <a:rPr sz="2000" spc="1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because</a:t>
            </a:r>
            <a:r>
              <a:rPr sz="2000" spc="1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checks</a:t>
            </a:r>
            <a:r>
              <a:rPr sz="2000" spc="8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the </a:t>
            </a:r>
            <a:r>
              <a:rPr sz="2000" dirty="0">
                <a:latin typeface="Times New Roman"/>
                <a:cs typeface="Times New Roman"/>
              </a:rPr>
              <a:t>condition</a:t>
            </a:r>
            <a:r>
              <a:rPr sz="2000" spc="1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before</a:t>
            </a:r>
            <a:r>
              <a:rPr sz="2000" spc="11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executing</a:t>
            </a:r>
            <a:r>
              <a:rPr sz="2000" spc="1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1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loop</a:t>
            </a:r>
            <a:r>
              <a:rPr sz="2000" spc="1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body.</a:t>
            </a:r>
            <a:r>
              <a:rPr sz="2000" spc="1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If</a:t>
            </a:r>
            <a:r>
              <a:rPr sz="2000" spc="11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11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condition</a:t>
            </a:r>
            <a:r>
              <a:rPr sz="2000" spc="1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1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false,</a:t>
            </a:r>
            <a:r>
              <a:rPr sz="2000" spc="114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first </a:t>
            </a:r>
            <a:r>
              <a:rPr sz="2000" dirty="0">
                <a:latin typeface="Times New Roman"/>
                <a:cs typeface="Times New Roman"/>
              </a:rPr>
              <a:t>statement</a:t>
            </a:r>
            <a:r>
              <a:rPr sz="2000" spc="-11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following</a:t>
            </a:r>
            <a:r>
              <a:rPr sz="2000" spc="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loop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executed.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20"/>
              </a:spcBef>
            </a:pPr>
            <a:endParaRPr sz="2000">
              <a:latin typeface="Times New Roman"/>
              <a:cs typeface="Times New Roman"/>
            </a:endParaRPr>
          </a:p>
          <a:p>
            <a:pPr marL="2016760">
              <a:lnSpc>
                <a:spcPct val="100000"/>
              </a:lnSpc>
            </a:pPr>
            <a:r>
              <a:rPr sz="2400" b="1" spc="-10" dirty="0">
                <a:latin typeface="Times New Roman"/>
                <a:cs typeface="Times New Roman"/>
              </a:rPr>
              <a:t>Syntax:</a:t>
            </a:r>
            <a:endParaRPr sz="2400">
              <a:latin typeface="Times New Roman"/>
              <a:cs typeface="Times New Roman"/>
            </a:endParaRPr>
          </a:p>
          <a:p>
            <a:pPr marL="2016760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while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(baseBooleanCondition)</a:t>
            </a:r>
            <a:endParaRPr sz="2400">
              <a:latin typeface="Times New Roman"/>
              <a:cs typeface="Times New Roman"/>
            </a:endParaRPr>
          </a:p>
          <a:p>
            <a:pPr marL="2016760">
              <a:lnSpc>
                <a:spcPct val="100000"/>
              </a:lnSpc>
            </a:pPr>
            <a:r>
              <a:rPr sz="2400" spc="-50" dirty="0">
                <a:latin typeface="Times New Roman"/>
                <a:cs typeface="Times New Roman"/>
              </a:rPr>
              <a:t>{</a:t>
            </a:r>
            <a:endParaRPr sz="2400">
              <a:latin typeface="Times New Roman"/>
              <a:cs typeface="Times New Roman"/>
            </a:endParaRPr>
          </a:p>
          <a:p>
            <a:pPr marL="2016760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Times New Roman"/>
                <a:cs typeface="Times New Roman"/>
              </a:rPr>
              <a:t>//block</a:t>
            </a:r>
            <a:r>
              <a:rPr sz="2400" spc="-1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code</a:t>
            </a:r>
            <a:endParaRPr sz="2400">
              <a:latin typeface="Times New Roman"/>
              <a:cs typeface="Times New Roman"/>
            </a:endParaRPr>
          </a:p>
          <a:p>
            <a:pPr marL="2094230">
              <a:lnSpc>
                <a:spcPct val="100000"/>
              </a:lnSpc>
            </a:pPr>
            <a:r>
              <a:rPr sz="2400" spc="-50" dirty="0">
                <a:latin typeface="Times New Roman"/>
                <a:cs typeface="Times New Roman"/>
              </a:rPr>
              <a:t>}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386710" y="469849"/>
            <a:ext cx="5289550" cy="557847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ts val="3354"/>
              </a:lnSpc>
              <a:spcBef>
                <a:spcPts val="110"/>
              </a:spcBef>
            </a:pPr>
            <a:r>
              <a:rPr sz="2800" spc="-25" dirty="0">
                <a:solidFill>
                  <a:srgbClr val="0C0C0C"/>
                </a:solidFill>
                <a:latin typeface="Times New Roman"/>
                <a:cs typeface="Times New Roman"/>
              </a:rPr>
              <a:t>Eg: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ts val="3354"/>
              </a:lnSpc>
            </a:pPr>
            <a:r>
              <a:rPr sz="2800" dirty="0">
                <a:latin typeface="Times New Roman"/>
                <a:cs typeface="Times New Roman"/>
              </a:rPr>
              <a:t>public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class</a:t>
            </a:r>
            <a:r>
              <a:rPr sz="2800" spc="-11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WhileLoop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ts val="3354"/>
              </a:lnSpc>
              <a:spcBef>
                <a:spcPts val="25"/>
              </a:spcBef>
            </a:pPr>
            <a:r>
              <a:rPr sz="2800" spc="-50" dirty="0">
                <a:latin typeface="Times New Roman"/>
                <a:cs typeface="Times New Roman"/>
              </a:rPr>
              <a:t>{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ts val="3350"/>
              </a:lnSpc>
            </a:pPr>
            <a:r>
              <a:rPr sz="2800" dirty="0">
                <a:latin typeface="Times New Roman"/>
                <a:cs typeface="Times New Roman"/>
              </a:rPr>
              <a:t>public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static</a:t>
            </a:r>
            <a:r>
              <a:rPr sz="2800" spc="-1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void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main(String[]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args)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ts val="3354"/>
              </a:lnSpc>
            </a:pPr>
            <a:r>
              <a:rPr sz="2800" spc="-50" dirty="0">
                <a:latin typeface="Times New Roman"/>
                <a:cs typeface="Times New Roman"/>
              </a:rPr>
              <a:t>{</a:t>
            </a:r>
            <a:endParaRPr sz="2800">
              <a:latin typeface="Times New Roman"/>
              <a:cs typeface="Times New Roman"/>
            </a:endParaRPr>
          </a:p>
          <a:p>
            <a:pPr marL="99060" marR="3585845" indent="-86995">
              <a:lnSpc>
                <a:spcPts val="3350"/>
              </a:lnSpc>
              <a:spcBef>
                <a:spcPts val="145"/>
              </a:spcBef>
            </a:pPr>
            <a:r>
              <a:rPr sz="2800" dirty="0">
                <a:latin typeface="Times New Roman"/>
                <a:cs typeface="Times New Roman"/>
              </a:rPr>
              <a:t>int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=</a:t>
            </a:r>
            <a:r>
              <a:rPr sz="2800" spc="20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10; </a:t>
            </a:r>
            <a:r>
              <a:rPr sz="2800" dirty="0">
                <a:latin typeface="Times New Roman"/>
                <a:cs typeface="Times New Roman"/>
              </a:rPr>
              <a:t>while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(i&gt;0)</a:t>
            </a:r>
            <a:endParaRPr sz="2800">
              <a:latin typeface="Times New Roman"/>
              <a:cs typeface="Times New Roman"/>
            </a:endParaRPr>
          </a:p>
          <a:p>
            <a:pPr marL="99060">
              <a:lnSpc>
                <a:spcPts val="3240"/>
              </a:lnSpc>
            </a:pPr>
            <a:r>
              <a:rPr sz="2800" spc="-50" dirty="0">
                <a:latin typeface="Times New Roman"/>
                <a:cs typeface="Times New Roman"/>
              </a:rPr>
              <a:t>{</a:t>
            </a:r>
            <a:endParaRPr sz="2800">
              <a:latin typeface="Times New Roman"/>
              <a:cs typeface="Times New Roman"/>
            </a:endParaRPr>
          </a:p>
          <a:p>
            <a:pPr marL="190500" marR="2118995" indent="-91440">
              <a:lnSpc>
                <a:spcPct val="100000"/>
              </a:lnSpc>
              <a:spcBef>
                <a:spcPts val="30"/>
              </a:spcBef>
            </a:pPr>
            <a:r>
              <a:rPr sz="2800" spc="-10" dirty="0">
                <a:latin typeface="Times New Roman"/>
                <a:cs typeface="Times New Roman"/>
              </a:rPr>
              <a:t>System.out.println(i); </a:t>
            </a:r>
            <a:r>
              <a:rPr sz="2800" dirty="0">
                <a:latin typeface="Times New Roman"/>
                <a:cs typeface="Times New Roman"/>
              </a:rPr>
              <a:t>i-</a:t>
            </a:r>
            <a:r>
              <a:rPr sz="2800" spc="-20" dirty="0">
                <a:latin typeface="Times New Roman"/>
                <a:cs typeface="Times New Roman"/>
              </a:rPr>
              <a:t>-</a:t>
            </a:r>
            <a:r>
              <a:rPr sz="2800" spc="-50" dirty="0">
                <a:latin typeface="Times New Roman"/>
                <a:cs typeface="Times New Roman"/>
              </a:rPr>
              <a:t>;</a:t>
            </a:r>
            <a:endParaRPr sz="2800">
              <a:latin typeface="Times New Roman"/>
              <a:cs typeface="Times New Roman"/>
            </a:endParaRPr>
          </a:p>
          <a:p>
            <a:pPr marL="99060">
              <a:lnSpc>
                <a:spcPts val="3340"/>
              </a:lnSpc>
            </a:pPr>
            <a:r>
              <a:rPr sz="2800" spc="-50" dirty="0">
                <a:latin typeface="Times New Roman"/>
                <a:cs typeface="Times New Roman"/>
              </a:rPr>
              <a:t>}</a:t>
            </a:r>
            <a:endParaRPr sz="2800">
              <a:latin typeface="Times New Roman"/>
              <a:cs typeface="Times New Roman"/>
            </a:endParaRPr>
          </a:p>
          <a:p>
            <a:pPr marL="99060">
              <a:lnSpc>
                <a:spcPts val="3354"/>
              </a:lnSpc>
              <a:spcBef>
                <a:spcPts val="25"/>
              </a:spcBef>
            </a:pPr>
            <a:r>
              <a:rPr sz="2800" spc="-50" dirty="0">
                <a:latin typeface="Times New Roman"/>
                <a:cs typeface="Times New Roman"/>
              </a:rPr>
              <a:t>}</a:t>
            </a:r>
            <a:endParaRPr sz="2800">
              <a:latin typeface="Times New Roman"/>
              <a:cs typeface="Times New Roman"/>
            </a:endParaRPr>
          </a:p>
          <a:p>
            <a:pPr marL="99060">
              <a:lnSpc>
                <a:spcPts val="3354"/>
              </a:lnSpc>
            </a:pPr>
            <a:r>
              <a:rPr sz="2800" spc="-50" dirty="0">
                <a:latin typeface="Times New Roman"/>
                <a:cs typeface="Times New Roman"/>
              </a:rPr>
              <a:t>}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7485" rIns="0" bIns="0" rtlCol="0">
            <a:spAutoFit/>
          </a:bodyPr>
          <a:lstStyle/>
          <a:p>
            <a:pPr marL="3679825">
              <a:lnSpc>
                <a:spcPct val="100000"/>
              </a:lnSpc>
              <a:spcBef>
                <a:spcPts val="105"/>
              </a:spcBef>
            </a:pPr>
            <a:r>
              <a:rPr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Do-while</a:t>
            </a:r>
            <a:r>
              <a:rPr b="1" u="sng" spc="-6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b="1" u="sng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Loop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51815" y="1572209"/>
            <a:ext cx="7763509" cy="422148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700" marR="10160" indent="114300">
              <a:lnSpc>
                <a:spcPts val="2380"/>
              </a:lnSpc>
              <a:spcBef>
                <a:spcPts val="215"/>
              </a:spcBef>
              <a:buSzPct val="90000"/>
              <a:buFont typeface="Arial MT"/>
              <a:buChar char="•"/>
              <a:tabLst>
                <a:tab pos="127000" algn="l"/>
              </a:tabLst>
            </a:pPr>
            <a:r>
              <a:rPr sz="2000" dirty="0">
                <a:latin typeface="Times New Roman"/>
                <a:cs typeface="Times New Roman"/>
              </a:rPr>
              <a:t>When</a:t>
            </a:r>
            <a:r>
              <a:rPr sz="2000" spc="1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you</a:t>
            </a:r>
            <a:r>
              <a:rPr sz="2000" spc="1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need</a:t>
            </a:r>
            <a:r>
              <a:rPr sz="2000" spc="1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2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loop</a:t>
            </a:r>
            <a:r>
              <a:rPr sz="2000" spc="1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body</a:t>
            </a:r>
            <a:r>
              <a:rPr sz="2000" spc="1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1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</a:t>
            </a:r>
            <a:r>
              <a:rPr sz="2000" spc="1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executed</a:t>
            </a:r>
            <a:r>
              <a:rPr sz="2000" spc="2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at</a:t>
            </a:r>
            <a:r>
              <a:rPr sz="2000" spc="1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least</a:t>
            </a:r>
            <a:r>
              <a:rPr sz="2000" spc="1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once</a:t>
            </a:r>
            <a:r>
              <a:rPr sz="2000" spc="1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regardless</a:t>
            </a:r>
            <a:r>
              <a:rPr sz="2000" spc="21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of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0" dirty="0">
                <a:latin typeface="Times New Roman"/>
                <a:cs typeface="Times New Roman"/>
              </a:rPr>
              <a:t> condition.</a:t>
            </a:r>
            <a:endParaRPr sz="2000">
              <a:latin typeface="Times New Roman"/>
              <a:cs typeface="Times New Roman"/>
            </a:endParaRPr>
          </a:p>
          <a:p>
            <a:pPr marL="127000" indent="-114300">
              <a:lnSpc>
                <a:spcPts val="2335"/>
              </a:lnSpc>
              <a:buSzPct val="90000"/>
              <a:buFont typeface="Arial MT"/>
              <a:buChar char="•"/>
              <a:tabLst>
                <a:tab pos="127000" algn="l"/>
              </a:tabLst>
            </a:pP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1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do…..while loop</a:t>
            </a:r>
            <a:r>
              <a:rPr sz="2000" spc="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special kind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loop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that runs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loop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at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least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once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ts val="2390"/>
              </a:lnSpc>
              <a:spcBef>
                <a:spcPts val="10"/>
              </a:spcBef>
            </a:pPr>
            <a:r>
              <a:rPr sz="2000" dirty="0">
                <a:latin typeface="Times New Roman"/>
                <a:cs typeface="Times New Roman"/>
              </a:rPr>
              <a:t>even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if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base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condition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false.</a:t>
            </a:r>
            <a:endParaRPr sz="2000">
              <a:latin typeface="Times New Roman"/>
              <a:cs typeface="Times New Roman"/>
            </a:endParaRPr>
          </a:p>
          <a:p>
            <a:pPr marL="127000" indent="-114300">
              <a:lnSpc>
                <a:spcPts val="2390"/>
              </a:lnSpc>
              <a:buSzPct val="90000"/>
              <a:buFont typeface="Arial MT"/>
              <a:buChar char="•"/>
              <a:tabLst>
                <a:tab pos="127000" algn="l"/>
              </a:tabLst>
            </a:pPr>
            <a:r>
              <a:rPr sz="2000" dirty="0">
                <a:latin typeface="Times New Roman"/>
                <a:cs typeface="Times New Roman"/>
              </a:rPr>
              <a:t>Hence,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do…..while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loop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also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called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as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Exit</a:t>
            </a:r>
            <a:r>
              <a:rPr sz="2000" b="1" u="sng" spc="-7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0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Control</a:t>
            </a:r>
            <a:r>
              <a:rPr sz="2000" b="1" u="sng" spc="-7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000" b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Loop.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445"/>
              </a:spcBef>
            </a:pPr>
            <a:endParaRPr sz="2000">
              <a:latin typeface="Times New Roman"/>
              <a:cs typeface="Times New Roman"/>
            </a:endParaRPr>
          </a:p>
          <a:p>
            <a:pPr marL="217170">
              <a:lnSpc>
                <a:spcPct val="100000"/>
              </a:lnSpc>
            </a:pPr>
            <a:r>
              <a:rPr sz="2400" b="1" spc="-10" dirty="0">
                <a:latin typeface="Times New Roman"/>
                <a:cs typeface="Times New Roman"/>
              </a:rPr>
              <a:t>Syntax:</a:t>
            </a:r>
            <a:endParaRPr sz="2400">
              <a:latin typeface="Times New Roman"/>
              <a:cs typeface="Times New Roman"/>
            </a:endParaRPr>
          </a:p>
          <a:p>
            <a:pPr marL="217170">
              <a:lnSpc>
                <a:spcPct val="100000"/>
              </a:lnSpc>
            </a:pPr>
            <a:r>
              <a:rPr sz="2400" spc="-25" dirty="0">
                <a:latin typeface="Times New Roman"/>
                <a:cs typeface="Times New Roman"/>
              </a:rPr>
              <a:t>do</a:t>
            </a:r>
            <a:endParaRPr sz="2400">
              <a:latin typeface="Times New Roman"/>
              <a:cs typeface="Times New Roman"/>
            </a:endParaRPr>
          </a:p>
          <a:p>
            <a:pPr marL="217170">
              <a:lnSpc>
                <a:spcPct val="100000"/>
              </a:lnSpc>
              <a:spcBef>
                <a:spcPts val="5"/>
              </a:spcBef>
            </a:pPr>
            <a:r>
              <a:rPr sz="2400" spc="-50" dirty="0">
                <a:latin typeface="Times New Roman"/>
                <a:cs typeface="Times New Roman"/>
              </a:rPr>
              <a:t>{</a:t>
            </a:r>
            <a:endParaRPr sz="2400">
              <a:latin typeface="Times New Roman"/>
              <a:cs typeface="Times New Roman"/>
            </a:endParaRPr>
          </a:p>
          <a:p>
            <a:pPr marL="523875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//block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code</a:t>
            </a:r>
            <a:endParaRPr sz="2400">
              <a:latin typeface="Times New Roman"/>
              <a:cs typeface="Times New Roman"/>
            </a:endParaRPr>
          </a:p>
          <a:p>
            <a:pPr marL="217170">
              <a:lnSpc>
                <a:spcPct val="100000"/>
              </a:lnSpc>
            </a:pPr>
            <a:r>
              <a:rPr sz="2400" spc="-50" dirty="0">
                <a:latin typeface="Times New Roman"/>
                <a:cs typeface="Times New Roman"/>
              </a:rPr>
              <a:t>}</a:t>
            </a:r>
            <a:endParaRPr sz="2400">
              <a:latin typeface="Times New Roman"/>
              <a:cs typeface="Times New Roman"/>
            </a:endParaRPr>
          </a:p>
          <a:p>
            <a:pPr marL="217170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Times New Roman"/>
                <a:cs typeface="Times New Roman"/>
              </a:rPr>
              <a:t>while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(baseBooleanCondition);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22385" y="1604814"/>
            <a:ext cx="2562225" cy="374402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58744" y="386587"/>
            <a:ext cx="5290185" cy="60032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800" dirty="0">
                <a:solidFill>
                  <a:srgbClr val="0C0C0C"/>
                </a:solidFill>
                <a:latin typeface="Times New Roman"/>
                <a:cs typeface="Times New Roman"/>
              </a:rPr>
              <a:t>Example</a:t>
            </a:r>
            <a:r>
              <a:rPr sz="2800" spc="-7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800" spc="-50" dirty="0">
                <a:solidFill>
                  <a:srgbClr val="0C0C0C"/>
                </a:solidFill>
                <a:latin typeface="Times New Roman"/>
                <a:cs typeface="Times New Roman"/>
              </a:rPr>
              <a:t>: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5"/>
              </a:spcBef>
            </a:pP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ts val="3354"/>
              </a:lnSpc>
            </a:pPr>
            <a:r>
              <a:rPr sz="2800" dirty="0">
                <a:latin typeface="Times New Roman"/>
                <a:cs typeface="Times New Roman"/>
              </a:rPr>
              <a:t>public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class</a:t>
            </a:r>
            <a:r>
              <a:rPr sz="2800" spc="-12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WhileLoop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ts val="3350"/>
              </a:lnSpc>
            </a:pPr>
            <a:r>
              <a:rPr sz="2800" spc="-50" dirty="0">
                <a:latin typeface="Times New Roman"/>
                <a:cs typeface="Times New Roman"/>
              </a:rPr>
              <a:t>{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ts val="3354"/>
              </a:lnSpc>
            </a:pPr>
            <a:r>
              <a:rPr sz="2800" dirty="0">
                <a:latin typeface="Times New Roman"/>
                <a:cs typeface="Times New Roman"/>
              </a:rPr>
              <a:t>public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static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void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main(String[]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args)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ts val="3354"/>
              </a:lnSpc>
              <a:spcBef>
                <a:spcPts val="30"/>
              </a:spcBef>
            </a:pPr>
            <a:r>
              <a:rPr sz="2800" spc="-50" dirty="0">
                <a:latin typeface="Times New Roman"/>
                <a:cs typeface="Times New Roman"/>
              </a:rPr>
              <a:t>{</a:t>
            </a:r>
            <a:endParaRPr sz="2800">
              <a:latin typeface="Times New Roman"/>
              <a:cs typeface="Times New Roman"/>
            </a:endParaRPr>
          </a:p>
          <a:p>
            <a:pPr marL="99060" marR="3783965">
              <a:lnSpc>
                <a:spcPts val="3350"/>
              </a:lnSpc>
              <a:spcBef>
                <a:spcPts val="115"/>
              </a:spcBef>
            </a:pPr>
            <a:r>
              <a:rPr sz="2800" dirty="0">
                <a:latin typeface="Times New Roman"/>
                <a:cs typeface="Times New Roman"/>
              </a:rPr>
              <a:t>int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 =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10; do</a:t>
            </a:r>
            <a:endParaRPr sz="2800">
              <a:latin typeface="Times New Roman"/>
              <a:cs typeface="Times New Roman"/>
            </a:endParaRPr>
          </a:p>
          <a:p>
            <a:pPr marL="99060">
              <a:lnSpc>
                <a:spcPts val="3270"/>
              </a:lnSpc>
            </a:pPr>
            <a:r>
              <a:rPr sz="2800" spc="-50" dirty="0">
                <a:latin typeface="Times New Roman"/>
                <a:cs typeface="Times New Roman"/>
              </a:rPr>
              <a:t>{</a:t>
            </a:r>
            <a:endParaRPr sz="2800">
              <a:latin typeface="Times New Roman"/>
              <a:cs typeface="Times New Roman"/>
            </a:endParaRPr>
          </a:p>
          <a:p>
            <a:pPr marL="99060" marR="2118995">
              <a:lnSpc>
                <a:spcPts val="3350"/>
              </a:lnSpc>
              <a:spcBef>
                <a:spcPts val="115"/>
              </a:spcBef>
            </a:pPr>
            <a:r>
              <a:rPr sz="2800" spc="-10" dirty="0">
                <a:latin typeface="Times New Roman"/>
                <a:cs typeface="Times New Roman"/>
              </a:rPr>
              <a:t>System.out.println(i); </a:t>
            </a:r>
            <a:r>
              <a:rPr sz="2800" dirty="0">
                <a:latin typeface="Times New Roman"/>
                <a:cs typeface="Times New Roman"/>
              </a:rPr>
              <a:t>i-</a:t>
            </a:r>
            <a:r>
              <a:rPr sz="2800" spc="-10" dirty="0">
                <a:latin typeface="Times New Roman"/>
                <a:cs typeface="Times New Roman"/>
              </a:rPr>
              <a:t>-</a:t>
            </a:r>
            <a:r>
              <a:rPr sz="2800" spc="-50" dirty="0">
                <a:latin typeface="Times New Roman"/>
                <a:cs typeface="Times New Roman"/>
              </a:rPr>
              <a:t>;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ts val="3270"/>
              </a:lnSpc>
            </a:pPr>
            <a:r>
              <a:rPr sz="2800" spc="-50" dirty="0">
                <a:latin typeface="Times New Roman"/>
                <a:cs typeface="Times New Roman"/>
              </a:rPr>
              <a:t>}</a:t>
            </a:r>
            <a:endParaRPr sz="2800">
              <a:latin typeface="Times New Roman"/>
              <a:cs typeface="Times New Roman"/>
            </a:endParaRPr>
          </a:p>
          <a:p>
            <a:pPr marL="99060">
              <a:lnSpc>
                <a:spcPts val="3350"/>
              </a:lnSpc>
            </a:pPr>
            <a:r>
              <a:rPr sz="2800" dirty="0">
                <a:latin typeface="Times New Roman"/>
                <a:cs typeface="Times New Roman"/>
              </a:rPr>
              <a:t>while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(i&gt;10);</a:t>
            </a:r>
            <a:endParaRPr sz="2800">
              <a:latin typeface="Times New Roman"/>
              <a:cs typeface="Times New Roman"/>
            </a:endParaRPr>
          </a:p>
          <a:p>
            <a:pPr marL="99060">
              <a:lnSpc>
                <a:spcPts val="3354"/>
              </a:lnSpc>
            </a:pPr>
            <a:r>
              <a:rPr sz="2800" dirty="0">
                <a:latin typeface="Times New Roman"/>
                <a:cs typeface="Times New Roman"/>
              </a:rPr>
              <a:t>}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0" dirty="0">
                <a:latin typeface="Times New Roman"/>
                <a:cs typeface="Times New Roman"/>
              </a:rPr>
              <a:t>}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87604" rIns="0" bIns="0" rtlCol="0">
            <a:spAutoFit/>
          </a:bodyPr>
          <a:lstStyle/>
          <a:p>
            <a:pPr marL="185420">
              <a:lnSpc>
                <a:spcPct val="100000"/>
              </a:lnSpc>
              <a:spcBef>
                <a:spcPts val="95"/>
              </a:spcBef>
            </a:pPr>
            <a:r>
              <a:rPr sz="4400" dirty="0"/>
              <a:t>Nested</a:t>
            </a:r>
            <a:r>
              <a:rPr sz="4400" spc="-70" dirty="0"/>
              <a:t> </a:t>
            </a:r>
            <a:r>
              <a:rPr sz="4400" dirty="0"/>
              <a:t>For</a:t>
            </a:r>
            <a:r>
              <a:rPr sz="4400" spc="-114" dirty="0"/>
              <a:t> </a:t>
            </a:r>
            <a:r>
              <a:rPr sz="4400" spc="-20" dirty="0"/>
              <a:t>Loop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917244" y="1804873"/>
            <a:ext cx="10210165" cy="248983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800" dirty="0">
                <a:latin typeface="Times New Roman"/>
                <a:cs typeface="Times New Roman"/>
              </a:rPr>
              <a:t>What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Nested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for </a:t>
            </a:r>
            <a:r>
              <a:rPr sz="2800" spc="-10" dirty="0">
                <a:latin typeface="Times New Roman"/>
                <a:cs typeface="Times New Roman"/>
              </a:rPr>
              <a:t>Loop?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455"/>
              </a:spcBef>
            </a:pP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1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nested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for</a:t>
            </a:r>
            <a:r>
              <a:rPr sz="2800" spc="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loop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Java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loop</a:t>
            </a:r>
            <a:r>
              <a:rPr sz="2800" spc="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inside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another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for</a:t>
            </a:r>
            <a:r>
              <a:rPr sz="2800" spc="3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loop.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outer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loop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controls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number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times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inner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loop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runs.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800" dirty="0">
                <a:latin typeface="Times New Roman"/>
                <a:cs typeface="Times New Roman"/>
              </a:rPr>
              <a:t>It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commonly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used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for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2D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structures,</a:t>
            </a:r>
            <a:r>
              <a:rPr sz="2800" spc="-10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like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matrices,</a:t>
            </a:r>
            <a:r>
              <a:rPr sz="2800" spc="-10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patterns,</a:t>
            </a:r>
            <a:r>
              <a:rPr sz="2800" spc="-10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or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tables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87604" rIns="0" bIns="0" rtlCol="0">
            <a:spAutoFit/>
          </a:bodyPr>
          <a:lstStyle/>
          <a:p>
            <a:pPr marL="185420">
              <a:lnSpc>
                <a:spcPct val="100000"/>
              </a:lnSpc>
              <a:spcBef>
                <a:spcPts val="95"/>
              </a:spcBef>
            </a:pPr>
            <a:r>
              <a:rPr sz="4400" dirty="0"/>
              <a:t>Nested</a:t>
            </a:r>
            <a:r>
              <a:rPr sz="4400" spc="-70" dirty="0"/>
              <a:t> </a:t>
            </a:r>
            <a:r>
              <a:rPr sz="4400" dirty="0"/>
              <a:t>For</a:t>
            </a:r>
            <a:r>
              <a:rPr sz="4400" spc="-114" dirty="0"/>
              <a:t> </a:t>
            </a:r>
            <a:r>
              <a:rPr sz="4400" spc="-20" dirty="0"/>
              <a:t>Loop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917244" y="1720229"/>
            <a:ext cx="5225415" cy="4116070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sz="2800" dirty="0">
                <a:latin typeface="Times New Roman"/>
                <a:cs typeface="Times New Roman"/>
              </a:rPr>
              <a:t>Syntax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Nested</a:t>
            </a:r>
            <a:r>
              <a:rPr sz="2800" spc="-1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for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Loop</a:t>
            </a:r>
            <a:endParaRPr sz="28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2800" dirty="0">
                <a:latin typeface="Times New Roman"/>
                <a:cs typeface="Times New Roman"/>
              </a:rPr>
              <a:t>for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(initialization;</a:t>
            </a:r>
            <a:r>
              <a:rPr sz="2800" spc="-1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condition;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update)</a:t>
            </a:r>
            <a:endParaRPr sz="28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40"/>
              </a:spcBef>
            </a:pPr>
            <a:r>
              <a:rPr sz="2800" spc="-50" dirty="0">
                <a:latin typeface="Times New Roman"/>
                <a:cs typeface="Times New Roman"/>
              </a:rPr>
              <a:t>{</a:t>
            </a:r>
            <a:endParaRPr sz="28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2800" dirty="0">
                <a:latin typeface="Times New Roman"/>
                <a:cs typeface="Times New Roman"/>
              </a:rPr>
              <a:t>for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(initialization;</a:t>
            </a:r>
            <a:r>
              <a:rPr sz="2800" spc="-1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condition;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update)</a:t>
            </a:r>
            <a:endParaRPr sz="28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  <a:tabLst>
                <a:tab pos="892175" algn="l"/>
              </a:tabLst>
            </a:pPr>
            <a:r>
              <a:rPr sz="2800" spc="-50" dirty="0">
                <a:latin typeface="Times New Roman"/>
                <a:cs typeface="Times New Roman"/>
              </a:rPr>
              <a:t>{</a:t>
            </a:r>
            <a:r>
              <a:rPr sz="2800" dirty="0">
                <a:latin typeface="Times New Roman"/>
                <a:cs typeface="Times New Roman"/>
              </a:rPr>
              <a:t>	//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inner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loop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code</a:t>
            </a:r>
            <a:endParaRPr sz="28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2800" spc="-50" dirty="0">
                <a:latin typeface="Times New Roman"/>
                <a:cs typeface="Times New Roman"/>
              </a:rPr>
              <a:t>}</a:t>
            </a:r>
            <a:endParaRPr sz="2800" dirty="0">
              <a:latin typeface="Times New Roman"/>
              <a:cs typeface="Times New Roman"/>
            </a:endParaRPr>
          </a:p>
          <a:p>
            <a:pPr marL="99060">
              <a:lnSpc>
                <a:spcPct val="100000"/>
              </a:lnSpc>
              <a:spcBef>
                <a:spcPts val="635"/>
              </a:spcBef>
            </a:pPr>
            <a:r>
              <a:rPr sz="2800" dirty="0">
                <a:latin typeface="Times New Roman"/>
                <a:cs typeface="Times New Roman"/>
              </a:rPr>
              <a:t>//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outer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loop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code</a:t>
            </a:r>
            <a:endParaRPr sz="28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2800" spc="-50" dirty="0">
                <a:latin typeface="Times New Roman"/>
                <a:cs typeface="Times New Roman"/>
              </a:rPr>
              <a:t>}</a:t>
            </a:r>
            <a:endParaRPr sz="2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87604" rIns="0" bIns="0" rtlCol="0">
            <a:spAutoFit/>
          </a:bodyPr>
          <a:lstStyle/>
          <a:p>
            <a:pPr marL="185420">
              <a:lnSpc>
                <a:spcPct val="100000"/>
              </a:lnSpc>
              <a:spcBef>
                <a:spcPts val="95"/>
              </a:spcBef>
            </a:pPr>
            <a:r>
              <a:rPr sz="4400" dirty="0"/>
              <a:t>Nested</a:t>
            </a:r>
            <a:r>
              <a:rPr sz="4400" spc="-70" dirty="0"/>
              <a:t> </a:t>
            </a:r>
            <a:r>
              <a:rPr sz="4400" dirty="0"/>
              <a:t>For</a:t>
            </a:r>
            <a:r>
              <a:rPr sz="4400" spc="-114" dirty="0"/>
              <a:t> </a:t>
            </a:r>
            <a:r>
              <a:rPr sz="4400" spc="-20" dirty="0"/>
              <a:t>Loop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917244" y="1740865"/>
            <a:ext cx="5489575" cy="823594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341630" marR="5080" indent="-329565">
              <a:lnSpc>
                <a:spcPct val="101600"/>
              </a:lnSpc>
              <a:spcBef>
                <a:spcPts val="45"/>
              </a:spcBef>
            </a:pPr>
            <a:r>
              <a:rPr sz="2600" dirty="0">
                <a:latin typeface="Times New Roman"/>
                <a:cs typeface="Times New Roman"/>
              </a:rPr>
              <a:t>public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class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NestedForLoopExample</a:t>
            </a:r>
            <a:r>
              <a:rPr sz="2600" spc="70" dirty="0">
                <a:latin typeface="Times New Roman"/>
                <a:cs typeface="Times New Roman"/>
              </a:rPr>
              <a:t> </a:t>
            </a:r>
            <a:r>
              <a:rPr sz="2600" spc="-50" dirty="0">
                <a:latin typeface="Times New Roman"/>
                <a:cs typeface="Times New Roman"/>
              </a:rPr>
              <a:t>{ </a:t>
            </a:r>
            <a:r>
              <a:rPr sz="2600" dirty="0">
                <a:latin typeface="Times New Roman"/>
                <a:cs typeface="Times New Roman"/>
              </a:rPr>
              <a:t>public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static</a:t>
            </a:r>
            <a:r>
              <a:rPr sz="2600" spc="-10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void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main(String[]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args)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50" dirty="0">
                <a:latin typeface="Times New Roman"/>
                <a:cs typeface="Times New Roman"/>
              </a:rPr>
              <a:t>{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061897" y="2546045"/>
            <a:ext cx="2919095" cy="8286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95"/>
              </a:spcBef>
            </a:pPr>
            <a:r>
              <a:rPr sz="2600" dirty="0">
                <a:latin typeface="Times New Roman"/>
                <a:cs typeface="Times New Roman"/>
              </a:rPr>
              <a:t>//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outer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loop:</a:t>
            </a:r>
            <a:r>
              <a:rPr sz="2600" spc="15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Times New Roman"/>
                <a:cs typeface="Times New Roman"/>
              </a:rPr>
              <a:t>rows</a:t>
            </a:r>
            <a:endParaRPr sz="2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sz="2600" dirty="0">
                <a:latin typeface="Times New Roman"/>
                <a:cs typeface="Times New Roman"/>
              </a:rPr>
              <a:t>//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inner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loop: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columns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75942" y="2546045"/>
            <a:ext cx="3933825" cy="163830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46075" marR="5080" indent="-334010">
              <a:lnSpc>
                <a:spcPct val="102800"/>
              </a:lnSpc>
              <a:spcBef>
                <a:spcPts val="5"/>
              </a:spcBef>
            </a:pPr>
            <a:r>
              <a:rPr sz="2600" dirty="0">
                <a:latin typeface="Times New Roman"/>
                <a:cs typeface="Times New Roman"/>
              </a:rPr>
              <a:t>for</a:t>
            </a:r>
            <a:r>
              <a:rPr sz="2600" spc="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(int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=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1;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&lt;=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3;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i++)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50" dirty="0">
                <a:latin typeface="Times New Roman"/>
                <a:cs typeface="Times New Roman"/>
              </a:rPr>
              <a:t>{ </a:t>
            </a:r>
            <a:r>
              <a:rPr sz="2600" dirty="0">
                <a:latin typeface="Times New Roman"/>
                <a:cs typeface="Times New Roman"/>
              </a:rPr>
              <a:t>for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(int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j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= 1;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j</a:t>
            </a:r>
            <a:r>
              <a:rPr sz="2600" spc="1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&lt;=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5;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j++)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50" dirty="0">
                <a:latin typeface="Times New Roman"/>
                <a:cs typeface="Times New Roman"/>
              </a:rPr>
              <a:t>{</a:t>
            </a:r>
            <a:endParaRPr sz="2600" dirty="0">
              <a:latin typeface="Times New Roman"/>
              <a:cs typeface="Times New Roman"/>
            </a:endParaRPr>
          </a:p>
          <a:p>
            <a:pPr marL="675640">
              <a:lnSpc>
                <a:spcPct val="100000"/>
              </a:lnSpc>
              <a:spcBef>
                <a:spcPts val="50"/>
              </a:spcBef>
            </a:pPr>
            <a:r>
              <a:rPr sz="2600" spc="-10" dirty="0">
                <a:latin typeface="Times New Roman"/>
                <a:cs typeface="Times New Roman"/>
              </a:rPr>
              <a:t>System.out.print("*</a:t>
            </a:r>
            <a:r>
              <a:rPr sz="2600" spc="25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Times New Roman"/>
                <a:cs typeface="Times New Roman"/>
              </a:rPr>
              <a:t>");</a:t>
            </a:r>
            <a:endParaRPr sz="2600" dirty="0">
              <a:latin typeface="Times New Roman"/>
              <a:cs typeface="Times New Roman"/>
            </a:endParaRPr>
          </a:p>
          <a:p>
            <a:pPr marL="346075">
              <a:lnSpc>
                <a:spcPct val="100000"/>
              </a:lnSpc>
              <a:spcBef>
                <a:spcPts val="90"/>
              </a:spcBef>
            </a:pPr>
            <a:r>
              <a:rPr sz="2600" spc="-50" dirty="0">
                <a:latin typeface="Times New Roman"/>
                <a:cs typeface="Times New Roman"/>
              </a:rPr>
              <a:t>}</a:t>
            </a:r>
            <a:endParaRPr sz="26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17244" y="4166108"/>
            <a:ext cx="8385809" cy="163766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004569">
              <a:lnSpc>
                <a:spcPct val="100000"/>
              </a:lnSpc>
              <a:spcBef>
                <a:spcPts val="90"/>
              </a:spcBef>
            </a:pPr>
            <a:r>
              <a:rPr sz="2600" spc="-10" dirty="0">
                <a:latin typeface="Times New Roman"/>
                <a:cs typeface="Times New Roman"/>
              </a:rPr>
              <a:t>System.out.println();</a:t>
            </a:r>
            <a:r>
              <a:rPr sz="2600" spc="8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//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move</a:t>
            </a:r>
            <a:r>
              <a:rPr sz="2600" spc="5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to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next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line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after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each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Times New Roman"/>
                <a:cs typeface="Times New Roman"/>
              </a:rPr>
              <a:t>row</a:t>
            </a:r>
            <a:endParaRPr sz="2600">
              <a:latin typeface="Times New Roman"/>
              <a:cs typeface="Times New Roman"/>
            </a:endParaRPr>
          </a:p>
          <a:p>
            <a:pPr marL="671195">
              <a:lnSpc>
                <a:spcPct val="100000"/>
              </a:lnSpc>
              <a:spcBef>
                <a:spcPts val="85"/>
              </a:spcBef>
            </a:pPr>
            <a:r>
              <a:rPr sz="2600" spc="-50" dirty="0">
                <a:latin typeface="Times New Roman"/>
                <a:cs typeface="Times New Roman"/>
              </a:rPr>
              <a:t>}</a:t>
            </a:r>
            <a:endParaRPr sz="2600">
              <a:latin typeface="Times New Roman"/>
              <a:cs typeface="Times New Roman"/>
            </a:endParaRPr>
          </a:p>
          <a:p>
            <a:pPr marL="341630">
              <a:lnSpc>
                <a:spcPct val="100000"/>
              </a:lnSpc>
              <a:spcBef>
                <a:spcPts val="50"/>
              </a:spcBef>
            </a:pPr>
            <a:r>
              <a:rPr sz="2600" spc="-50" dirty="0">
                <a:latin typeface="Times New Roman"/>
                <a:cs typeface="Times New Roman"/>
              </a:rPr>
              <a:t>}</a:t>
            </a:r>
            <a:endParaRPr sz="2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sz="2600" spc="-50" dirty="0">
                <a:latin typeface="Times New Roman"/>
                <a:cs typeface="Times New Roman"/>
              </a:rPr>
              <a:t>}</a:t>
            </a:r>
            <a:endParaRPr sz="2600">
              <a:latin typeface="Times New Roman"/>
              <a:cs typeface="Times New Roman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838943" y="2807207"/>
            <a:ext cx="1673352" cy="138988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94072" y="927049"/>
            <a:ext cx="3402329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dirty="0">
                <a:solidFill>
                  <a:srgbClr val="00B05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Jump</a:t>
            </a:r>
            <a:r>
              <a:rPr sz="3600" b="1" spc="-40" dirty="0">
                <a:solidFill>
                  <a:srgbClr val="00B05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spc="-10" dirty="0">
                <a:solidFill>
                  <a:srgbClr val="00B05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Statements</a:t>
            </a:r>
            <a:endParaRPr sz="3600" b="1" dirty="0">
              <a:solidFill>
                <a:srgbClr val="00B050"/>
              </a:solidFill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85343" y="1998929"/>
            <a:ext cx="11235690" cy="21654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1430" indent="177165" algn="just">
              <a:lnSpc>
                <a:spcPct val="100299"/>
              </a:lnSpc>
              <a:spcBef>
                <a:spcPts val="100"/>
              </a:spcBef>
              <a:buFont typeface="Arial MT"/>
              <a:buChar char="•"/>
              <a:tabLst>
                <a:tab pos="189865" algn="l"/>
              </a:tabLst>
            </a:pPr>
            <a:r>
              <a:rPr sz="2800" dirty="0">
                <a:latin typeface="Times New Roman"/>
                <a:cs typeface="Times New Roman"/>
              </a:rPr>
              <a:t>In</a:t>
            </a:r>
            <a:r>
              <a:rPr sz="2800" spc="1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Java,</a:t>
            </a:r>
            <a:r>
              <a:rPr sz="2800" spc="1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1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jump</a:t>
            </a:r>
            <a:r>
              <a:rPr sz="2800" spc="1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statement</a:t>
            </a:r>
            <a:r>
              <a:rPr sz="2800" spc="114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1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used</a:t>
            </a:r>
            <a:r>
              <a:rPr sz="2800" spc="1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for</a:t>
            </a:r>
            <a:r>
              <a:rPr sz="2800" spc="1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transferring</a:t>
            </a:r>
            <a:r>
              <a:rPr sz="2800" spc="1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1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control</a:t>
            </a:r>
            <a:r>
              <a:rPr sz="2800" spc="1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1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15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program </a:t>
            </a:r>
            <a:r>
              <a:rPr sz="2800" dirty="0">
                <a:latin typeface="Times New Roman"/>
                <a:cs typeface="Times New Roman"/>
              </a:rPr>
              <a:t>from</a:t>
            </a:r>
            <a:r>
              <a:rPr sz="2800" spc="50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one</a:t>
            </a:r>
            <a:r>
              <a:rPr sz="2800" spc="55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particular</a:t>
            </a:r>
            <a:r>
              <a:rPr sz="2800" spc="50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point</a:t>
            </a:r>
            <a:r>
              <a:rPr sz="2800" spc="40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30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another</a:t>
            </a:r>
            <a:r>
              <a:rPr sz="2800" spc="55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point</a:t>
            </a:r>
            <a:r>
              <a:rPr sz="2800" spc="60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50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55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program,</a:t>
            </a:r>
            <a:r>
              <a:rPr sz="2800" spc="65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allowing</a:t>
            </a:r>
            <a:r>
              <a:rPr sz="2800" spc="35" dirty="0">
                <a:latin typeface="Times New Roman"/>
                <a:cs typeface="Times New Roman"/>
              </a:rPr>
              <a:t>  </a:t>
            </a:r>
            <a:r>
              <a:rPr sz="2800" spc="-25" dirty="0">
                <a:latin typeface="Times New Roman"/>
                <a:cs typeface="Times New Roman"/>
              </a:rPr>
              <a:t>for </a:t>
            </a:r>
            <a:r>
              <a:rPr sz="2800" dirty="0">
                <a:latin typeface="Times New Roman"/>
                <a:cs typeface="Times New Roman"/>
              </a:rPr>
              <a:t>changes</a:t>
            </a:r>
            <a:r>
              <a:rPr sz="2800" spc="-9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flow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execution.</a:t>
            </a:r>
            <a:endParaRPr sz="2800" dirty="0">
              <a:latin typeface="Times New Roman"/>
              <a:cs typeface="Times New Roman"/>
            </a:endParaRPr>
          </a:p>
          <a:p>
            <a:pPr marL="12700" marR="5080" indent="177165" algn="just">
              <a:lnSpc>
                <a:spcPts val="3390"/>
              </a:lnSpc>
              <a:spcBef>
                <a:spcPts val="50"/>
              </a:spcBef>
              <a:buFont typeface="Arial MT"/>
              <a:buChar char="•"/>
              <a:tabLst>
                <a:tab pos="189865" algn="l"/>
              </a:tabLst>
            </a:pPr>
            <a:r>
              <a:rPr sz="2800" dirty="0" smtClean="0">
                <a:latin typeface="Times New Roman"/>
                <a:cs typeface="Times New Roman"/>
              </a:rPr>
              <a:t>"</a:t>
            </a:r>
            <a:r>
              <a:rPr sz="2800" dirty="0">
                <a:latin typeface="Times New Roman"/>
                <a:cs typeface="Times New Roman"/>
              </a:rPr>
              <a:t>Jump</a:t>
            </a:r>
            <a:r>
              <a:rPr sz="2800" spc="9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Statements"</a:t>
            </a:r>
            <a:r>
              <a:rPr sz="2800" spc="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are</a:t>
            </a:r>
            <a:r>
              <a:rPr sz="2800" spc="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also</a:t>
            </a:r>
            <a:r>
              <a:rPr sz="2800" spc="10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called</a:t>
            </a:r>
            <a:r>
              <a:rPr sz="2800" spc="9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"</a:t>
            </a:r>
            <a:r>
              <a:rPr sz="2800" b="1" dirty="0">
                <a:latin typeface="Times New Roman"/>
                <a:cs typeface="Times New Roman"/>
              </a:rPr>
              <a:t>Branching</a:t>
            </a:r>
            <a:r>
              <a:rPr sz="2800" b="1" spc="11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Statements</a:t>
            </a:r>
            <a:r>
              <a:rPr sz="2800" b="1" spc="12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in</a:t>
            </a:r>
            <a:r>
              <a:rPr sz="2800" b="1" spc="114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Java</a:t>
            </a:r>
            <a:r>
              <a:rPr sz="2800" dirty="0">
                <a:latin typeface="Times New Roman"/>
                <a:cs typeface="Times New Roman"/>
              </a:rPr>
              <a:t>"</a:t>
            </a:r>
            <a:r>
              <a:rPr sz="2800" spc="9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as</a:t>
            </a:r>
            <a:r>
              <a:rPr sz="2800" spc="80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they </a:t>
            </a:r>
            <a:r>
              <a:rPr sz="2800" dirty="0">
                <a:latin typeface="Times New Roman"/>
                <a:cs typeface="Times New Roman"/>
              </a:rPr>
              <a:t>evaluate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different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branches</a:t>
            </a:r>
            <a:r>
              <a:rPr sz="2800" spc="-9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enhance</a:t>
            </a:r>
            <a:r>
              <a:rPr sz="2800" spc="-10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flow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execution.</a:t>
            </a:r>
            <a:endParaRPr sz="2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44118" y="251536"/>
            <a:ext cx="288544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Break</a:t>
            </a:r>
            <a:r>
              <a:rPr b="1" u="sng" spc="-10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b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statement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2950" y="1166317"/>
            <a:ext cx="2835275" cy="39370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62560" indent="-149860">
              <a:lnSpc>
                <a:spcPct val="100000"/>
              </a:lnSpc>
              <a:spcBef>
                <a:spcPts val="115"/>
              </a:spcBef>
              <a:buFont typeface="Arial MT"/>
              <a:buChar char="•"/>
              <a:tabLst>
                <a:tab pos="162560" algn="l"/>
                <a:tab pos="666115" algn="l"/>
                <a:tab pos="1654175" algn="l"/>
              </a:tabLst>
            </a:pPr>
            <a:r>
              <a:rPr sz="2400" spc="-50" dirty="0">
                <a:latin typeface="Times New Roman"/>
                <a:cs typeface="Times New Roman"/>
              </a:rPr>
              <a:t>A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0" dirty="0">
                <a:latin typeface="Times New Roman"/>
                <a:cs typeface="Times New Roman"/>
              </a:rPr>
              <a:t>break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statement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657727" y="1166317"/>
            <a:ext cx="2732405" cy="39370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  <a:tabLst>
                <a:tab pos="556895" algn="l"/>
                <a:tab pos="1402715" algn="l"/>
                <a:tab pos="2486660" algn="l"/>
              </a:tabLst>
            </a:pPr>
            <a:r>
              <a:rPr sz="2400" spc="-25" dirty="0">
                <a:latin typeface="Times New Roman"/>
                <a:cs typeface="Times New Roman"/>
              </a:rPr>
              <a:t>in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0" dirty="0">
                <a:latin typeface="Times New Roman"/>
                <a:cs typeface="Times New Roman"/>
              </a:rPr>
              <a:t>Java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assists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in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42950" y="1532331"/>
            <a:ext cx="5855970" cy="405384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 marR="9525" algn="just">
              <a:lnSpc>
                <a:spcPct val="100000"/>
              </a:lnSpc>
              <a:spcBef>
                <a:spcPts val="115"/>
              </a:spcBef>
            </a:pPr>
            <a:r>
              <a:rPr sz="2400" dirty="0">
                <a:latin typeface="Times New Roman"/>
                <a:cs typeface="Times New Roman"/>
              </a:rPr>
              <a:t>terminating</a:t>
            </a:r>
            <a:r>
              <a:rPr sz="2400" spc="254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25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execution</a:t>
            </a:r>
            <a:r>
              <a:rPr sz="2400" spc="28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254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26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loop</a:t>
            </a:r>
            <a:r>
              <a:rPr sz="2400" spc="27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250" dirty="0">
                <a:latin typeface="Times New Roman"/>
                <a:cs typeface="Times New Roman"/>
              </a:rPr>
              <a:t>  </a:t>
            </a:r>
            <a:r>
              <a:rPr sz="2400" spc="-50" dirty="0">
                <a:latin typeface="Times New Roman"/>
                <a:cs typeface="Times New Roman"/>
              </a:rPr>
              <a:t>a </a:t>
            </a:r>
            <a:r>
              <a:rPr sz="2400" dirty="0">
                <a:latin typeface="Times New Roman"/>
                <a:cs typeface="Times New Roman"/>
              </a:rPr>
              <a:t>particular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program.</a:t>
            </a:r>
            <a:endParaRPr sz="2400" dirty="0">
              <a:latin typeface="Times New Roman"/>
              <a:cs typeface="Times New Roman"/>
            </a:endParaRPr>
          </a:p>
          <a:p>
            <a:pPr marL="12700" marR="5715" indent="149860" algn="just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162560" algn="l"/>
              </a:tabLst>
            </a:pPr>
            <a:r>
              <a:rPr sz="2400" dirty="0">
                <a:latin typeface="Times New Roman"/>
                <a:cs typeface="Times New Roman"/>
              </a:rPr>
              <a:t>This</a:t>
            </a:r>
            <a:r>
              <a:rPr sz="2400" spc="8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statement</a:t>
            </a:r>
            <a:r>
              <a:rPr sz="2400" spc="7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transfers</a:t>
            </a:r>
            <a:r>
              <a:rPr sz="2400" spc="7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5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control</a:t>
            </a:r>
            <a:r>
              <a:rPr sz="2400" spc="7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70" dirty="0">
                <a:latin typeface="Times New Roman"/>
                <a:cs typeface="Times New Roman"/>
              </a:rPr>
              <a:t>  </a:t>
            </a:r>
            <a:r>
              <a:rPr sz="2400" spc="-25" dirty="0">
                <a:latin typeface="Times New Roman"/>
                <a:cs typeface="Times New Roman"/>
              </a:rPr>
              <a:t>the </a:t>
            </a:r>
            <a:r>
              <a:rPr sz="2400" dirty="0">
                <a:latin typeface="Times New Roman"/>
                <a:cs typeface="Times New Roman"/>
              </a:rPr>
              <a:t>program</a:t>
            </a:r>
            <a:r>
              <a:rPr sz="2400" spc="39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38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38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next</a:t>
            </a:r>
            <a:r>
              <a:rPr sz="2400" spc="40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statement</a:t>
            </a:r>
            <a:r>
              <a:rPr sz="2400" spc="40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which</a:t>
            </a:r>
            <a:r>
              <a:rPr sz="2400" spc="409" dirty="0">
                <a:latin typeface="Times New Roman"/>
                <a:cs typeface="Times New Roman"/>
              </a:rPr>
              <a:t>  </a:t>
            </a:r>
            <a:r>
              <a:rPr sz="2400" spc="-25" dirty="0">
                <a:latin typeface="Times New Roman"/>
                <a:cs typeface="Times New Roman"/>
              </a:rPr>
              <a:t>is </a:t>
            </a:r>
            <a:r>
              <a:rPr sz="2400" dirty="0">
                <a:latin typeface="Times New Roman"/>
                <a:cs typeface="Times New Roman"/>
              </a:rPr>
              <a:t>immediately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after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current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loop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or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switch.</a:t>
            </a:r>
            <a:endParaRPr sz="2400" dirty="0">
              <a:latin typeface="Times New Roman"/>
              <a:cs typeface="Times New Roman"/>
            </a:endParaRPr>
          </a:p>
          <a:p>
            <a:pPr marL="12700" marR="8890" indent="149860" algn="just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162560" algn="l"/>
              </a:tabLst>
            </a:pP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8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break</a:t>
            </a:r>
            <a:r>
              <a:rPr sz="2400" spc="17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statement</a:t>
            </a:r>
            <a:r>
              <a:rPr sz="2400" spc="17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14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used</a:t>
            </a:r>
            <a:r>
              <a:rPr sz="2400" spc="15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17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an</a:t>
            </a:r>
            <a:r>
              <a:rPr sz="2400" spc="145" dirty="0">
                <a:latin typeface="Times New Roman"/>
                <a:cs typeface="Times New Roman"/>
              </a:rPr>
              <a:t>  </a:t>
            </a:r>
            <a:r>
              <a:rPr sz="2400" spc="-10" dirty="0">
                <a:latin typeface="Times New Roman"/>
                <a:cs typeface="Times New Roman"/>
              </a:rPr>
              <a:t>existing </a:t>
            </a:r>
            <a:r>
              <a:rPr sz="2400" dirty="0">
                <a:latin typeface="Times New Roman"/>
                <a:cs typeface="Times New Roman"/>
              </a:rPr>
              <a:t>statement</a:t>
            </a:r>
            <a:r>
              <a:rPr sz="2400" spc="10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1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loop,</a:t>
            </a:r>
            <a:r>
              <a:rPr sz="2400" spc="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especially</a:t>
            </a:r>
            <a:r>
              <a:rPr sz="2400" spc="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</a:t>
            </a:r>
            <a:r>
              <a:rPr sz="2400" spc="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infinite</a:t>
            </a:r>
            <a:r>
              <a:rPr sz="2400" spc="10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loop,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exit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from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it.</a:t>
            </a:r>
            <a:endParaRPr sz="2400" dirty="0">
              <a:latin typeface="Times New Roman"/>
              <a:cs typeface="Times New Roman"/>
            </a:endParaRPr>
          </a:p>
          <a:p>
            <a:pPr marL="12700" marR="5080" indent="149860" algn="just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162560" algn="l"/>
              </a:tabLst>
            </a:pPr>
            <a:r>
              <a:rPr sz="2400" dirty="0">
                <a:latin typeface="Times New Roman"/>
                <a:cs typeface="Times New Roman"/>
              </a:rPr>
              <a:t>There</a:t>
            </a:r>
            <a:r>
              <a:rPr sz="2400" spc="20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are</a:t>
            </a:r>
            <a:r>
              <a:rPr sz="2400" spc="20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3</a:t>
            </a:r>
            <a:r>
              <a:rPr sz="2400" spc="2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types</a:t>
            </a:r>
            <a:r>
              <a:rPr sz="2400" spc="229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2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Break</a:t>
            </a:r>
            <a:r>
              <a:rPr sz="2400" spc="2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Statements,</a:t>
            </a:r>
            <a:r>
              <a:rPr sz="2400" spc="204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those </a:t>
            </a:r>
            <a:r>
              <a:rPr sz="2400" dirty="0">
                <a:latin typeface="Times New Roman"/>
                <a:cs typeface="Times New Roman"/>
              </a:rPr>
              <a:t>are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"Exiting</a:t>
            </a:r>
            <a:r>
              <a:rPr sz="2400" spc="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Loop",</a:t>
            </a:r>
            <a:r>
              <a:rPr sz="2400" spc="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"As</a:t>
            </a:r>
            <a:r>
              <a:rPr sz="2400" spc="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form</a:t>
            </a:r>
            <a:r>
              <a:rPr sz="2400" spc="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Goto",</a:t>
            </a:r>
            <a:r>
              <a:rPr sz="2400" spc="6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and </a:t>
            </a:r>
            <a:r>
              <a:rPr sz="2400" dirty="0">
                <a:latin typeface="Times New Roman"/>
                <a:cs typeface="Times New Roman"/>
              </a:rPr>
              <a:t>"In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switch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case".</a:t>
            </a:r>
            <a:endParaRPr sz="2400" dirty="0"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20805" y="1215016"/>
            <a:ext cx="4486927" cy="37094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72941" y="315925"/>
            <a:ext cx="439039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Use</a:t>
            </a:r>
            <a:r>
              <a:rPr b="1" u="sng" spc="-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Break</a:t>
            </a:r>
            <a:r>
              <a:rPr b="1" u="sng" spc="-6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</a:t>
            </a:r>
            <a:r>
              <a:rPr b="1" u="sng" spc="-6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Exit</a:t>
            </a:r>
            <a:r>
              <a:rPr b="1" u="sng" spc="-1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</a:t>
            </a:r>
            <a:r>
              <a:rPr b="1" u="sng" spc="-3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b="1" u="sng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Loop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51528" y="1223517"/>
            <a:ext cx="3596004" cy="46920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latin typeface="Times New Roman"/>
                <a:cs typeface="Times New Roman"/>
              </a:rPr>
              <a:t>Eg:</a:t>
            </a:r>
            <a:endParaRPr sz="18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b="1" dirty="0">
                <a:latin typeface="Times New Roman"/>
                <a:cs typeface="Times New Roman"/>
              </a:rPr>
              <a:t>class</a:t>
            </a:r>
            <a:r>
              <a:rPr sz="1800" b="1" spc="-40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break_statement</a:t>
            </a:r>
            <a:endParaRPr sz="18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spc="-50" dirty="0">
                <a:latin typeface="Times New Roman"/>
                <a:cs typeface="Times New Roman"/>
              </a:rPr>
              <a:t>{</a:t>
            </a:r>
            <a:endParaRPr sz="1800" dirty="0">
              <a:latin typeface="Times New Roman"/>
              <a:cs typeface="Times New Roman"/>
            </a:endParaRPr>
          </a:p>
          <a:p>
            <a:pPr marL="67310">
              <a:lnSpc>
                <a:spcPct val="100000"/>
              </a:lnSpc>
              <a:spcBef>
                <a:spcPts val="5"/>
              </a:spcBef>
            </a:pPr>
            <a:r>
              <a:rPr sz="1800" b="1" dirty="0">
                <a:latin typeface="Times New Roman"/>
                <a:cs typeface="Times New Roman"/>
              </a:rPr>
              <a:t>public</a:t>
            </a:r>
            <a:r>
              <a:rPr sz="1800" b="1" spc="-3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static</a:t>
            </a:r>
            <a:r>
              <a:rPr sz="1800" b="1" spc="-2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void</a:t>
            </a:r>
            <a:r>
              <a:rPr sz="1800" b="1" spc="-5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main</a:t>
            </a:r>
            <a:r>
              <a:rPr sz="1800" dirty="0">
                <a:latin typeface="Times New Roman"/>
                <a:cs typeface="Times New Roman"/>
              </a:rPr>
              <a:t>(String[] </a:t>
            </a:r>
            <a:r>
              <a:rPr sz="1800" spc="-10" dirty="0">
                <a:latin typeface="Times New Roman"/>
                <a:cs typeface="Times New Roman"/>
              </a:rPr>
              <a:t>args)</a:t>
            </a:r>
            <a:endParaRPr sz="18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spc="-50" dirty="0">
                <a:latin typeface="Times New Roman"/>
                <a:cs typeface="Times New Roman"/>
              </a:rPr>
              <a:t>{</a:t>
            </a:r>
            <a:endParaRPr sz="1800" dirty="0">
              <a:latin typeface="Times New Roman"/>
              <a:cs typeface="Times New Roman"/>
            </a:endParaRPr>
          </a:p>
          <a:p>
            <a:pPr marL="67310">
              <a:lnSpc>
                <a:spcPct val="100000"/>
              </a:lnSpc>
            </a:pPr>
            <a:r>
              <a:rPr sz="1800" dirty="0">
                <a:latin typeface="Times New Roman"/>
                <a:cs typeface="Times New Roman"/>
              </a:rPr>
              <a:t>int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i;</a:t>
            </a:r>
            <a:endParaRPr sz="1800" dirty="0">
              <a:latin typeface="Times New Roman"/>
              <a:cs typeface="Times New Roman"/>
            </a:endParaRPr>
          </a:p>
          <a:p>
            <a:pPr marL="67310">
              <a:lnSpc>
                <a:spcPct val="100000"/>
              </a:lnSpc>
            </a:pPr>
            <a:r>
              <a:rPr sz="1800" b="1" dirty="0">
                <a:latin typeface="Times New Roman"/>
                <a:cs typeface="Times New Roman"/>
              </a:rPr>
              <a:t>for</a:t>
            </a:r>
            <a:r>
              <a:rPr sz="1800" b="1" spc="1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(</a:t>
            </a:r>
            <a:r>
              <a:rPr sz="1800" spc="-10" dirty="0" err="1" smtClean="0">
                <a:latin typeface="Times New Roman"/>
                <a:cs typeface="Times New Roman"/>
              </a:rPr>
              <a:t>i</a:t>
            </a:r>
            <a:r>
              <a:rPr sz="1800" spc="-10" dirty="0" smtClean="0">
                <a:latin typeface="Times New Roman"/>
                <a:cs typeface="Times New Roman"/>
              </a:rPr>
              <a:t>=1</a:t>
            </a:r>
            <a:r>
              <a:rPr lang="en-IN" sz="1800" spc="-10" dirty="0" smtClean="0">
                <a:latin typeface="Times New Roman"/>
                <a:cs typeface="Times New Roman"/>
              </a:rPr>
              <a:t>0</a:t>
            </a:r>
            <a:r>
              <a:rPr sz="1800" spc="-10" dirty="0" smtClean="0">
                <a:latin typeface="Times New Roman"/>
                <a:cs typeface="Times New Roman"/>
              </a:rPr>
              <a:t>;</a:t>
            </a:r>
            <a:r>
              <a:rPr sz="1800" spc="-10" dirty="0" err="1" smtClean="0">
                <a:latin typeface="Times New Roman"/>
                <a:cs typeface="Times New Roman"/>
              </a:rPr>
              <a:t>i</a:t>
            </a:r>
            <a:r>
              <a:rPr lang="en-IN" spc="-10" dirty="0" smtClean="0">
                <a:latin typeface="Times New Roman"/>
                <a:cs typeface="Times New Roman"/>
              </a:rPr>
              <a:t>&gt;</a:t>
            </a:r>
            <a:r>
              <a:rPr sz="1800" spc="-10" dirty="0" smtClean="0">
                <a:latin typeface="Times New Roman"/>
                <a:cs typeface="Times New Roman"/>
              </a:rPr>
              <a:t>=0;i</a:t>
            </a:r>
            <a:r>
              <a:rPr lang="en-IN" sz="1800" spc="-10" dirty="0" smtClean="0">
                <a:latin typeface="Times New Roman"/>
                <a:cs typeface="Times New Roman"/>
              </a:rPr>
              <a:t>--</a:t>
            </a:r>
            <a:r>
              <a:rPr sz="1800" spc="-10" dirty="0" smtClean="0">
                <a:latin typeface="Times New Roman"/>
                <a:cs typeface="Times New Roman"/>
              </a:rPr>
              <a:t>)</a:t>
            </a:r>
            <a:endParaRPr sz="18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spc="-50" dirty="0">
                <a:latin typeface="Times New Roman"/>
                <a:cs typeface="Times New Roman"/>
              </a:rPr>
              <a:t>{</a:t>
            </a:r>
            <a:endParaRPr sz="1800" dirty="0">
              <a:latin typeface="Times New Roman"/>
              <a:cs typeface="Times New Roman"/>
            </a:endParaRPr>
          </a:p>
          <a:p>
            <a:pPr marL="67310">
              <a:lnSpc>
                <a:spcPct val="100000"/>
              </a:lnSpc>
            </a:pPr>
            <a:r>
              <a:rPr sz="1800" b="1" dirty="0">
                <a:latin typeface="Times New Roman"/>
                <a:cs typeface="Times New Roman"/>
              </a:rPr>
              <a:t>if</a:t>
            </a:r>
            <a:r>
              <a:rPr sz="1800" b="1" spc="1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(i==5)</a:t>
            </a:r>
            <a:endParaRPr sz="1800" dirty="0">
              <a:latin typeface="Times New Roman"/>
              <a:cs typeface="Times New Roman"/>
            </a:endParaRPr>
          </a:p>
          <a:p>
            <a:pPr marL="67310">
              <a:lnSpc>
                <a:spcPct val="100000"/>
              </a:lnSpc>
            </a:pPr>
            <a:r>
              <a:rPr sz="1800" spc="-50" dirty="0">
                <a:latin typeface="Times New Roman"/>
                <a:cs typeface="Times New Roman"/>
              </a:rPr>
              <a:t>{</a:t>
            </a:r>
            <a:endParaRPr sz="1800" dirty="0">
              <a:latin typeface="Times New Roman"/>
              <a:cs typeface="Times New Roman"/>
            </a:endParaRPr>
          </a:p>
          <a:p>
            <a:pPr marL="67310">
              <a:lnSpc>
                <a:spcPct val="100000"/>
              </a:lnSpc>
              <a:spcBef>
                <a:spcPts val="5"/>
              </a:spcBef>
            </a:pPr>
            <a:r>
              <a:rPr sz="1800" b="1" spc="-10" dirty="0">
                <a:latin typeface="Times New Roman"/>
                <a:cs typeface="Times New Roman"/>
              </a:rPr>
              <a:t>break</a:t>
            </a:r>
            <a:r>
              <a:rPr sz="1800" spc="-10" dirty="0">
                <a:latin typeface="Times New Roman"/>
                <a:cs typeface="Times New Roman"/>
              </a:rPr>
              <a:t>;</a:t>
            </a:r>
            <a:endParaRPr sz="18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spc="-50" dirty="0">
                <a:latin typeface="Times New Roman"/>
                <a:cs typeface="Times New Roman"/>
              </a:rPr>
              <a:t>}</a:t>
            </a:r>
            <a:endParaRPr sz="1800" dirty="0">
              <a:latin typeface="Times New Roman"/>
              <a:cs typeface="Times New Roman"/>
            </a:endParaRPr>
          </a:p>
          <a:p>
            <a:pPr marL="67310">
              <a:lnSpc>
                <a:spcPct val="100000"/>
              </a:lnSpc>
            </a:pPr>
            <a:r>
              <a:rPr sz="1800" b="1" spc="-20" dirty="0">
                <a:latin typeface="Times New Roman"/>
                <a:cs typeface="Times New Roman"/>
              </a:rPr>
              <a:t>else</a:t>
            </a:r>
            <a:endParaRPr sz="1800" dirty="0">
              <a:latin typeface="Times New Roman"/>
              <a:cs typeface="Times New Roman"/>
            </a:endParaRPr>
          </a:p>
          <a:p>
            <a:pPr marL="67310">
              <a:lnSpc>
                <a:spcPct val="100000"/>
              </a:lnSpc>
              <a:spcBef>
                <a:spcPts val="5"/>
              </a:spcBef>
            </a:pPr>
            <a:r>
              <a:rPr sz="1800" spc="-50" dirty="0">
                <a:latin typeface="Times New Roman"/>
                <a:cs typeface="Times New Roman"/>
              </a:rPr>
              <a:t>{</a:t>
            </a:r>
            <a:endParaRPr sz="1800" dirty="0">
              <a:latin typeface="Times New Roman"/>
              <a:cs typeface="Times New Roman"/>
            </a:endParaRPr>
          </a:p>
          <a:p>
            <a:pPr marL="67310">
              <a:lnSpc>
                <a:spcPct val="100000"/>
              </a:lnSpc>
            </a:pPr>
            <a:r>
              <a:rPr sz="1800" spc="-10" dirty="0">
                <a:latin typeface="Times New Roman"/>
                <a:cs typeface="Times New Roman"/>
              </a:rPr>
              <a:t>System.out.println(i);</a:t>
            </a:r>
            <a:endParaRPr sz="18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spc="-50" dirty="0">
                <a:latin typeface="Times New Roman"/>
                <a:cs typeface="Times New Roman"/>
              </a:rPr>
              <a:t>}</a:t>
            </a:r>
            <a:endParaRPr sz="1800" dirty="0">
              <a:latin typeface="Times New Roman"/>
              <a:cs typeface="Times New Roman"/>
            </a:endParaRPr>
          </a:p>
          <a:p>
            <a:pPr marL="6731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Times New Roman"/>
                <a:cs typeface="Times New Roman"/>
              </a:rPr>
              <a:t>}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spc="-50" dirty="0">
                <a:latin typeface="Times New Roman"/>
                <a:cs typeface="Times New Roman"/>
              </a:rPr>
              <a:t>}</a:t>
            </a:r>
            <a:endParaRPr sz="1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75709" y="361949"/>
            <a:ext cx="4077335" cy="453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8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Use</a:t>
            </a:r>
            <a:r>
              <a:rPr sz="2800" b="1" u="sng" spc="-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Break</a:t>
            </a:r>
            <a:r>
              <a:rPr sz="2800" b="1" u="sng" spc="-8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in</a:t>
            </a:r>
            <a:r>
              <a:rPr sz="2800" b="1" u="sng" spc="-4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</a:t>
            </a:r>
            <a:r>
              <a:rPr sz="2800" b="1" u="sng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Switch</a:t>
            </a:r>
            <a:r>
              <a:rPr sz="2800" b="1" u="sng" spc="-8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u="sng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case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715003" y="1062304"/>
            <a:ext cx="5698490" cy="49669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class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Switch_Case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spc="-50" dirty="0">
                <a:latin typeface="Times New Roman"/>
                <a:cs typeface="Times New Roman"/>
              </a:rPr>
              <a:t>{</a:t>
            </a:r>
            <a:endParaRPr sz="1800">
              <a:latin typeface="Times New Roman"/>
              <a:cs typeface="Times New Roman"/>
            </a:endParaRPr>
          </a:p>
          <a:p>
            <a:pPr marL="127000">
              <a:lnSpc>
                <a:spcPct val="100000"/>
              </a:lnSpc>
            </a:pPr>
            <a:r>
              <a:rPr sz="1800" dirty="0">
                <a:latin typeface="Times New Roman"/>
                <a:cs typeface="Times New Roman"/>
              </a:rPr>
              <a:t>public static</a:t>
            </a:r>
            <a:r>
              <a:rPr sz="1800" spc="-8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void</a:t>
            </a:r>
            <a:r>
              <a:rPr sz="1800" spc="-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main(String[]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args)</a:t>
            </a:r>
            <a:endParaRPr sz="1800">
              <a:latin typeface="Times New Roman"/>
              <a:cs typeface="Times New Roman"/>
            </a:endParaRPr>
          </a:p>
          <a:p>
            <a:pPr marL="127000">
              <a:lnSpc>
                <a:spcPct val="100000"/>
              </a:lnSpc>
            </a:pPr>
            <a:r>
              <a:rPr sz="1800" spc="-50" dirty="0">
                <a:latin typeface="Times New Roman"/>
                <a:cs typeface="Times New Roman"/>
              </a:rPr>
              <a:t>{</a:t>
            </a:r>
            <a:endParaRPr sz="18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Times New Roman"/>
                <a:cs typeface="Times New Roman"/>
              </a:rPr>
              <a:t>char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=</a:t>
            </a:r>
            <a:r>
              <a:rPr sz="1800" spc="-20" dirty="0">
                <a:latin typeface="Times New Roman"/>
                <a:cs typeface="Times New Roman"/>
              </a:rPr>
              <a:t> 'C';</a:t>
            </a:r>
            <a:endParaRPr sz="18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</a:pPr>
            <a:r>
              <a:rPr sz="1800" dirty="0">
                <a:latin typeface="Times New Roman"/>
                <a:cs typeface="Times New Roman"/>
              </a:rPr>
              <a:t>switch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(a)</a:t>
            </a:r>
            <a:endParaRPr sz="18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</a:pPr>
            <a:r>
              <a:rPr sz="1800" spc="-50" dirty="0">
                <a:latin typeface="Times New Roman"/>
                <a:cs typeface="Times New Roman"/>
              </a:rPr>
              <a:t>{</a:t>
            </a:r>
            <a:endParaRPr sz="1800">
              <a:latin typeface="Times New Roman"/>
              <a:cs typeface="Times New Roman"/>
            </a:endParaRPr>
          </a:p>
          <a:p>
            <a:pPr marL="355600">
              <a:lnSpc>
                <a:spcPct val="100000"/>
              </a:lnSpc>
            </a:pPr>
            <a:r>
              <a:rPr sz="1800" dirty="0">
                <a:latin typeface="Times New Roman"/>
                <a:cs typeface="Times New Roman"/>
              </a:rPr>
              <a:t>case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'A':</a:t>
            </a:r>
            <a:endParaRPr sz="18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spcBef>
                <a:spcPts val="5"/>
              </a:spcBef>
            </a:pPr>
            <a:r>
              <a:rPr sz="1800" spc="-10" dirty="0">
                <a:latin typeface="Times New Roman"/>
                <a:cs typeface="Times New Roman"/>
              </a:rPr>
              <a:t>System.out.println("Letter</a:t>
            </a:r>
            <a:r>
              <a:rPr sz="1800" spc="4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A");</a:t>
            </a:r>
            <a:endParaRPr sz="18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</a:pPr>
            <a:r>
              <a:rPr sz="1800" dirty="0">
                <a:latin typeface="Times New Roman"/>
                <a:cs typeface="Times New Roman"/>
              </a:rPr>
              <a:t>break;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//break</a:t>
            </a:r>
            <a:r>
              <a:rPr sz="1800" spc="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statement</a:t>
            </a:r>
            <a:r>
              <a:rPr sz="1800" spc="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-8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come</a:t>
            </a:r>
            <a:r>
              <a:rPr sz="1800" spc="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out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switch</a:t>
            </a:r>
            <a:endParaRPr sz="1800">
              <a:latin typeface="Times New Roman"/>
              <a:cs typeface="Times New Roman"/>
            </a:endParaRPr>
          </a:p>
          <a:p>
            <a:pPr marL="469900" marR="2369820" indent="-114300">
              <a:lnSpc>
                <a:spcPct val="100000"/>
              </a:lnSpc>
            </a:pPr>
            <a:r>
              <a:rPr sz="1800" dirty="0">
                <a:latin typeface="Times New Roman"/>
                <a:cs typeface="Times New Roman"/>
              </a:rPr>
              <a:t>case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'C': </a:t>
            </a:r>
            <a:r>
              <a:rPr sz="1800" spc="-10" dirty="0">
                <a:latin typeface="Times New Roman"/>
                <a:cs typeface="Times New Roman"/>
              </a:rPr>
              <a:t>System.out.println("Letter</a:t>
            </a:r>
            <a:r>
              <a:rPr sz="1800" spc="15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C"); </a:t>
            </a:r>
            <a:r>
              <a:rPr sz="1800" spc="-10" dirty="0">
                <a:latin typeface="Times New Roman"/>
                <a:cs typeface="Times New Roman"/>
              </a:rPr>
              <a:t>break;</a:t>
            </a:r>
            <a:endParaRPr sz="1800">
              <a:latin typeface="Times New Roman"/>
              <a:cs typeface="Times New Roman"/>
            </a:endParaRPr>
          </a:p>
          <a:p>
            <a:pPr marL="355600">
              <a:lnSpc>
                <a:spcPct val="100000"/>
              </a:lnSpc>
              <a:spcBef>
                <a:spcPts val="5"/>
              </a:spcBef>
            </a:pPr>
            <a:r>
              <a:rPr sz="1800" spc="-10" dirty="0">
                <a:latin typeface="Times New Roman"/>
                <a:cs typeface="Times New Roman"/>
              </a:rPr>
              <a:t>default:</a:t>
            </a:r>
            <a:endParaRPr sz="18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spcBef>
                <a:spcPts val="5"/>
              </a:spcBef>
            </a:pPr>
            <a:r>
              <a:rPr sz="1800" spc="-10" dirty="0">
                <a:latin typeface="Times New Roman"/>
                <a:cs typeface="Times New Roman"/>
              </a:rPr>
              <a:t>System.out.println("Default</a:t>
            </a:r>
            <a:r>
              <a:rPr sz="1800" spc="1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case:</a:t>
            </a:r>
            <a:r>
              <a:rPr sz="1800" spc="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NO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Letter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Matched!");</a:t>
            </a:r>
            <a:endParaRPr sz="18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</a:pPr>
            <a:r>
              <a:rPr sz="1800" spc="-50" dirty="0">
                <a:latin typeface="Times New Roman"/>
                <a:cs typeface="Times New Roman"/>
              </a:rPr>
              <a:t>}</a:t>
            </a:r>
            <a:endParaRPr sz="1800">
              <a:latin typeface="Times New Roman"/>
              <a:cs typeface="Times New Roman"/>
            </a:endParaRPr>
          </a:p>
          <a:p>
            <a:pPr marL="127000">
              <a:lnSpc>
                <a:spcPct val="100000"/>
              </a:lnSpc>
            </a:pPr>
            <a:r>
              <a:rPr sz="1800" spc="-50" dirty="0">
                <a:latin typeface="Times New Roman"/>
                <a:cs typeface="Times New Roman"/>
              </a:rPr>
              <a:t>}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spc="-50" dirty="0">
                <a:latin typeface="Times New Roman"/>
                <a:cs typeface="Times New Roman"/>
              </a:rPr>
              <a:t>}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00400" y="457200"/>
            <a:ext cx="10710113" cy="492443"/>
          </a:xfrm>
        </p:spPr>
        <p:txBody>
          <a:bodyPr/>
          <a:lstStyle/>
          <a:p>
            <a:r>
              <a:rPr lang="en-US" b="1" u="sng" dirty="0">
                <a:uFill>
                  <a:solidFill>
                    <a:srgbClr val="000000"/>
                  </a:solidFill>
                </a:uFill>
              </a:rPr>
              <a:t>Use</a:t>
            </a:r>
            <a:r>
              <a:rPr lang="en-US" b="1" u="sng" spc="-25" dirty="0">
                <a:uFill>
                  <a:solidFill>
                    <a:srgbClr val="000000"/>
                  </a:solidFill>
                </a:uFill>
              </a:rPr>
              <a:t> </a:t>
            </a:r>
            <a:r>
              <a:rPr lang="en-US" b="1" u="sng" dirty="0">
                <a:uFill>
                  <a:solidFill>
                    <a:srgbClr val="000000"/>
                  </a:solidFill>
                </a:uFill>
              </a:rPr>
              <a:t>Break</a:t>
            </a:r>
            <a:r>
              <a:rPr lang="en-US" b="1" u="sng" spc="-85" dirty="0">
                <a:uFill>
                  <a:solidFill>
                    <a:srgbClr val="000000"/>
                  </a:solidFill>
                </a:uFill>
              </a:rPr>
              <a:t> </a:t>
            </a:r>
            <a:r>
              <a:rPr lang="en-US" b="1" u="sng" dirty="0">
                <a:uFill>
                  <a:solidFill>
                    <a:srgbClr val="000000"/>
                  </a:solidFill>
                </a:uFill>
              </a:rPr>
              <a:t>in</a:t>
            </a:r>
            <a:r>
              <a:rPr lang="en-US" b="1" u="sng" spc="-45" dirty="0">
                <a:uFill>
                  <a:solidFill>
                    <a:srgbClr val="000000"/>
                  </a:solidFill>
                </a:uFill>
              </a:rPr>
              <a:t> </a:t>
            </a:r>
            <a:r>
              <a:rPr lang="en-US" b="1" u="sng" dirty="0" smtClean="0">
                <a:uFill>
                  <a:solidFill>
                    <a:srgbClr val="000000"/>
                  </a:solidFill>
                </a:uFill>
              </a:rPr>
              <a:t>as </a:t>
            </a:r>
            <a:r>
              <a:rPr lang="en-US" b="1" u="sng" dirty="0" err="1" smtClean="0">
                <a:uFill>
                  <a:solidFill>
                    <a:srgbClr val="000000"/>
                  </a:solidFill>
                </a:uFill>
              </a:rPr>
              <a:t>GoTo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71800" y="1905000"/>
            <a:ext cx="7105015" cy="3662541"/>
          </a:xfrm>
        </p:spPr>
        <p:txBody>
          <a:bodyPr/>
          <a:lstStyle/>
          <a:p>
            <a:r>
              <a:rPr lang="en-IN" b="0" dirty="0"/>
              <a:t>public class </a:t>
            </a:r>
            <a:r>
              <a:rPr lang="en-IN" b="0" dirty="0" err="1"/>
              <a:t>BreakAsGoto</a:t>
            </a:r>
            <a:r>
              <a:rPr lang="en-IN" b="0" dirty="0"/>
              <a:t> {</a:t>
            </a:r>
          </a:p>
          <a:p>
            <a:r>
              <a:rPr lang="en-IN" b="0" dirty="0"/>
              <a:t>    public static void main(String[] </a:t>
            </a:r>
            <a:r>
              <a:rPr lang="en-IN" b="0" dirty="0" err="1"/>
              <a:t>args</a:t>
            </a:r>
            <a:r>
              <a:rPr lang="en-IN" b="0" dirty="0"/>
              <a:t>) {</a:t>
            </a:r>
          </a:p>
          <a:p>
            <a:r>
              <a:rPr lang="en-IN" b="0" dirty="0"/>
              <a:t>        </a:t>
            </a:r>
            <a:r>
              <a:rPr lang="en-IN" b="0" dirty="0" err="1"/>
              <a:t>outerLoop</a:t>
            </a:r>
            <a:r>
              <a:rPr lang="en-IN" b="0" dirty="0"/>
              <a:t>:  // this is a label</a:t>
            </a:r>
          </a:p>
          <a:p>
            <a:r>
              <a:rPr lang="en-IN" b="0" dirty="0"/>
              <a:t>        for (</a:t>
            </a:r>
            <a:r>
              <a:rPr lang="en-IN" b="0" dirty="0" err="1"/>
              <a:t>int</a:t>
            </a:r>
            <a:r>
              <a:rPr lang="en-IN" b="0" dirty="0"/>
              <a:t> </a:t>
            </a:r>
            <a:r>
              <a:rPr lang="en-IN" b="0" dirty="0" err="1"/>
              <a:t>i</a:t>
            </a:r>
            <a:r>
              <a:rPr lang="en-IN" b="0" dirty="0"/>
              <a:t> = 1; </a:t>
            </a:r>
            <a:r>
              <a:rPr lang="en-IN" b="0" dirty="0" err="1"/>
              <a:t>i</a:t>
            </a:r>
            <a:r>
              <a:rPr lang="en-IN" b="0" dirty="0"/>
              <a:t> &lt;= 3; </a:t>
            </a:r>
            <a:r>
              <a:rPr lang="en-IN" b="0" dirty="0" err="1"/>
              <a:t>i</a:t>
            </a:r>
            <a:r>
              <a:rPr lang="en-IN" b="0" dirty="0"/>
              <a:t>++) </a:t>
            </a:r>
            <a:r>
              <a:rPr lang="en-IN" b="0" dirty="0" smtClean="0"/>
              <a:t>{</a:t>
            </a:r>
            <a:endParaRPr lang="en-IN" b="0" dirty="0"/>
          </a:p>
          <a:p>
            <a:r>
              <a:rPr lang="en-IN" b="0" dirty="0"/>
              <a:t>            for (</a:t>
            </a:r>
            <a:r>
              <a:rPr lang="en-IN" b="0" dirty="0" err="1"/>
              <a:t>int</a:t>
            </a:r>
            <a:r>
              <a:rPr lang="en-IN" b="0" dirty="0"/>
              <a:t> j = 1; j &lt;= 3; </a:t>
            </a:r>
            <a:r>
              <a:rPr lang="en-IN" b="0" dirty="0" err="1"/>
              <a:t>j++</a:t>
            </a:r>
            <a:r>
              <a:rPr lang="en-IN" b="0" dirty="0"/>
              <a:t>) {</a:t>
            </a:r>
          </a:p>
          <a:p>
            <a:r>
              <a:rPr lang="en-IN" b="0" dirty="0"/>
              <a:t>                </a:t>
            </a:r>
            <a:r>
              <a:rPr lang="en-IN" b="0" dirty="0" err="1"/>
              <a:t>System.out.println</a:t>
            </a:r>
            <a:r>
              <a:rPr lang="en-IN" b="0" dirty="0"/>
              <a:t>("</a:t>
            </a:r>
            <a:r>
              <a:rPr lang="en-IN" b="0" dirty="0" err="1"/>
              <a:t>i</a:t>
            </a:r>
            <a:r>
              <a:rPr lang="en-IN" b="0" dirty="0"/>
              <a:t>=" + </a:t>
            </a:r>
            <a:r>
              <a:rPr lang="en-IN" b="0" dirty="0" err="1"/>
              <a:t>i</a:t>
            </a:r>
            <a:r>
              <a:rPr lang="en-IN" b="0" dirty="0"/>
              <a:t> + ", j=" + j);</a:t>
            </a:r>
          </a:p>
          <a:p>
            <a:r>
              <a:rPr lang="en-IN" b="0" dirty="0"/>
              <a:t>                if (</a:t>
            </a:r>
            <a:r>
              <a:rPr lang="en-IN" b="0" dirty="0" err="1"/>
              <a:t>i</a:t>
            </a:r>
            <a:r>
              <a:rPr lang="en-IN" b="0" dirty="0"/>
              <a:t> == 2 &amp;&amp; j == 2) {</a:t>
            </a:r>
          </a:p>
          <a:p>
            <a:r>
              <a:rPr lang="en-IN" b="0" dirty="0"/>
              <a:t>                    break </a:t>
            </a:r>
            <a:r>
              <a:rPr lang="en-IN" b="0" dirty="0" err="1"/>
              <a:t>outerLoop</a:t>
            </a:r>
            <a:r>
              <a:rPr lang="en-IN" b="0" dirty="0"/>
              <a:t>; // acts like a </a:t>
            </a:r>
            <a:r>
              <a:rPr lang="en-IN" b="0" dirty="0" err="1"/>
              <a:t>goto</a:t>
            </a:r>
            <a:r>
              <a:rPr lang="en-IN" b="0" dirty="0"/>
              <a:t> to jump out of both loops</a:t>
            </a:r>
          </a:p>
          <a:p>
            <a:r>
              <a:rPr lang="en-IN" b="0" dirty="0"/>
              <a:t>                }</a:t>
            </a:r>
          </a:p>
          <a:p>
            <a:r>
              <a:rPr lang="en-IN" b="0" dirty="0"/>
              <a:t>            }</a:t>
            </a:r>
          </a:p>
          <a:p>
            <a:r>
              <a:rPr lang="en-IN" b="0" dirty="0"/>
              <a:t>        }</a:t>
            </a:r>
          </a:p>
          <a:p>
            <a:r>
              <a:rPr lang="en-IN" b="0" dirty="0"/>
              <a:t>        </a:t>
            </a:r>
            <a:r>
              <a:rPr lang="en-IN" b="0" dirty="0" err="1"/>
              <a:t>System.out.println</a:t>
            </a:r>
            <a:r>
              <a:rPr lang="en-IN" b="0" dirty="0"/>
              <a:t>("Exited both loops using labelled break.");</a:t>
            </a:r>
          </a:p>
          <a:p>
            <a:r>
              <a:rPr lang="en-IN" b="0" dirty="0"/>
              <a:t>    }</a:t>
            </a:r>
          </a:p>
          <a:p>
            <a:r>
              <a:rPr lang="en-IN" b="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4635905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57555" y="2032203"/>
            <a:ext cx="6533515" cy="359156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700" marR="8255" indent="149860">
              <a:lnSpc>
                <a:spcPts val="3100"/>
              </a:lnSpc>
              <a:spcBef>
                <a:spcPts val="215"/>
              </a:spcBef>
              <a:buSzPct val="92307"/>
              <a:buFont typeface="Arial MT"/>
              <a:buChar char="•"/>
              <a:tabLst>
                <a:tab pos="162560" algn="l"/>
                <a:tab pos="1045844" algn="l"/>
                <a:tab pos="2555240" algn="l"/>
                <a:tab pos="4192904" algn="l"/>
                <a:tab pos="4828540" algn="l"/>
                <a:tab pos="5784215" algn="l"/>
              </a:tabLst>
            </a:pPr>
            <a:r>
              <a:rPr sz="2600" spc="-25" dirty="0">
                <a:latin typeface="Times New Roman"/>
                <a:cs typeface="Times New Roman"/>
              </a:rPr>
              <a:t>The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10" dirty="0">
                <a:latin typeface="Times New Roman"/>
                <a:cs typeface="Times New Roman"/>
              </a:rPr>
              <a:t>continue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10" dirty="0">
                <a:latin typeface="Times New Roman"/>
                <a:cs typeface="Times New Roman"/>
              </a:rPr>
              <a:t>statement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25" dirty="0">
                <a:latin typeface="Times New Roman"/>
                <a:cs typeface="Times New Roman"/>
              </a:rPr>
              <a:t>in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20" dirty="0">
                <a:latin typeface="Times New Roman"/>
                <a:cs typeface="Times New Roman"/>
              </a:rPr>
              <a:t>Java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10" dirty="0">
                <a:latin typeface="Times New Roman"/>
                <a:cs typeface="Times New Roman"/>
              </a:rPr>
              <a:t>never </a:t>
            </a:r>
            <a:r>
              <a:rPr sz="2600" dirty="0">
                <a:latin typeface="Times New Roman"/>
                <a:cs typeface="Times New Roman"/>
              </a:rPr>
              <a:t>terminates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-1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execution</a:t>
            </a:r>
            <a:r>
              <a:rPr sz="2600" spc="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of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any</a:t>
            </a:r>
            <a:r>
              <a:rPr sz="2600" spc="-114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loops.</a:t>
            </a:r>
            <a:endParaRPr sz="2600">
              <a:latin typeface="Times New Roman"/>
              <a:cs typeface="Times New Roman"/>
            </a:endParaRPr>
          </a:p>
          <a:p>
            <a:pPr marL="162560" indent="-149860">
              <a:lnSpc>
                <a:spcPts val="3035"/>
              </a:lnSpc>
              <a:buSzPct val="92307"/>
              <a:buFont typeface="Arial MT"/>
              <a:buChar char="•"/>
              <a:tabLst>
                <a:tab pos="162560" algn="l"/>
              </a:tabLst>
            </a:pPr>
            <a:r>
              <a:rPr sz="2600" dirty="0">
                <a:latin typeface="Times New Roman"/>
                <a:cs typeface="Times New Roman"/>
              </a:rPr>
              <a:t>It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can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only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work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inside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"loop </a:t>
            </a:r>
            <a:r>
              <a:rPr sz="2600" spc="-10" dirty="0">
                <a:latin typeface="Times New Roman"/>
                <a:cs typeface="Times New Roman"/>
              </a:rPr>
              <a:t>statement".</a:t>
            </a:r>
            <a:endParaRPr sz="2600">
              <a:latin typeface="Times New Roman"/>
              <a:cs typeface="Times New Roman"/>
            </a:endParaRPr>
          </a:p>
          <a:p>
            <a:pPr marL="12700" marR="8890" indent="149860">
              <a:lnSpc>
                <a:spcPts val="3100"/>
              </a:lnSpc>
              <a:spcBef>
                <a:spcPts val="130"/>
              </a:spcBef>
              <a:buSzPct val="92307"/>
              <a:buFont typeface="Arial MT"/>
              <a:buChar char="•"/>
              <a:tabLst>
                <a:tab pos="162560" algn="l"/>
              </a:tabLst>
            </a:pP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10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primary</a:t>
            </a:r>
            <a:r>
              <a:rPr sz="2600" spc="10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job</a:t>
            </a:r>
            <a:r>
              <a:rPr sz="2600" spc="16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of</a:t>
            </a:r>
            <a:r>
              <a:rPr sz="2600" spc="1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10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"Continue</a:t>
            </a:r>
            <a:r>
              <a:rPr sz="2600" spc="1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statement"</a:t>
            </a:r>
            <a:r>
              <a:rPr sz="2600" spc="160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Times New Roman"/>
                <a:cs typeface="Times New Roman"/>
              </a:rPr>
              <a:t>is </a:t>
            </a: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iteration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of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that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specific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loop.</a:t>
            </a:r>
            <a:endParaRPr sz="2600">
              <a:latin typeface="Times New Roman"/>
              <a:cs typeface="Times New Roman"/>
            </a:endParaRPr>
          </a:p>
          <a:p>
            <a:pPr marL="12700" marR="5080" indent="149860">
              <a:lnSpc>
                <a:spcPts val="3130"/>
              </a:lnSpc>
              <a:spcBef>
                <a:spcPts val="10"/>
              </a:spcBef>
              <a:buSzPct val="92307"/>
              <a:buFont typeface="Arial MT"/>
              <a:buChar char="•"/>
              <a:tabLst>
                <a:tab pos="162560" algn="l"/>
              </a:tabLst>
            </a:pPr>
            <a:r>
              <a:rPr sz="2600" dirty="0">
                <a:latin typeface="Times New Roman"/>
                <a:cs typeface="Times New Roman"/>
              </a:rPr>
              <a:t>Continue</a:t>
            </a:r>
            <a:r>
              <a:rPr sz="2600" spc="8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statement</a:t>
            </a:r>
            <a:r>
              <a:rPr sz="2600" spc="1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assists</a:t>
            </a:r>
            <a:r>
              <a:rPr sz="2600" spc="1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9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bypass</a:t>
            </a:r>
            <a:r>
              <a:rPr sz="2600" spc="1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of</a:t>
            </a:r>
            <a:r>
              <a:rPr sz="2600" spc="9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all</a:t>
            </a:r>
            <a:r>
              <a:rPr sz="2600" spc="100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Times New Roman"/>
                <a:cs typeface="Times New Roman"/>
              </a:rPr>
              <a:t>the </a:t>
            </a:r>
            <a:r>
              <a:rPr sz="2600" dirty="0">
                <a:latin typeface="Times New Roman"/>
                <a:cs typeface="Times New Roman"/>
              </a:rPr>
              <a:t>other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statements</a:t>
            </a:r>
            <a:r>
              <a:rPr sz="2600" spc="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by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making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them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fall</a:t>
            </a:r>
            <a:r>
              <a:rPr sz="2600" spc="-10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under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Times New Roman"/>
                <a:cs typeface="Times New Roman"/>
              </a:rPr>
              <a:t>it.</a:t>
            </a:r>
            <a:endParaRPr sz="2600">
              <a:latin typeface="Times New Roman"/>
              <a:cs typeface="Times New Roman"/>
            </a:endParaRPr>
          </a:p>
          <a:p>
            <a:pPr marL="162560" indent="-149860">
              <a:lnSpc>
                <a:spcPts val="2995"/>
              </a:lnSpc>
              <a:buSzPct val="92307"/>
              <a:buFont typeface="Arial MT"/>
              <a:buChar char="•"/>
              <a:tabLst>
                <a:tab pos="162560" algn="l"/>
              </a:tabLst>
            </a:pP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1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nature</a:t>
            </a:r>
            <a:r>
              <a:rPr sz="2600" spc="1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of</a:t>
            </a:r>
            <a:r>
              <a:rPr sz="2600" spc="1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114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Continue</a:t>
            </a:r>
            <a:r>
              <a:rPr sz="2600" spc="10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statement</a:t>
            </a:r>
            <a:r>
              <a:rPr sz="2600" spc="15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is</a:t>
            </a:r>
            <a:r>
              <a:rPr sz="2600" spc="1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to</a:t>
            </a:r>
            <a:r>
              <a:rPr sz="2600" spc="110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Times New Roman"/>
                <a:cs typeface="Times New Roman"/>
              </a:rPr>
              <a:t>skip</a:t>
            </a:r>
            <a:endParaRPr sz="2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current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iteration</a:t>
            </a:r>
            <a:r>
              <a:rPr sz="2600" spc="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and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force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for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next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Times New Roman"/>
                <a:cs typeface="Times New Roman"/>
              </a:rPr>
              <a:t>one</a:t>
            </a:r>
            <a:endParaRPr sz="26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80122" y="1362455"/>
            <a:ext cx="3732757" cy="4590288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69697" rIns="0" bIns="0" rtlCol="0">
            <a:spAutoFit/>
          </a:bodyPr>
          <a:lstStyle/>
          <a:p>
            <a:pPr marL="3445510">
              <a:lnSpc>
                <a:spcPct val="100000"/>
              </a:lnSpc>
              <a:spcBef>
                <a:spcPts val="100"/>
              </a:spcBef>
            </a:pPr>
            <a:r>
              <a:rPr sz="36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Continue</a:t>
            </a:r>
            <a:r>
              <a:rPr sz="3600" b="1" u="sng" spc="-5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statement</a:t>
            </a:r>
            <a:endParaRPr sz="36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38147" y="638378"/>
            <a:ext cx="6322695" cy="5151755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2400" dirty="0">
                <a:latin typeface="Times New Roman"/>
                <a:cs typeface="Times New Roman"/>
              </a:rPr>
              <a:t>Example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imes New Roman"/>
                <a:cs typeface="Times New Roman"/>
              </a:rPr>
              <a:t>: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Times New Roman"/>
                <a:cs typeface="Times New Roman"/>
              </a:rPr>
              <a:t>class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continue_statement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spc="-50" dirty="0">
                <a:latin typeface="Times New Roman"/>
                <a:cs typeface="Times New Roman"/>
              </a:rPr>
              <a:t>{</a:t>
            </a:r>
            <a:endParaRPr sz="2400">
              <a:latin typeface="Times New Roman"/>
              <a:cs typeface="Times New Roman"/>
            </a:endParaRPr>
          </a:p>
          <a:p>
            <a:pPr marL="90170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public</a:t>
            </a:r>
            <a:r>
              <a:rPr sz="2400" spc="-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static</a:t>
            </a:r>
            <a:r>
              <a:rPr sz="2400" spc="-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void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main(String[]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args)</a:t>
            </a:r>
            <a:endParaRPr sz="2400">
              <a:latin typeface="Times New Roman"/>
              <a:cs typeface="Times New Roman"/>
            </a:endParaRPr>
          </a:p>
          <a:p>
            <a:pPr marL="163195">
              <a:lnSpc>
                <a:spcPct val="100000"/>
              </a:lnSpc>
            </a:pPr>
            <a:r>
              <a:rPr sz="2400" spc="-50" dirty="0">
                <a:latin typeface="Times New Roman"/>
                <a:cs typeface="Times New Roman"/>
              </a:rPr>
              <a:t>{</a:t>
            </a:r>
            <a:endParaRPr sz="24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Times New Roman"/>
                <a:cs typeface="Times New Roman"/>
              </a:rPr>
              <a:t>for(int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i=0;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i&lt;=10;i++)</a:t>
            </a:r>
            <a:endParaRPr sz="2400">
              <a:latin typeface="Times New Roman"/>
              <a:cs typeface="Times New Roman"/>
            </a:endParaRPr>
          </a:p>
          <a:p>
            <a:pPr marL="318770">
              <a:lnSpc>
                <a:spcPct val="100000"/>
              </a:lnSpc>
            </a:pPr>
            <a:r>
              <a:rPr sz="2400" spc="-50" dirty="0">
                <a:latin typeface="Times New Roman"/>
                <a:cs typeface="Times New Roman"/>
              </a:rPr>
              <a:t>{</a:t>
            </a:r>
            <a:endParaRPr sz="2400">
              <a:latin typeface="Times New Roman"/>
              <a:cs typeface="Times New Roman"/>
            </a:endParaRPr>
          </a:p>
          <a:p>
            <a:pPr marL="391795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if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(i&lt;3)</a:t>
            </a:r>
            <a:endParaRPr sz="24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spcBef>
                <a:spcPts val="5"/>
              </a:spcBef>
            </a:pPr>
            <a:r>
              <a:rPr sz="2400" spc="-50" dirty="0">
                <a:latin typeface="Times New Roman"/>
                <a:cs typeface="Times New Roman"/>
              </a:rPr>
              <a:t>{</a:t>
            </a:r>
            <a:endParaRPr sz="2400">
              <a:latin typeface="Times New Roman"/>
              <a:cs typeface="Times New Roman"/>
            </a:endParaRPr>
          </a:p>
          <a:p>
            <a:pPr marL="547370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Continue;</a:t>
            </a:r>
            <a:r>
              <a:rPr sz="2400" spc="-1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//continues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10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goes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next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iteration</a:t>
            </a:r>
            <a:endParaRPr sz="24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spcBef>
                <a:spcPts val="5"/>
              </a:spcBef>
            </a:pPr>
            <a:r>
              <a:rPr sz="2400" spc="-50" dirty="0">
                <a:latin typeface="Times New Roman"/>
                <a:cs typeface="Times New Roman"/>
              </a:rPr>
              <a:t>}</a:t>
            </a:r>
            <a:endParaRPr sz="2400">
              <a:latin typeface="Times New Roman"/>
              <a:cs typeface="Times New Roman"/>
            </a:endParaRPr>
          </a:p>
          <a:p>
            <a:pPr marL="391795">
              <a:lnSpc>
                <a:spcPct val="100000"/>
              </a:lnSpc>
            </a:pPr>
            <a:r>
              <a:rPr sz="2400" spc="-10" dirty="0">
                <a:latin typeface="Times New Roman"/>
                <a:cs typeface="Times New Roman"/>
              </a:rPr>
              <a:t>System.out.println(i);</a:t>
            </a:r>
            <a:endParaRPr sz="2400">
              <a:latin typeface="Times New Roman"/>
              <a:cs typeface="Times New Roman"/>
            </a:endParaRPr>
          </a:p>
          <a:p>
            <a:pPr marL="318770">
              <a:lnSpc>
                <a:spcPct val="100000"/>
              </a:lnSpc>
              <a:tabLst>
                <a:tab pos="616585" algn="l"/>
                <a:tab pos="914400" algn="l"/>
              </a:tabLst>
            </a:pPr>
            <a:r>
              <a:rPr sz="2400" spc="-50" dirty="0">
                <a:latin typeface="Times New Roman"/>
                <a:cs typeface="Times New Roman"/>
              </a:rPr>
              <a:t>}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50" dirty="0">
                <a:latin typeface="Times New Roman"/>
                <a:cs typeface="Times New Roman"/>
              </a:rPr>
              <a:t>}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50" dirty="0">
                <a:latin typeface="Times New Roman"/>
                <a:cs typeface="Times New Roman"/>
              </a:rPr>
              <a:t>}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462C1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147</TotalTime>
  <Words>2065</Words>
  <Application>Microsoft Office PowerPoint</Application>
  <PresentationFormat>Widescreen</PresentationFormat>
  <Paragraphs>345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0" baseType="lpstr">
      <vt:lpstr>Arial</vt:lpstr>
      <vt:lpstr>Arial MT</vt:lpstr>
      <vt:lpstr>Arial Unicode MS</vt:lpstr>
      <vt:lpstr>Calibri</vt:lpstr>
      <vt:lpstr>Symbol</vt:lpstr>
      <vt:lpstr>Times New Roman</vt:lpstr>
      <vt:lpstr>Office Theme</vt:lpstr>
      <vt:lpstr>JAVA Programming Constructs</vt:lpstr>
      <vt:lpstr>Sequential Construct</vt:lpstr>
      <vt:lpstr>Conditional Construct Decision-making</vt:lpstr>
      <vt:lpstr>if statement</vt:lpstr>
      <vt:lpstr>PowerPoint Presentation</vt:lpstr>
      <vt:lpstr>if…..else Statement</vt:lpstr>
      <vt:lpstr>PowerPoint Presentation</vt:lpstr>
      <vt:lpstr>PowerPoint Presentation</vt:lpstr>
      <vt:lpstr>PowerPoint Presentation</vt:lpstr>
      <vt:lpstr>PowerPoint Presentation</vt:lpstr>
      <vt:lpstr>if…..else if Statement</vt:lpstr>
      <vt:lpstr>PowerPoint Presentation</vt:lpstr>
      <vt:lpstr>Nested if Statements</vt:lpstr>
      <vt:lpstr>PowerPoint Presentation</vt:lpstr>
      <vt:lpstr>switch case Statements</vt:lpstr>
      <vt:lpstr>PowerPoint Presentation</vt:lpstr>
      <vt:lpstr>Looping Construct Iteration Statements</vt:lpstr>
      <vt:lpstr>for loop</vt:lpstr>
      <vt:lpstr>public class Main {</vt:lpstr>
      <vt:lpstr>while Loop</vt:lpstr>
      <vt:lpstr>PowerPoint Presentation</vt:lpstr>
      <vt:lpstr>Do-while Loop</vt:lpstr>
      <vt:lpstr>PowerPoint Presentation</vt:lpstr>
      <vt:lpstr>Nested For Loop</vt:lpstr>
      <vt:lpstr>Nested For Loop</vt:lpstr>
      <vt:lpstr>Nested For Loop</vt:lpstr>
      <vt:lpstr>Jump Statements</vt:lpstr>
      <vt:lpstr>Break statement</vt:lpstr>
      <vt:lpstr>Use Break to Exit a Loop</vt:lpstr>
      <vt:lpstr>Use Break in a Switch case</vt:lpstr>
      <vt:lpstr>Use Break in as GoTo</vt:lpstr>
      <vt:lpstr>Continue statement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 CONDITIONAL AND LOOPING</dc:title>
  <cp:lastModifiedBy>PRAVEEN KUMAR</cp:lastModifiedBy>
  <cp:revision>11</cp:revision>
  <dcterms:created xsi:type="dcterms:W3CDTF">2025-07-22T03:35:33Z</dcterms:created>
  <dcterms:modified xsi:type="dcterms:W3CDTF">2025-09-22T07:50:28Z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2025-07-02T00:00:00Z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2025-07-22T00:00:00Z</vt:filetime>
  </property>
  <property fmtid="{D5CDD505-2E9C-101B-9397-08002B2CF9AE}" pid="5" name="Producer">
    <vt:lpwstr>www.ilovepdf.com</vt:lpwstr>
  </property>
</Properties>
</file>