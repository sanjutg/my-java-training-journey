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134" y="-51840"/>
            <a:ext cx="11209731" cy="15495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62330"/>
            <a:ext cx="10175875" cy="231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189" y="2511933"/>
            <a:ext cx="61194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1290" algn="l"/>
              </a:tabLst>
            </a:pPr>
            <a:r>
              <a:rPr sz="6000" spc="-10" dirty="0">
                <a:solidFill>
                  <a:srgbClr val="000000"/>
                </a:solidFill>
              </a:rPr>
              <a:t>Introduction</a:t>
            </a:r>
            <a:r>
              <a:rPr sz="6000" dirty="0">
                <a:solidFill>
                  <a:srgbClr val="000000"/>
                </a:solidFill>
              </a:rPr>
              <a:t>	to</a:t>
            </a:r>
            <a:r>
              <a:rPr sz="6000" spc="-20" dirty="0">
                <a:solidFill>
                  <a:srgbClr val="000000"/>
                </a:solidFill>
              </a:rPr>
              <a:t> Java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8800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What</a:t>
            </a:r>
            <a:r>
              <a:rPr sz="4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4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java...?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" y="1351869"/>
            <a:ext cx="10757916" cy="4849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1014" y="508507"/>
            <a:ext cx="51130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Introduction</a:t>
            </a:r>
            <a:r>
              <a:rPr sz="4400" b="1" spc="-10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4400" b="1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3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985" y="1851405"/>
            <a:ext cx="10779125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indent="-24447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spc="-10" dirty="0">
                <a:latin typeface="Cambria"/>
                <a:cs typeface="Cambria"/>
              </a:rPr>
              <a:t>Java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high-</a:t>
            </a:r>
            <a:r>
              <a:rPr sz="2400" i="1" dirty="0">
                <a:latin typeface="Cambria"/>
                <a:cs typeface="Cambria"/>
              </a:rPr>
              <a:t>level,</a:t>
            </a:r>
            <a:r>
              <a:rPr sz="2400" i="1" spc="-6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object-</a:t>
            </a:r>
            <a:r>
              <a:rPr sz="2400" i="1" dirty="0">
                <a:latin typeface="Cambria"/>
                <a:cs typeface="Cambria"/>
              </a:rPr>
              <a:t>oriented</a:t>
            </a:r>
            <a:r>
              <a:rPr sz="2400" i="1" spc="-7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programming</a:t>
            </a:r>
            <a:r>
              <a:rPr sz="2400" i="1" spc="-7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language</a:t>
            </a:r>
            <a:endParaRPr sz="2400" dirty="0">
              <a:latin typeface="Cambria"/>
              <a:cs typeface="Cambria"/>
            </a:endParaRPr>
          </a:p>
          <a:p>
            <a:pPr marL="241300" marR="100965" indent="-231140">
              <a:lnSpc>
                <a:spcPct val="150000"/>
              </a:lnSpc>
              <a:spcBef>
                <a:spcPts val="994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spc="-10" dirty="0">
                <a:latin typeface="Cambria"/>
                <a:cs typeface="Cambria"/>
              </a:rPr>
              <a:t>	Developed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Microsystems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(now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owned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Oracle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Corporation)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mid- </a:t>
            </a:r>
            <a:r>
              <a:rPr sz="2400" spc="-10" dirty="0">
                <a:latin typeface="Cambria"/>
                <a:cs typeface="Cambria"/>
              </a:rPr>
              <a:t>1990s.</a:t>
            </a:r>
            <a:endParaRPr sz="2400" dirty="0">
              <a:latin typeface="Cambria"/>
              <a:cs typeface="Cambria"/>
            </a:endParaRPr>
          </a:p>
          <a:p>
            <a:pPr marL="241300" marR="5080" indent="-231140">
              <a:lnSpc>
                <a:spcPct val="150000"/>
              </a:lnSpc>
              <a:spcBef>
                <a:spcPts val="1010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	It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designed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platform-</a:t>
            </a:r>
            <a:r>
              <a:rPr sz="2400" i="1" dirty="0">
                <a:latin typeface="Cambria"/>
                <a:cs typeface="Cambria"/>
              </a:rPr>
              <a:t>independent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meaning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Java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run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on </a:t>
            </a:r>
            <a:r>
              <a:rPr sz="2400" dirty="0">
                <a:latin typeface="Cambria"/>
                <a:cs typeface="Cambria"/>
              </a:rPr>
              <a:t>any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device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operating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Java</a:t>
            </a:r>
            <a:r>
              <a:rPr sz="2400" b="1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Virtual</a:t>
            </a:r>
            <a:r>
              <a:rPr sz="2400" b="1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Machine</a:t>
            </a:r>
            <a:r>
              <a:rPr sz="2400" b="1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(JVM)</a:t>
            </a:r>
            <a:r>
              <a:rPr sz="2400" b="1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installed.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0487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Origins</a:t>
            </a:r>
            <a:r>
              <a:rPr sz="36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36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Java</a:t>
            </a:r>
            <a:r>
              <a:rPr sz="36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(1991–1995)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990420"/>
            <a:ext cx="10344785" cy="33959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9395" marR="61722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1991</a:t>
            </a:r>
            <a:r>
              <a:rPr sz="2800" spc="-20" dirty="0">
                <a:latin typeface="Times New Roman"/>
                <a:cs typeface="Times New Roman"/>
              </a:rPr>
              <a:t>: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team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James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Gosling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Mike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Sheridan,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Patrick 	</a:t>
            </a:r>
            <a:r>
              <a:rPr sz="2800" dirty="0">
                <a:latin typeface="Times New Roman"/>
                <a:cs typeface="Times New Roman"/>
              </a:rPr>
              <a:t>Naughton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Microsystems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started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called 	</a:t>
            </a:r>
            <a:r>
              <a:rPr sz="2800" i="1" spc="-20" dirty="0">
                <a:latin typeface="Times New Roman"/>
                <a:cs typeface="Times New Roman"/>
              </a:rPr>
              <a:t>Oak</a:t>
            </a:r>
            <a:r>
              <a:rPr sz="2800" spc="-2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0029" marR="797560" indent="-227965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1992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team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Oak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initially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interactive 	</a:t>
            </a:r>
            <a:r>
              <a:rPr sz="2800" dirty="0">
                <a:latin typeface="Times New Roman"/>
                <a:cs typeface="Times New Roman"/>
              </a:rPr>
              <a:t>television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embedded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technology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965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1995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Oak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renamed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because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"Oak"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already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trademarked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officially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launched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Microsystems.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67" y="854963"/>
            <a:ext cx="9525000" cy="53538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616" rIns="0" bIns="0" rtlCol="0">
            <a:spAutoFit/>
          </a:bodyPr>
          <a:lstStyle/>
          <a:p>
            <a:pPr marL="266319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Naming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Evolution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of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8586"/>
            <a:ext cx="10026650" cy="2712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"Green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Project"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(1991)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ts val="319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initial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began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1991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research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project</a:t>
            </a:r>
            <a:endParaRPr sz="2800">
              <a:latin typeface="Times New Roman"/>
              <a:cs typeface="Times New Roman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Microsystems.</a:t>
            </a:r>
            <a:endParaRPr sz="2800">
              <a:latin typeface="Times New Roman"/>
              <a:cs typeface="Times New Roman"/>
            </a:endParaRPr>
          </a:p>
          <a:p>
            <a:pPr marL="240029" marR="31496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secret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initiative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Green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aimed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at 	</a:t>
            </a:r>
            <a:r>
              <a:rPr sz="2800" dirty="0">
                <a:latin typeface="Times New Roman"/>
                <a:cs typeface="Times New Roman"/>
              </a:rPr>
              <a:t>developing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consumer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electronics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interactive 	</a:t>
            </a:r>
            <a:r>
              <a:rPr sz="2800" dirty="0">
                <a:latin typeface="Times New Roman"/>
                <a:cs typeface="Times New Roman"/>
              </a:rPr>
              <a:t>televisions,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set-</a:t>
            </a:r>
            <a:r>
              <a:rPr sz="2800" dirty="0">
                <a:latin typeface="Times New Roman"/>
                <a:cs typeface="Times New Roman"/>
              </a:rPr>
              <a:t>top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boxes,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embedded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616" rIns="0" bIns="0" rtlCol="0">
            <a:spAutoFit/>
          </a:bodyPr>
          <a:lstStyle/>
          <a:p>
            <a:pPr marL="266319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Naming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Evolution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of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8586"/>
            <a:ext cx="10068560" cy="37350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latin typeface="Times New Roman"/>
                <a:cs typeface="Times New Roman"/>
              </a:rPr>
              <a:t>“Oak”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(1991–1995)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ts val="319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James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Gosling,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developer,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initially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language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Oak</a:t>
            </a:r>
            <a:endParaRPr sz="2800">
              <a:latin typeface="Times New Roman"/>
              <a:cs typeface="Times New Roman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oak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tree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outside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office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Microsystems.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Oak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small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embedded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devices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platform- 	</a:t>
            </a:r>
            <a:r>
              <a:rPr sz="2800" b="1" dirty="0">
                <a:latin typeface="Times New Roman"/>
                <a:cs typeface="Times New Roman"/>
              </a:rPr>
              <a:t>independent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nature.</a:t>
            </a:r>
            <a:endParaRPr sz="2800">
              <a:latin typeface="Times New Roman"/>
              <a:cs typeface="Times New Roman"/>
            </a:endParaRPr>
          </a:p>
          <a:p>
            <a:pPr marL="239395" marR="63119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However,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"Oak"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already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trademarked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another 	</a:t>
            </a:r>
            <a:r>
              <a:rPr sz="2800" spc="-20" dirty="0">
                <a:latin typeface="Times New Roman"/>
                <a:cs typeface="Times New Roman"/>
              </a:rPr>
              <a:t>company,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leading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name.</a:t>
            </a:r>
            <a:endParaRPr sz="2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meant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symbolize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strength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reliability.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616" rIns="0" bIns="0" rtlCol="0">
            <a:spAutoFit/>
          </a:bodyPr>
          <a:lstStyle/>
          <a:p>
            <a:pPr marL="266319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Naming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Evolution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of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8586"/>
            <a:ext cx="10018395" cy="3223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latin typeface="Times New Roman"/>
                <a:cs typeface="Times New Roman"/>
              </a:rPr>
              <a:t>"Java"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(1995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–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Present)</a:t>
            </a:r>
            <a:endParaRPr sz="2800">
              <a:latin typeface="Times New Roman"/>
              <a:cs typeface="Times New Roman"/>
            </a:endParaRPr>
          </a:p>
          <a:p>
            <a:pPr marL="239395" marR="17399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team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brainstormed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several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Silk, 	</a:t>
            </a:r>
            <a:r>
              <a:rPr sz="2800" b="1" dirty="0">
                <a:latin typeface="Times New Roman"/>
                <a:cs typeface="Times New Roman"/>
              </a:rPr>
              <a:t>DNA,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Ruby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settled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Java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0029" marR="85090" indent="-22796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"Java"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inspired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coffee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coffee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from 	</a:t>
            </a:r>
            <a:r>
              <a:rPr sz="2800" dirty="0">
                <a:latin typeface="Times New Roman"/>
                <a:cs typeface="Times New Roman"/>
              </a:rPr>
              <a:t>Indonesia,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reflecting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developers'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love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coffee.</a:t>
            </a:r>
            <a:endParaRPr sz="2800">
              <a:latin typeface="Times New Roman"/>
              <a:cs typeface="Times New Roman"/>
            </a:endParaRPr>
          </a:p>
          <a:p>
            <a:pPr marL="239395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1995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Microsystems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officially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released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1.0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marking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beginning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global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adoption.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2408" y="4889146"/>
            <a:ext cx="2886370" cy="16799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33476"/>
            <a:ext cx="10317480" cy="347535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2820035" algn="l"/>
              </a:tabLst>
            </a:pP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Island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695" dirty="0">
                <a:latin typeface="Times New Roman"/>
                <a:cs typeface="Times New Roman"/>
              </a:rPr>
              <a:t>◻</a:t>
            </a:r>
            <a:endParaRPr sz="2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island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Indonesia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located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Sumatra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Bali.</a:t>
            </a:r>
            <a:endParaRPr sz="2800">
              <a:latin typeface="Times New Roman"/>
              <a:cs typeface="Times New Roman"/>
            </a:endParaRPr>
          </a:p>
          <a:p>
            <a:pPr marL="239395" marR="621665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world’s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most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populous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island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over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150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million 	people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Jakarta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capital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Indonesia,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island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Java.</a:t>
            </a:r>
            <a:endParaRPr sz="2800">
              <a:latin typeface="Times New Roman"/>
              <a:cs typeface="Times New Roman"/>
            </a:endParaRPr>
          </a:p>
          <a:p>
            <a:pPr marL="239395" marR="2581910" indent="-227329">
              <a:lnSpc>
                <a:spcPct val="119700"/>
              </a:lnSpc>
              <a:spcBef>
                <a:spcPts val="10"/>
              </a:spcBef>
              <a:buFont typeface="Arial MT"/>
              <a:buChar char="•"/>
              <a:tabLst>
                <a:tab pos="279400" algn="l"/>
              </a:tabLst>
            </a:pP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major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trade,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culture,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and 	</a:t>
            </a:r>
            <a:r>
              <a:rPr sz="2800" b="1" dirty="0">
                <a:latin typeface="Times New Roman"/>
                <a:cs typeface="Times New Roman"/>
              </a:rPr>
              <a:t>coffee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production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centuries.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2631" y="4213859"/>
            <a:ext cx="3145535" cy="23545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6167" y="4370832"/>
            <a:ext cx="3332987" cy="2263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948" y="1260093"/>
            <a:ext cx="6150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Ownership</a:t>
            </a:r>
            <a:r>
              <a:rPr sz="4000" b="1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Timeline</a:t>
            </a:r>
            <a:r>
              <a:rPr sz="4000" b="1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4000" b="1" spc="-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Java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443325"/>
            <a:ext cx="10106025" cy="160274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800" b="1" spc="-10" dirty="0">
                <a:latin typeface="Times New Roman"/>
                <a:cs typeface="Times New Roman"/>
              </a:rPr>
              <a:t>1991-</a:t>
            </a:r>
            <a:r>
              <a:rPr sz="2800" b="1" dirty="0">
                <a:latin typeface="Times New Roman"/>
                <a:cs typeface="Times New Roman"/>
              </a:rPr>
              <a:t>2010: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Microsystems</a:t>
            </a:r>
            <a:endParaRPr sz="2800">
              <a:latin typeface="Times New Roman"/>
              <a:cs typeface="Times New Roman"/>
            </a:endParaRPr>
          </a:p>
          <a:p>
            <a:pPr marL="756285" indent="-286385">
              <a:lnSpc>
                <a:spcPts val="2735"/>
              </a:lnSpc>
              <a:spcBef>
                <a:spcPts val="234"/>
              </a:spcBef>
              <a:buAutoNum type="arabicPeriod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Microsystems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1991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officially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released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ts val="2735"/>
              </a:lnSpc>
            </a:pPr>
            <a:r>
              <a:rPr sz="2400" b="1" spc="-10" dirty="0">
                <a:latin typeface="Times New Roman"/>
                <a:cs typeface="Times New Roman"/>
              </a:rPr>
              <a:t>1995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200"/>
              </a:spcBef>
              <a:buAutoNum type="arabicPeriod" startAt="2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Sun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Microsystems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maintained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releasing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2010.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603" y="4466844"/>
            <a:ext cx="3485388" cy="19522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9657" y="756030"/>
            <a:ext cx="9924415" cy="4034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2010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-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Present: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Oracle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Corporation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2010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Oracle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Corporation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acquired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Microsystems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$7.4 	</a:t>
            </a:r>
            <a:r>
              <a:rPr sz="2800" b="1" dirty="0">
                <a:latin typeface="Times New Roman"/>
                <a:cs typeface="Times New Roman"/>
              </a:rPr>
              <a:t>billion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gaining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ownership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Java.</a:t>
            </a:r>
            <a:endParaRPr sz="2800">
              <a:latin typeface="Times New Roman"/>
              <a:cs typeface="Times New Roman"/>
            </a:endParaRPr>
          </a:p>
          <a:p>
            <a:pPr marL="240029" marR="24765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Since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Oracle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releases, 	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(Standard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Edition),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(Enterprise 	</a:t>
            </a:r>
            <a:r>
              <a:rPr sz="2800" b="1" dirty="0">
                <a:latin typeface="Times New Roman"/>
                <a:cs typeface="Times New Roman"/>
              </a:rPr>
              <a:t>Edition,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now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Jakarta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EE),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(Micro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Edition)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0029" marR="543560" indent="-227329">
              <a:lnSpc>
                <a:spcPts val="302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Oracle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long-</a:t>
            </a:r>
            <a:r>
              <a:rPr sz="2800" b="1" dirty="0">
                <a:latin typeface="Times New Roman"/>
                <a:cs typeface="Times New Roman"/>
              </a:rPr>
              <a:t>term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support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(LTS)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licenses 	</a:t>
            </a:r>
            <a:r>
              <a:rPr sz="2800" dirty="0">
                <a:latin typeface="Times New Roman"/>
                <a:cs typeface="Times New Roman"/>
              </a:rPr>
              <a:t>commercial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Oracle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JDK</a:t>
            </a:r>
            <a:r>
              <a:rPr sz="2800" spc="-2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4539996"/>
            <a:ext cx="3727704" cy="2086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308" y="5029200"/>
            <a:ext cx="3211067" cy="1427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029" rIns="0" bIns="0" rtlCol="0">
            <a:spAutoFit/>
          </a:bodyPr>
          <a:lstStyle/>
          <a:p>
            <a:pPr marL="1989455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1F5F"/>
                </a:solidFill>
                <a:latin typeface="Cambria"/>
                <a:cs typeface="Cambria"/>
              </a:rPr>
              <a:t>Introduction</a:t>
            </a:r>
            <a:r>
              <a:rPr sz="4000" b="1" spc="-1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4000" b="1" spc="-1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01F5F"/>
                </a:solidFill>
                <a:latin typeface="Cambria"/>
                <a:cs typeface="Cambria"/>
              </a:rPr>
              <a:t>Java</a:t>
            </a:r>
            <a:r>
              <a:rPr sz="4000" b="1" spc="-1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1F5F"/>
                </a:solidFill>
                <a:latin typeface="Cambria"/>
                <a:cs typeface="Cambria"/>
              </a:rPr>
              <a:t>Evolution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437" y="1787779"/>
            <a:ext cx="8255634" cy="402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evolved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significantly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since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inception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1996,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milestones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including: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1.0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Introduction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features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like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platform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independence.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5: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Introduces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generics,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annotations,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concurrency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utilities.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8: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Adds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lambda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expressions,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Stream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API,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 java.time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package.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9: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Introduces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Platform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Module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(JPMS)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modularization.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spc="-20" dirty="0">
                <a:latin typeface="Times New Roman"/>
                <a:cs typeface="Times New Roman"/>
              </a:rPr>
              <a:t>11</a:t>
            </a:r>
            <a:r>
              <a:rPr sz="1700" spc="-20" dirty="0">
                <a:latin typeface="Times New Roman"/>
                <a:cs typeface="Times New Roman"/>
              </a:rPr>
              <a:t>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Transition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LTS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release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model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long-</a:t>
            </a:r>
            <a:r>
              <a:rPr sz="1700" dirty="0">
                <a:latin typeface="Times New Roman"/>
                <a:cs typeface="Times New Roman"/>
              </a:rPr>
              <a:t>term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support.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17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Latest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LTS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release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features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like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sealed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classes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enhanced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pattern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matching.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Times New Roman"/>
                <a:cs typeface="Times New Roman"/>
              </a:rPr>
              <a:t>Java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b="1" dirty="0" smtClean="0">
                <a:latin typeface="Times New Roman"/>
                <a:cs typeface="Times New Roman"/>
              </a:rPr>
              <a:t>2</a:t>
            </a:r>
            <a:r>
              <a:rPr lang="en-IN" sz="1700" b="1" dirty="0" smtClean="0">
                <a:latin typeface="Times New Roman"/>
                <a:cs typeface="Times New Roman"/>
              </a:rPr>
              <a:t>1</a:t>
            </a:r>
            <a:r>
              <a:rPr sz="1700" b="1" dirty="0" smtClean="0">
                <a:latin typeface="Times New Roman"/>
                <a:cs typeface="Times New Roman"/>
              </a:rPr>
              <a:t>:</a:t>
            </a:r>
            <a:r>
              <a:rPr sz="1700" b="1" spc="-15" dirty="0" smtClean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 smtClean="0">
                <a:latin typeface="Times New Roman"/>
                <a:cs typeface="Times New Roman"/>
              </a:rPr>
              <a:t>la</a:t>
            </a:r>
            <a:r>
              <a:rPr lang="en-IN" sz="1700" dirty="0" err="1" smtClean="0">
                <a:latin typeface="Times New Roman"/>
                <a:cs typeface="Times New Roman"/>
              </a:rPr>
              <a:t>st</a:t>
            </a:r>
            <a:r>
              <a:rPr sz="1700" spc="-10" dirty="0" smtClean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release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 </a:t>
            </a:r>
            <a:r>
              <a:rPr sz="1700" spc="-10" dirty="0" smtClean="0">
                <a:latin typeface="Times New Roman"/>
                <a:cs typeface="Times New Roman"/>
              </a:rPr>
              <a:t>Platform</a:t>
            </a:r>
            <a:r>
              <a:rPr lang="en-IN" sz="1700" spc="-10" dirty="0" smtClean="0">
                <a:latin typeface="Times New Roman"/>
                <a:cs typeface="Times New Roman"/>
              </a:rPr>
              <a:t> which has LTS</a:t>
            </a:r>
            <a:endParaRPr sz="1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04161"/>
            <a:ext cx="9433560" cy="339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Current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Versions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Under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Oracle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ts val="3020"/>
              </a:lnSpc>
            </a:pPr>
            <a:r>
              <a:rPr sz="2800" dirty="0">
                <a:latin typeface="Times New Roman"/>
                <a:cs typeface="Times New Roman"/>
              </a:rPr>
              <a:t>Oracle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six-month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release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cycle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Long-</a:t>
            </a:r>
            <a:r>
              <a:rPr sz="2800" spc="-20" dirty="0">
                <a:latin typeface="Times New Roman"/>
                <a:cs typeface="Times New Roman"/>
              </a:rPr>
              <a:t>Term </a:t>
            </a:r>
            <a:r>
              <a:rPr sz="2800" dirty="0">
                <a:latin typeface="Times New Roman"/>
                <a:cs typeface="Times New Roman"/>
              </a:rPr>
              <a:t>Support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(LTS)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versions: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Latest</a:t>
            </a:r>
            <a:r>
              <a:rPr sz="2800" spc="-60" dirty="0">
                <a:latin typeface="Times New Roman"/>
                <a:cs typeface="Times New Roman"/>
              </a:rPr>
              <a:t> LTS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Release: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21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(September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2023)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Latest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Non-</a:t>
            </a:r>
            <a:r>
              <a:rPr sz="2800" spc="-60" dirty="0">
                <a:latin typeface="Times New Roman"/>
                <a:cs typeface="Times New Roman"/>
              </a:rPr>
              <a:t>LTS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Release: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23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(March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2024)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Next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LTS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Release: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25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(Expected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September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2025)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616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Features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of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90448" y="2226944"/>
            <a:ext cx="10614660" cy="27279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0665" marR="5080" indent="-228600" algn="just">
              <a:lnSpc>
                <a:spcPct val="90100"/>
              </a:lnSpc>
              <a:spcBef>
                <a:spcPts val="35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Platform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Independence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designed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10" dirty="0">
                <a:latin typeface="Times New Roman"/>
                <a:cs typeface="Times New Roman"/>
              </a:rPr>
              <a:t>platform-</a:t>
            </a:r>
            <a:r>
              <a:rPr sz="2200" dirty="0">
                <a:latin typeface="Times New Roman"/>
                <a:cs typeface="Times New Roman"/>
              </a:rPr>
              <a:t>independent,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once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write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compile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code,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operating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Virtual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(JVM),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"write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once,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anywhere“.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9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Object-</a:t>
            </a:r>
            <a:r>
              <a:rPr sz="2200" b="1" dirty="0">
                <a:latin typeface="Times New Roman"/>
                <a:cs typeface="Times New Roman"/>
              </a:rPr>
              <a:t>Oriented:</a:t>
            </a:r>
            <a:r>
              <a:rPr sz="2200" b="1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object-</a:t>
            </a:r>
            <a:r>
              <a:rPr sz="2200" dirty="0">
                <a:latin typeface="Times New Roman"/>
                <a:cs typeface="Times New Roman"/>
              </a:rPr>
              <a:t>oriented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programming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(OOP)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language.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means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 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concepts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"objects,"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"classes."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principles </a:t>
            </a:r>
            <a:r>
              <a:rPr sz="2200" spc="-20" dirty="0">
                <a:latin typeface="Times New Roman"/>
                <a:cs typeface="Times New Roman"/>
              </a:rPr>
              <a:t>help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organizing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204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programs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2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simpler,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reusable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pieces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code,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improving </a:t>
            </a:r>
            <a:r>
              <a:rPr sz="2200" dirty="0">
                <a:latin typeface="Times New Roman"/>
                <a:cs typeface="Times New Roman"/>
              </a:rPr>
              <a:t>maintainability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scalability.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16354"/>
            <a:ext cx="10360025" cy="30295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6350" indent="-229235" algn="just">
              <a:lnSpc>
                <a:spcPct val="900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Robustness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robust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because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strong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management,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lack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pointers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eliminates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concerns,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automatic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garbage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collection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managing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effectively.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Additionally,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exception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type- </a:t>
            </a:r>
            <a:r>
              <a:rPr sz="2200" dirty="0">
                <a:latin typeface="Times New Roman"/>
                <a:cs typeface="Times New Roman"/>
              </a:rPr>
              <a:t>checking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mechanisms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easier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reliable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code.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Syntax</a:t>
            </a:r>
            <a:r>
              <a:rPr sz="2200" b="1" spc="1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Simplicity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Java’s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syntax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designed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use.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similar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C++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eliminates  many</a:t>
            </a:r>
            <a:r>
              <a:rPr sz="2200" spc="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rarely-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5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C++,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operator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overloading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inheritance.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simplicity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reduces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curve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developers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quickly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productive.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8464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Features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of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077592"/>
            <a:ext cx="10359390" cy="30295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Rich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Standard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Library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comes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comprehensive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library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(also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known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API)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wide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range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common </a:t>
            </a:r>
            <a:r>
              <a:rPr sz="2200" dirty="0">
                <a:latin typeface="Times New Roman"/>
                <a:cs typeface="Times New Roman"/>
              </a:rPr>
              <a:t>programming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tasks.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 support 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structures, networking, file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I/O, </a:t>
            </a:r>
            <a:r>
              <a:rPr sz="2200" dirty="0">
                <a:latin typeface="Times New Roman"/>
                <a:cs typeface="Times New Roman"/>
              </a:rPr>
              <a:t>utiities,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more.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41300" marR="5715" indent="-229235" algn="just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Interpreted</a:t>
            </a:r>
            <a:r>
              <a:rPr sz="2200" b="1" spc="5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5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Compiled</a:t>
            </a:r>
            <a:r>
              <a:rPr sz="2200" b="1" spc="5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Language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5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  compiled</a:t>
            </a:r>
            <a:r>
              <a:rPr sz="2200" spc="5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interpreted.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Java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compiled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bytecode,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interpreted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JVM.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This </a:t>
            </a:r>
            <a:r>
              <a:rPr sz="2200" dirty="0">
                <a:latin typeface="Times New Roman"/>
                <a:cs typeface="Times New Roman"/>
              </a:rPr>
              <a:t>approach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benefits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compilation</a:t>
            </a:r>
            <a:r>
              <a:rPr sz="2200" spc="3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(such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speed)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interpretation </a:t>
            </a:r>
            <a:r>
              <a:rPr sz="2200" dirty="0">
                <a:latin typeface="Times New Roman"/>
                <a:cs typeface="Times New Roman"/>
              </a:rPr>
              <a:t>(such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platform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independence).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6921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Features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of</a:t>
            </a:r>
            <a:r>
              <a:rPr sz="4400" spc="10" dirty="0">
                <a:solidFill>
                  <a:srgbClr val="000000"/>
                </a:solidFill>
              </a:rPr>
              <a:t>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4541" y="266191"/>
            <a:ext cx="5043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272C37"/>
                </a:solidFill>
                <a:latin typeface="Cambria"/>
                <a:cs typeface="Cambria"/>
              </a:rPr>
              <a:t>Components</a:t>
            </a:r>
            <a:r>
              <a:rPr sz="4400" b="1" spc="-65" dirty="0">
                <a:solidFill>
                  <a:srgbClr val="272C37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272C37"/>
                </a:solidFill>
                <a:latin typeface="Cambria"/>
                <a:cs typeface="Cambria"/>
              </a:rPr>
              <a:t>of</a:t>
            </a:r>
            <a:r>
              <a:rPr sz="4400" b="1" spc="-40" dirty="0">
                <a:solidFill>
                  <a:srgbClr val="272C37"/>
                </a:solidFill>
                <a:latin typeface="Cambria"/>
                <a:cs typeface="Cambria"/>
              </a:rPr>
              <a:t> </a:t>
            </a:r>
            <a:r>
              <a:rPr sz="4400" b="1" spc="-30" dirty="0">
                <a:solidFill>
                  <a:srgbClr val="272C37"/>
                </a:solidFill>
                <a:latin typeface="Cambria"/>
                <a:cs typeface="Cambria"/>
              </a:rPr>
              <a:t>Java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206" y="1218438"/>
            <a:ext cx="9881235" cy="953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5485" algn="l"/>
              </a:tabLst>
            </a:pPr>
            <a:r>
              <a:rPr sz="2100" dirty="0">
                <a:latin typeface="Cambria"/>
                <a:cs typeface="Cambria"/>
              </a:rPr>
              <a:t>1.</a:t>
            </a:r>
            <a:r>
              <a:rPr sz="2100" spc="-5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Java</a:t>
            </a:r>
            <a:r>
              <a:rPr sz="2100" spc="-3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Virtual</a:t>
            </a:r>
            <a:r>
              <a:rPr sz="2100" spc="-4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Machine</a:t>
            </a:r>
            <a:r>
              <a:rPr sz="2100" spc="-4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-40" dirty="0">
                <a:latin typeface="Cambria"/>
                <a:cs typeface="Cambria"/>
              </a:rPr>
              <a:t> </a:t>
            </a:r>
            <a:r>
              <a:rPr sz="2100" spc="-25" dirty="0">
                <a:latin typeface="Cambria"/>
                <a:cs typeface="Cambria"/>
              </a:rPr>
              <a:t>JVM</a:t>
            </a:r>
            <a:r>
              <a:rPr sz="2100" dirty="0">
                <a:latin typeface="Cambria"/>
                <a:cs typeface="Cambria"/>
              </a:rPr>
              <a:t>	2.</a:t>
            </a:r>
            <a:r>
              <a:rPr sz="2100" spc="-55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Java</a:t>
            </a:r>
            <a:r>
              <a:rPr sz="2100" spc="-5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Runtime</a:t>
            </a:r>
            <a:r>
              <a:rPr sz="2100" spc="-65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Environment</a:t>
            </a:r>
            <a:r>
              <a:rPr sz="2100" spc="-5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-55" dirty="0">
                <a:latin typeface="Cambria"/>
                <a:cs typeface="Cambria"/>
              </a:rPr>
              <a:t> </a:t>
            </a:r>
            <a:r>
              <a:rPr sz="2100" spc="-25" dirty="0">
                <a:latin typeface="Cambria"/>
                <a:cs typeface="Cambria"/>
              </a:rPr>
              <a:t>JRE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2100" dirty="0">
                <a:latin typeface="Cambria"/>
                <a:cs typeface="Cambria"/>
              </a:rPr>
              <a:t>3.</a:t>
            </a:r>
            <a:r>
              <a:rPr sz="2100" spc="-5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Java</a:t>
            </a:r>
            <a:r>
              <a:rPr sz="2100" spc="-4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Development</a:t>
            </a:r>
            <a:r>
              <a:rPr sz="2100" spc="-4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Kit</a:t>
            </a:r>
            <a:r>
              <a:rPr sz="2100" spc="-3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-55" dirty="0">
                <a:latin typeface="Cambria"/>
                <a:cs typeface="Cambria"/>
              </a:rPr>
              <a:t> </a:t>
            </a:r>
            <a:r>
              <a:rPr sz="2100" spc="-25" dirty="0">
                <a:latin typeface="Cambria"/>
                <a:cs typeface="Cambria"/>
              </a:rPr>
              <a:t>JDK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873" y="2346315"/>
            <a:ext cx="7598012" cy="4427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749863"/>
            <a:ext cx="3963924" cy="29824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6608" y="2557272"/>
            <a:ext cx="6316980" cy="36073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913" rIns="0" bIns="0" rtlCol="0">
            <a:spAutoFit/>
          </a:bodyPr>
          <a:lstStyle/>
          <a:p>
            <a:pPr marL="251142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Java</a:t>
            </a:r>
            <a:r>
              <a:rPr sz="3600" spc="-8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Runtime</a:t>
            </a:r>
            <a:r>
              <a:rPr sz="3600" spc="-7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Environment</a:t>
            </a:r>
            <a:r>
              <a:rPr sz="3600" spc="-8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(JRE)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947163"/>
            <a:ext cx="10116820" cy="36480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libraries,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Virtual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(JVM),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components </a:t>
            </a:r>
            <a:r>
              <a:rPr sz="2200" dirty="0">
                <a:latin typeface="Times New Roman"/>
                <a:cs typeface="Times New Roman"/>
              </a:rPr>
              <a:t>necessary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tools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compilers</a:t>
            </a:r>
            <a:r>
              <a:rPr sz="2200" spc="-25" dirty="0">
                <a:latin typeface="Times New Roman"/>
                <a:cs typeface="Times New Roman"/>
              </a:rPr>
              <a:t> or </a:t>
            </a:r>
            <a:r>
              <a:rPr sz="2200" spc="-10" dirty="0">
                <a:latin typeface="Times New Roman"/>
                <a:cs typeface="Times New Roman"/>
              </a:rPr>
              <a:t>debuggers.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200" b="1" dirty="0">
                <a:latin typeface="Times New Roman"/>
                <a:cs typeface="Times New Roman"/>
              </a:rPr>
              <a:t>Components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JRE: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5" dirty="0">
                <a:latin typeface="Times New Roman"/>
                <a:cs typeface="Times New Roman"/>
              </a:rPr>
              <a:t>JVM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Core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Libraries:</a:t>
            </a:r>
            <a:endParaRPr sz="2200">
              <a:latin typeface="Times New Roman"/>
              <a:cs typeface="Times New Roman"/>
            </a:endParaRPr>
          </a:p>
          <a:p>
            <a:pPr marL="698500" marR="139700" lvl="1" indent="-228600">
              <a:lnSpc>
                <a:spcPts val="2380"/>
              </a:lnSpc>
              <a:spcBef>
                <a:spcPts val="535"/>
              </a:spcBef>
              <a:buSzPct val="95454"/>
              <a:buFont typeface="Wingdings"/>
              <a:buChar char="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Library: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essential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java.lang,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java.util,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java.io,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241300" marR="40005" indent="-229235">
              <a:lnSpc>
                <a:spcPts val="238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Supporting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Files: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Configuration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property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JVM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libraries.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6922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Java</a:t>
            </a:r>
            <a:r>
              <a:rPr sz="4000" spc="-114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Development</a:t>
            </a:r>
            <a:r>
              <a:rPr sz="4000" spc="-12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Kit</a:t>
            </a:r>
            <a:r>
              <a:rPr sz="4000" spc="-114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(JDK)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57199" y="1681352"/>
            <a:ext cx="10437495" cy="407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JDK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includes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tools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developing,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debugging,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monitoring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200" b="1" dirty="0">
                <a:latin typeface="Times New Roman"/>
                <a:cs typeface="Times New Roman"/>
              </a:rPr>
              <a:t>Components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JDK: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380"/>
              </a:lnSpc>
              <a:spcBef>
                <a:spcPts val="1040"/>
              </a:spcBef>
              <a:buFont typeface="Courier New"/>
              <a:buChar char="o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JRE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(Java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Runtime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Environment):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JDK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JRE,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necessary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run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Courier New"/>
              <a:buChar char="o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Development</a:t>
            </a:r>
            <a:r>
              <a:rPr sz="2200" b="1" spc="-13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Tools: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755650" algn="l"/>
              </a:tabLst>
            </a:pPr>
            <a:r>
              <a:rPr sz="2200" b="1" dirty="0">
                <a:latin typeface="Times New Roman"/>
                <a:cs typeface="Times New Roman"/>
              </a:rPr>
              <a:t>javac: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compiler,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converts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bytecode.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755650" algn="l"/>
              </a:tabLst>
            </a:pPr>
            <a:r>
              <a:rPr sz="2200" b="1" dirty="0">
                <a:latin typeface="Times New Roman"/>
                <a:cs typeface="Times New Roman"/>
              </a:rPr>
              <a:t>java: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launcher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JVM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bytecode.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55650" algn="l"/>
              </a:tabLst>
            </a:pPr>
            <a:r>
              <a:rPr sz="2200" b="1" dirty="0">
                <a:latin typeface="Times New Roman"/>
                <a:cs typeface="Times New Roman"/>
              </a:rPr>
              <a:t>javadoc: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Generates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HTML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documentation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code.</a:t>
            </a:r>
            <a:endParaRPr sz="22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55015" algn="l"/>
              </a:tabLst>
            </a:pPr>
            <a:r>
              <a:rPr sz="2200" b="1" dirty="0">
                <a:latin typeface="Times New Roman"/>
                <a:cs typeface="Times New Roman"/>
              </a:rPr>
              <a:t>jdb: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debugger.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755650" algn="l"/>
              </a:tabLst>
            </a:pPr>
            <a:r>
              <a:rPr sz="2200" b="1" dirty="0">
                <a:latin typeface="Times New Roman"/>
                <a:cs typeface="Times New Roman"/>
              </a:rPr>
              <a:t>jar: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related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libraries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file.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00" rIns="0" bIns="0" rtlCol="0">
            <a:spAutoFit/>
          </a:bodyPr>
          <a:lstStyle/>
          <a:p>
            <a:pPr marL="309245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Java</a:t>
            </a:r>
            <a:r>
              <a:rPr sz="3200" b="1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Virtual</a:t>
            </a:r>
            <a:r>
              <a:rPr sz="3200" b="1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sz="32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(JVM)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35684"/>
            <a:ext cx="10226040" cy="4480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15620" indent="914400">
              <a:lnSpc>
                <a:spcPct val="80000"/>
              </a:lnSpc>
              <a:spcBef>
                <a:spcPts val="67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JVM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bytecode.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platform-</a:t>
            </a:r>
            <a:r>
              <a:rPr sz="2400" dirty="0">
                <a:latin typeface="Times New Roman"/>
                <a:cs typeface="Times New Roman"/>
              </a:rPr>
              <a:t>independent,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 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run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-25" dirty="0">
                <a:latin typeface="Times New Roman"/>
                <a:cs typeface="Times New Roman"/>
              </a:rPr>
              <a:t> or </a:t>
            </a:r>
            <a:r>
              <a:rPr sz="2400" dirty="0">
                <a:latin typeface="Times New Roman"/>
                <a:cs typeface="Times New Roman"/>
              </a:rPr>
              <a:t>operating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dirty="0">
                <a:latin typeface="Times New Roman"/>
                <a:cs typeface="Times New Roman"/>
              </a:rPr>
              <a:t>Components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JVM:</a:t>
            </a:r>
            <a:endParaRPr sz="2400" dirty="0">
              <a:latin typeface="Times New Roman"/>
              <a:cs typeface="Times New Roman"/>
            </a:endParaRPr>
          </a:p>
          <a:p>
            <a:pPr marL="254635" indent="-244475">
              <a:lnSpc>
                <a:spcPts val="2840"/>
              </a:lnSpc>
              <a:spcBef>
                <a:spcPts val="43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b="1" dirty="0">
                <a:latin typeface="Times New Roman"/>
                <a:cs typeface="Times New Roman"/>
              </a:rPr>
              <a:t>Class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Loader: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805"/>
              </a:lnSpc>
              <a:buAutoNum type="arabicPeriod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Loads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memory.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845"/>
              </a:lnSpc>
              <a:buAutoNum type="arabicPeriod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Performs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verification,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preparation,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resolution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classes.</a:t>
            </a:r>
            <a:endParaRPr sz="2400" dirty="0">
              <a:latin typeface="Times New Roman"/>
              <a:cs typeface="Times New Roman"/>
            </a:endParaRPr>
          </a:p>
          <a:p>
            <a:pPr marL="254635" indent="-244475">
              <a:lnSpc>
                <a:spcPts val="2870"/>
              </a:lnSpc>
              <a:spcBef>
                <a:spcPts val="42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b="1" dirty="0">
                <a:latin typeface="Times New Roman"/>
                <a:cs typeface="Times New Roman"/>
              </a:rPr>
              <a:t>Execution</a:t>
            </a:r>
            <a:r>
              <a:rPr sz="2400" b="1" spc="-10" dirty="0">
                <a:latin typeface="Times New Roman"/>
                <a:cs typeface="Times New Roman"/>
              </a:rPr>
              <a:t> Engine:</a:t>
            </a:r>
            <a:endParaRPr sz="2400" dirty="0">
              <a:latin typeface="Times New Roman"/>
              <a:cs typeface="Times New Roman"/>
            </a:endParaRPr>
          </a:p>
          <a:p>
            <a:pPr marL="698500" indent="-228600">
              <a:lnSpc>
                <a:spcPts val="2620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Interpreter: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bytecode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instructions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one.</a:t>
            </a:r>
            <a:endParaRPr sz="2200" dirty="0">
              <a:latin typeface="Times New Roman"/>
              <a:cs typeface="Times New Roman"/>
            </a:endParaRPr>
          </a:p>
          <a:p>
            <a:pPr marL="698500" indent="-228600">
              <a:lnSpc>
                <a:spcPts val="2365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Just-</a:t>
            </a:r>
            <a:r>
              <a:rPr sz="2200" b="1" spc="-10" dirty="0">
                <a:latin typeface="Times New Roman"/>
                <a:cs typeface="Times New Roman"/>
              </a:rPr>
              <a:t>In-</a:t>
            </a:r>
            <a:r>
              <a:rPr sz="2200" b="1" dirty="0">
                <a:latin typeface="Times New Roman"/>
                <a:cs typeface="Times New Roman"/>
              </a:rPr>
              <a:t>Time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(JIT)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Compiler: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Converts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bytecode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native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</a:t>
            </a:r>
            <a:endParaRPr sz="2200" dirty="0">
              <a:latin typeface="Times New Roman"/>
              <a:cs typeface="Times New Roman"/>
            </a:endParaRPr>
          </a:p>
          <a:p>
            <a:pPr marL="698500">
              <a:lnSpc>
                <a:spcPts val="2360"/>
              </a:lnSpc>
            </a:pP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performance.</a:t>
            </a:r>
            <a:endParaRPr sz="2200" dirty="0">
              <a:latin typeface="Times New Roman"/>
              <a:cs typeface="Times New Roman"/>
            </a:endParaRPr>
          </a:p>
          <a:p>
            <a:pPr marL="698500" marR="5080" indent="-228600">
              <a:lnSpc>
                <a:spcPct val="8000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b="1" dirty="0">
                <a:latin typeface="Times New Roman"/>
                <a:cs typeface="Times New Roman"/>
              </a:rPr>
              <a:t>Garbage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Collector:</a:t>
            </a:r>
            <a:r>
              <a:rPr sz="2200" b="1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Automatically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deallocates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removing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objects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are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longer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referenced.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" y="1278636"/>
            <a:ext cx="10759440" cy="4134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221437"/>
            <a:ext cx="11556365" cy="6043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77495" algn="l"/>
              </a:tabLst>
            </a:pP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Java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Virtual</a:t>
            </a:r>
            <a:r>
              <a:rPr sz="2000" b="1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Machine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or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JVM</a:t>
            </a:r>
            <a:endParaRPr sz="2000">
              <a:latin typeface="Cambria"/>
              <a:cs typeface="Cambria"/>
            </a:endParaRPr>
          </a:p>
          <a:p>
            <a:pPr marL="241300" marR="113664" lvl="1" indent="-229235">
              <a:lnSpc>
                <a:spcPct val="140000"/>
              </a:lnSpc>
              <a:spcBef>
                <a:spcPts val="10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mbria"/>
                <a:cs typeface="Cambria"/>
              </a:rPr>
              <a:t>Java</a:t>
            </a:r>
            <a:r>
              <a:rPr sz="2000" b="1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mbria"/>
                <a:cs typeface="Cambria"/>
              </a:rPr>
              <a:t>Virtual</a:t>
            </a:r>
            <a:r>
              <a:rPr sz="2000" b="1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mbria"/>
                <a:cs typeface="Cambria"/>
              </a:rPr>
              <a:t>Machine</a:t>
            </a:r>
            <a:r>
              <a:rPr sz="2000" b="1" i="1" spc="3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platform-independent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Java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component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provides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environment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for </a:t>
            </a:r>
            <a:r>
              <a:rPr sz="2000" spc="-10" dirty="0">
                <a:latin typeface="Cambria"/>
                <a:cs typeface="Cambria"/>
              </a:rPr>
              <a:t>executing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Java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programs.</a:t>
            </a:r>
            <a:endParaRPr sz="2000">
              <a:latin typeface="Cambria"/>
              <a:cs typeface="Cambria"/>
            </a:endParaRPr>
          </a:p>
          <a:p>
            <a:pPr marL="240665" lvl="1" indent="-227965">
              <a:lnSpc>
                <a:spcPct val="100000"/>
              </a:lnSpc>
              <a:spcBef>
                <a:spcPts val="1964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Cambria"/>
                <a:cs typeface="Cambria"/>
              </a:rPr>
              <a:t>JVM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loads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code,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validates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code,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executes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code,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provides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runtime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environment.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2000" b="1" dirty="0">
                <a:latin typeface="Cambria"/>
                <a:cs typeface="Cambria"/>
              </a:rPr>
              <a:t>2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.</a:t>
            </a:r>
            <a:r>
              <a:rPr sz="2000" b="1" u="sng" spc="-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Java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Runtime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Environment</a:t>
            </a:r>
            <a:r>
              <a:rPr sz="2000" b="1" u="sng" spc="-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or</a:t>
            </a:r>
            <a:r>
              <a:rPr sz="2000" b="1" u="sng" spc="-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JRE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5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Java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Runtime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Environment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JRE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builds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environment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which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Java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files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run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2000" spc="-10" dirty="0">
                <a:latin typeface="Cambria"/>
                <a:cs typeface="Cambria"/>
              </a:rPr>
              <a:t>executed.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7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It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software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package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contains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JVM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along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Java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class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libraries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Java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class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loader.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sz="2000" b="1" dirty="0">
                <a:latin typeface="Cambria"/>
                <a:cs typeface="Cambria"/>
              </a:rPr>
              <a:t>3.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Java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Development</a:t>
            </a:r>
            <a:r>
              <a:rPr sz="2000" b="1" u="sng" spc="-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Kit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or</a:t>
            </a:r>
            <a:r>
              <a:rPr sz="2000" b="1" u="sng" spc="-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JDK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960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Java</a:t>
            </a:r>
            <a:r>
              <a:rPr sz="2000" spc="-10" dirty="0">
                <a:latin typeface="Cambria"/>
                <a:cs typeface="Cambria"/>
              </a:rPr>
              <a:t> Development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Kit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JDK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superset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JRE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software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development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environment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to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Cambria"/>
                <a:cs typeface="Cambria"/>
              </a:rPr>
              <a:t>develop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Java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applications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applets.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7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JDK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includes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private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JVM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few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other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resources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finish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development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Java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application.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0920" y="5939739"/>
            <a:ext cx="14859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Arial MT"/>
                <a:cs typeface="Arial MT"/>
              </a:rPr>
              <a:t>jdfdf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2904" y="1097406"/>
            <a:ext cx="3234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JVM,JRE</a:t>
            </a:r>
            <a:r>
              <a:rPr sz="4000" b="1" spc="-1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&amp;JDK</a:t>
            </a:r>
            <a:endParaRPr sz="4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50" y="2400300"/>
            <a:ext cx="10070973" cy="295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2048" y="1467564"/>
            <a:ext cx="10960735" cy="4574540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According</a:t>
            </a:r>
            <a:r>
              <a:rPr sz="2300" spc="409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to</a:t>
            </a:r>
            <a:r>
              <a:rPr sz="2300" spc="409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Sun,</a:t>
            </a:r>
            <a:r>
              <a:rPr sz="2300" spc="42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3</a:t>
            </a:r>
            <a:r>
              <a:rPr sz="2300" spc="42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billion</a:t>
            </a:r>
            <a:r>
              <a:rPr sz="2300" spc="40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devices</a:t>
            </a:r>
            <a:r>
              <a:rPr sz="2300" spc="40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run</a:t>
            </a:r>
            <a:r>
              <a:rPr sz="2300" spc="43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java.</a:t>
            </a:r>
            <a:r>
              <a:rPr sz="2300" spc="42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There</a:t>
            </a:r>
            <a:r>
              <a:rPr sz="2300" spc="409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are</a:t>
            </a:r>
            <a:r>
              <a:rPr sz="2300" spc="4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many</a:t>
            </a:r>
            <a:r>
              <a:rPr sz="2300" spc="42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devices</a:t>
            </a:r>
            <a:r>
              <a:rPr sz="2300" spc="409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where</a:t>
            </a:r>
            <a:r>
              <a:rPr sz="2300" spc="41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java</a:t>
            </a:r>
            <a:r>
              <a:rPr sz="2300" spc="4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spc="-25" dirty="0">
                <a:solidFill>
                  <a:srgbClr val="0D0D0D"/>
                </a:solidFill>
                <a:latin typeface="Cambria"/>
                <a:cs typeface="Cambria"/>
              </a:rPr>
              <a:t>is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currently</a:t>
            </a:r>
            <a:r>
              <a:rPr sz="2300" spc="-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used.</a:t>
            </a:r>
            <a:r>
              <a:rPr sz="23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Some</a:t>
            </a:r>
            <a:r>
              <a:rPr sz="23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of</a:t>
            </a:r>
            <a:r>
              <a:rPr sz="2300" spc="-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them</a:t>
            </a:r>
            <a:r>
              <a:rPr sz="2300" spc="-3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are</a:t>
            </a:r>
            <a:r>
              <a:rPr sz="2300" spc="-2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as</a:t>
            </a:r>
            <a:r>
              <a:rPr sz="23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follows:</a:t>
            </a:r>
            <a:endParaRPr sz="2300">
              <a:latin typeface="Cambria"/>
              <a:cs typeface="Cambria"/>
            </a:endParaRPr>
          </a:p>
          <a:p>
            <a:pPr marL="2298700" indent="-457200">
              <a:lnSpc>
                <a:spcPct val="100000"/>
              </a:lnSpc>
              <a:spcBef>
                <a:spcPts val="2020"/>
              </a:spcBef>
              <a:buSzPct val="121739"/>
              <a:buFont typeface="Wingdings"/>
              <a:buChar char=""/>
              <a:tabLst>
                <a:tab pos="2298700" algn="l"/>
              </a:tabLst>
            </a:pP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Desktop</a:t>
            </a:r>
            <a:r>
              <a:rPr sz="23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Applications</a:t>
            </a:r>
            <a:endParaRPr sz="2300">
              <a:latin typeface="Cambria"/>
              <a:cs typeface="Cambria"/>
            </a:endParaRPr>
          </a:p>
          <a:p>
            <a:pPr marL="2298700" indent="-457200">
              <a:lnSpc>
                <a:spcPct val="100000"/>
              </a:lnSpc>
              <a:spcBef>
                <a:spcPts val="1475"/>
              </a:spcBef>
              <a:buSzPct val="121739"/>
              <a:buFont typeface="Wingdings"/>
              <a:buChar char=""/>
              <a:tabLst>
                <a:tab pos="2298700" algn="l"/>
              </a:tabLst>
            </a:pPr>
            <a:r>
              <a:rPr sz="2300" spc="-35" dirty="0">
                <a:solidFill>
                  <a:srgbClr val="0D0D0D"/>
                </a:solidFill>
                <a:latin typeface="Cambria"/>
                <a:cs typeface="Cambria"/>
              </a:rPr>
              <a:t>Web</a:t>
            </a:r>
            <a:r>
              <a:rPr sz="2300" spc="-8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Applications</a:t>
            </a:r>
            <a:endParaRPr sz="2300">
              <a:latin typeface="Cambria"/>
              <a:cs typeface="Cambria"/>
            </a:endParaRPr>
          </a:p>
          <a:p>
            <a:pPr marL="2298700" indent="-457200">
              <a:lnSpc>
                <a:spcPct val="100000"/>
              </a:lnSpc>
              <a:spcBef>
                <a:spcPts val="1475"/>
              </a:spcBef>
              <a:buSzPct val="121739"/>
              <a:buFont typeface="Wingdings"/>
              <a:buChar char=""/>
              <a:tabLst>
                <a:tab pos="2298700" algn="l"/>
              </a:tabLst>
            </a:pP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Enterprise</a:t>
            </a:r>
            <a:r>
              <a:rPr sz="2300" spc="-6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Applications</a:t>
            </a:r>
            <a:endParaRPr sz="2300">
              <a:latin typeface="Cambria"/>
              <a:cs typeface="Cambria"/>
            </a:endParaRPr>
          </a:p>
          <a:p>
            <a:pPr marL="2298700" indent="-457200">
              <a:lnSpc>
                <a:spcPct val="100000"/>
              </a:lnSpc>
              <a:spcBef>
                <a:spcPts val="1465"/>
              </a:spcBef>
              <a:buSzPct val="121739"/>
              <a:buFont typeface="Wingdings"/>
              <a:buChar char=""/>
              <a:tabLst>
                <a:tab pos="2298700" algn="l"/>
              </a:tabLst>
            </a:pP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Mobiles</a:t>
            </a:r>
            <a:endParaRPr sz="2300">
              <a:latin typeface="Cambria"/>
              <a:cs typeface="Cambria"/>
            </a:endParaRPr>
          </a:p>
          <a:p>
            <a:pPr marL="2298700" indent="-457200">
              <a:lnSpc>
                <a:spcPct val="100000"/>
              </a:lnSpc>
              <a:spcBef>
                <a:spcPts val="1475"/>
              </a:spcBef>
              <a:buSzPct val="121739"/>
              <a:buFont typeface="Wingdings"/>
              <a:buChar char=""/>
              <a:tabLst>
                <a:tab pos="2298700" algn="l"/>
              </a:tabLst>
            </a:pPr>
            <a:r>
              <a:rPr sz="2300" dirty="0">
                <a:solidFill>
                  <a:srgbClr val="0D0D0D"/>
                </a:solidFill>
                <a:latin typeface="Cambria"/>
                <a:cs typeface="Cambria"/>
              </a:rPr>
              <a:t>Embedded</a:t>
            </a: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 Systems</a:t>
            </a:r>
            <a:endParaRPr sz="2300">
              <a:latin typeface="Cambria"/>
              <a:cs typeface="Cambria"/>
            </a:endParaRPr>
          </a:p>
          <a:p>
            <a:pPr marL="2298700" indent="-457200">
              <a:lnSpc>
                <a:spcPct val="100000"/>
              </a:lnSpc>
              <a:spcBef>
                <a:spcPts val="1480"/>
              </a:spcBef>
              <a:buSzPct val="121739"/>
              <a:buFont typeface="Wingdings"/>
              <a:buChar char=""/>
              <a:tabLst>
                <a:tab pos="2298700" algn="l"/>
              </a:tabLst>
            </a:pPr>
            <a:r>
              <a:rPr sz="2300" spc="-10" dirty="0">
                <a:solidFill>
                  <a:srgbClr val="0D0D0D"/>
                </a:solidFill>
                <a:latin typeface="Cambria"/>
                <a:cs typeface="Cambria"/>
              </a:rPr>
              <a:t>Games</a:t>
            </a:r>
            <a:endParaRPr sz="2300">
              <a:latin typeface="Cambria"/>
              <a:cs typeface="Cambria"/>
            </a:endParaRPr>
          </a:p>
          <a:p>
            <a:pPr marL="131445">
              <a:lnSpc>
                <a:spcPct val="100000"/>
              </a:lnSpc>
              <a:spcBef>
                <a:spcPts val="990"/>
              </a:spcBef>
            </a:pPr>
            <a:r>
              <a:rPr sz="500" spc="-10" dirty="0">
                <a:latin typeface="Arial MT"/>
                <a:cs typeface="Arial MT"/>
              </a:rPr>
              <a:t>jdfdf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82339" y="598423"/>
            <a:ext cx="4608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000" b="1" spc="-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000" b="1" spc="-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000" b="1" spc="-1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24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400" b="1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70"/>
              </a:spcBef>
              <a:buAutoNum type="arabicPeriod"/>
              <a:tabLst>
                <a:tab pos="355600" algn="l"/>
              </a:tabLst>
            </a:pPr>
            <a:r>
              <a:rPr spc="-10" dirty="0"/>
              <a:t>Desktop</a:t>
            </a:r>
            <a:r>
              <a:rPr spc="-100" dirty="0"/>
              <a:t> </a:t>
            </a:r>
            <a:r>
              <a:rPr spc="-10" dirty="0"/>
              <a:t>Applications</a:t>
            </a:r>
            <a:r>
              <a:rPr b="0" spc="-10" dirty="0">
                <a:latin typeface="Times New Roman"/>
                <a:cs typeface="Times New Roman"/>
              </a:rPr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1475"/>
              </a:spcBef>
              <a:buSzPct val="45454"/>
              <a:buFont typeface="Courier New"/>
              <a:buChar char="o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desktop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graphical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(GUIs),</a:t>
            </a:r>
            <a:endParaRPr sz="22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95"/>
              </a:spcBef>
            </a:pPr>
            <a:r>
              <a:rPr b="0" dirty="0">
                <a:latin typeface="Times New Roman"/>
                <a:cs typeface="Times New Roman"/>
              </a:rPr>
              <a:t>such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as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those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using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Swing,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JavaFX,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or</a:t>
            </a:r>
            <a:r>
              <a:rPr b="0" spc="-13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AWT.</a:t>
            </a:r>
          </a:p>
          <a:p>
            <a:pPr marL="756285" marR="5080" lvl="1" indent="-287020">
              <a:lnSpc>
                <a:spcPct val="106800"/>
              </a:lnSpc>
              <a:spcBef>
                <a:spcPts val="1310"/>
              </a:spcBef>
              <a:buSzPct val="45454"/>
              <a:buFont typeface="Courier New"/>
              <a:buChar char="o"/>
              <a:tabLst>
                <a:tab pos="756285" algn="l"/>
              </a:tabLst>
            </a:pPr>
            <a:r>
              <a:rPr sz="2200" b="1" dirty="0">
                <a:latin typeface="Times New Roman"/>
                <a:cs typeface="Times New Roman"/>
              </a:rPr>
              <a:t>Example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IntelliJ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IDEA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popular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Integrated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(IDE)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Java.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2765" y="4605909"/>
            <a:ext cx="3971924" cy="11810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24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400" b="1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662330"/>
            <a:ext cx="10139045" cy="2313305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570"/>
              </a:spcBef>
              <a:buAutoNum type="arabicPeriod" startAt="2"/>
              <a:tabLst>
                <a:tab pos="469900" algn="l"/>
              </a:tabLst>
            </a:pPr>
            <a:r>
              <a:rPr sz="2200" b="1" spc="-60" dirty="0">
                <a:latin typeface="Times New Roman"/>
                <a:cs typeface="Times New Roman"/>
              </a:rPr>
              <a:t>Web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Applications:</a:t>
            </a:r>
            <a:endParaRPr sz="2200" dirty="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1475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commonly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server-</a:t>
            </a:r>
            <a:r>
              <a:rPr sz="2200" dirty="0">
                <a:latin typeface="Times New Roman"/>
                <a:cs typeface="Times New Roman"/>
              </a:rPr>
              <a:t>side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technologies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EE</a:t>
            </a:r>
            <a:endParaRPr sz="2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95"/>
              </a:spcBef>
            </a:pPr>
            <a:r>
              <a:rPr sz="2200" dirty="0">
                <a:latin typeface="Times New Roman"/>
                <a:cs typeface="Times New Roman"/>
              </a:rPr>
              <a:t>(Jakarta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EE),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Spring,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servlets.</a:t>
            </a:r>
            <a:endParaRPr sz="2200" dirty="0">
              <a:latin typeface="Times New Roman"/>
              <a:cs typeface="Times New Roman"/>
            </a:endParaRPr>
          </a:p>
          <a:p>
            <a:pPr marL="469900" marR="123825" lvl="1" indent="457200">
              <a:lnSpc>
                <a:spcPct val="106800"/>
              </a:lnSpc>
              <a:spcBef>
                <a:spcPts val="1310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Example: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LinkedIn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utilizes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backend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web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large- </a:t>
            </a:r>
            <a:r>
              <a:rPr sz="2200" dirty="0">
                <a:latin typeface="Times New Roman"/>
                <a:cs typeface="Times New Roman"/>
              </a:rPr>
              <a:t>scale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web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traffic.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5679" y="4692396"/>
            <a:ext cx="4370832" cy="1092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24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400" b="1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570"/>
              </a:spcBef>
              <a:buAutoNum type="arabicPeriod" startAt="3"/>
              <a:tabLst>
                <a:tab pos="469900" algn="l"/>
              </a:tabLst>
            </a:pPr>
            <a:r>
              <a:rPr spc="-10" dirty="0"/>
              <a:t>Enterprise</a:t>
            </a:r>
            <a:r>
              <a:rPr spc="-120" dirty="0"/>
              <a:t> </a:t>
            </a:r>
            <a:r>
              <a:rPr spc="-10" dirty="0"/>
              <a:t>Applications:</a:t>
            </a:r>
          </a:p>
          <a:p>
            <a:pPr marL="927100" lvl="1" indent="-457200">
              <a:lnSpc>
                <a:spcPct val="100000"/>
              </a:lnSpc>
              <a:spcBef>
                <a:spcPts val="1475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widely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enterprise-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scalability,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95"/>
              </a:spcBef>
            </a:pPr>
            <a:r>
              <a:rPr b="0" spc="-10" dirty="0">
                <a:latin typeface="Times New Roman"/>
                <a:cs typeface="Times New Roman"/>
              </a:rPr>
              <a:t>security,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performance,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often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using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Java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EE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Spring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frameworks.</a:t>
            </a:r>
          </a:p>
          <a:p>
            <a:pPr marL="469900" marR="5080" lvl="1" indent="457200">
              <a:lnSpc>
                <a:spcPct val="106800"/>
              </a:lnSpc>
              <a:spcBef>
                <a:spcPts val="1310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Example: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Salesforce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enterprise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cloud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offering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CRM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enterprise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tools.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0079" y="4434840"/>
            <a:ext cx="2484120" cy="1741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24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400" b="1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85264"/>
            <a:ext cx="10300970" cy="17252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30530" indent="-417830">
              <a:lnSpc>
                <a:spcPct val="100000"/>
              </a:lnSpc>
              <a:spcBef>
                <a:spcPts val="340"/>
              </a:spcBef>
              <a:buAutoNum type="arabicPeriod" startAt="4"/>
              <a:tabLst>
                <a:tab pos="43053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Mobiles:</a:t>
            </a:r>
            <a:endParaRPr sz="2200">
              <a:latin typeface="Times New Roman"/>
              <a:cs typeface="Times New Roman"/>
            </a:endParaRPr>
          </a:p>
          <a:p>
            <a:pPr marL="927100" lvl="1" indent="-457200">
              <a:lnSpc>
                <a:spcPts val="2510"/>
              </a:lnSpc>
              <a:spcBef>
                <a:spcPts val="240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(through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Android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programming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510"/>
              </a:lnSpc>
            </a:pPr>
            <a:r>
              <a:rPr sz="2200" spc="-10" dirty="0">
                <a:latin typeface="Times New Roman"/>
                <a:cs typeface="Times New Roman"/>
              </a:rPr>
              <a:t>building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Android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apps.</a:t>
            </a:r>
            <a:endParaRPr sz="2200">
              <a:latin typeface="Times New Roman"/>
              <a:cs typeface="Times New Roman"/>
            </a:endParaRPr>
          </a:p>
          <a:p>
            <a:pPr marL="469900" marR="913765" lvl="1" indent="457200">
              <a:lnSpc>
                <a:spcPts val="2380"/>
              </a:lnSpc>
              <a:spcBef>
                <a:spcPts val="525"/>
              </a:spcBef>
              <a:buFont typeface="Times New Roman"/>
              <a:buChar char="o"/>
              <a:tabLst>
                <a:tab pos="927100" algn="l"/>
              </a:tabLst>
            </a:pPr>
            <a:r>
              <a:rPr sz="2200" b="1" dirty="0">
                <a:latin typeface="Times New Roman"/>
                <a:cs typeface="Times New Roman"/>
              </a:rPr>
              <a:t>Example: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WhatsApp,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popular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mobile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was </a:t>
            </a:r>
            <a:r>
              <a:rPr sz="2200" dirty="0">
                <a:latin typeface="Times New Roman"/>
                <a:cs typeface="Times New Roman"/>
              </a:rPr>
              <a:t>originally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Android.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6899" y="4073550"/>
            <a:ext cx="1859497" cy="18596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24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400" b="1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85264"/>
            <a:ext cx="10245725" cy="17252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01015" indent="-488315">
              <a:lnSpc>
                <a:spcPct val="100000"/>
              </a:lnSpc>
              <a:spcBef>
                <a:spcPts val="340"/>
              </a:spcBef>
              <a:buAutoNum type="arabicPeriod" startAt="5"/>
              <a:tabLst>
                <a:tab pos="501015" algn="l"/>
              </a:tabLst>
            </a:pPr>
            <a:r>
              <a:rPr sz="2200" b="1" dirty="0">
                <a:latin typeface="Times New Roman"/>
                <a:cs typeface="Times New Roman"/>
              </a:rPr>
              <a:t>Embedded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Systems:</a:t>
            </a:r>
            <a:endParaRPr sz="2200">
              <a:latin typeface="Times New Roman"/>
              <a:cs typeface="Times New Roman"/>
            </a:endParaRPr>
          </a:p>
          <a:p>
            <a:pPr marL="927100" lvl="1" indent="-457200">
              <a:lnSpc>
                <a:spcPts val="2510"/>
              </a:lnSpc>
              <a:spcBef>
                <a:spcPts val="240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embedded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especially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(Micro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Edition),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resources.</a:t>
            </a:r>
            <a:endParaRPr sz="2200">
              <a:latin typeface="Times New Roman"/>
              <a:cs typeface="Times New Roman"/>
            </a:endParaRPr>
          </a:p>
          <a:p>
            <a:pPr marL="469900" marR="5080" lvl="1" indent="457200">
              <a:lnSpc>
                <a:spcPts val="2380"/>
              </a:lnSpc>
              <a:spcBef>
                <a:spcPts val="525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Example: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Smart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TVs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leveraging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ME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embedded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layer.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5447" y="3742944"/>
            <a:ext cx="3779520" cy="2848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24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Where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400" b="1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used?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85264"/>
            <a:ext cx="9903460" cy="17252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01015" indent="-488315">
              <a:lnSpc>
                <a:spcPct val="100000"/>
              </a:lnSpc>
              <a:spcBef>
                <a:spcPts val="340"/>
              </a:spcBef>
              <a:buAutoNum type="arabicPeriod" startAt="6"/>
              <a:tabLst>
                <a:tab pos="50101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Games:</a:t>
            </a:r>
            <a:endParaRPr sz="2200">
              <a:latin typeface="Times New Roman"/>
              <a:cs typeface="Times New Roman"/>
            </a:endParaRPr>
          </a:p>
          <a:p>
            <a:pPr marL="927100" lvl="1" indent="-457200">
              <a:lnSpc>
                <a:spcPts val="2510"/>
              </a:lnSpc>
              <a:spcBef>
                <a:spcPts val="240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Java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 LibGDX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engines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jMonkeyEngine.</a:t>
            </a:r>
            <a:endParaRPr sz="2200">
              <a:latin typeface="Times New Roman"/>
              <a:cs typeface="Times New Roman"/>
            </a:endParaRPr>
          </a:p>
          <a:p>
            <a:pPr marL="469900" marR="621030" lvl="1" indent="457200">
              <a:lnSpc>
                <a:spcPts val="2380"/>
              </a:lnSpc>
              <a:spcBef>
                <a:spcPts val="525"/>
              </a:spcBef>
              <a:buChar char="o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Example: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Minecraft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(Java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Edition)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well-</a:t>
            </a: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initially </a:t>
            </a:r>
            <a:r>
              <a:rPr sz="2200" dirty="0">
                <a:latin typeface="Times New Roman"/>
                <a:cs typeface="Times New Roman"/>
              </a:rPr>
              <a:t>developed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Java.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007" y="4032503"/>
            <a:ext cx="3813048" cy="21442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4452" y="4032503"/>
            <a:ext cx="3558540" cy="2135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3620" y="5958502"/>
            <a:ext cx="123189" cy="7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55"/>
              </a:lnSpc>
            </a:pPr>
            <a:r>
              <a:rPr sz="500" spc="-10" dirty="0">
                <a:latin typeface="Arial MT"/>
                <a:cs typeface="Arial MT"/>
              </a:rPr>
              <a:t>jdfdf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5489" y="1843223"/>
            <a:ext cx="11139805" cy="4761865"/>
            <a:chOff x="555489" y="1843223"/>
            <a:chExt cx="11139805" cy="4761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489" y="1843223"/>
              <a:ext cx="11139305" cy="47614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5" y="1888236"/>
              <a:ext cx="10984992" cy="46070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1405" y="1869186"/>
              <a:ext cx="11023600" cy="4645660"/>
            </a:xfrm>
            <a:custGeom>
              <a:avLst/>
              <a:gdLst/>
              <a:ahLst/>
              <a:cxnLst/>
              <a:rect l="l" t="t" r="r" b="b"/>
              <a:pathLst>
                <a:path w="11023600" h="4645659">
                  <a:moveTo>
                    <a:pt x="0" y="4645152"/>
                  </a:moveTo>
                  <a:lnTo>
                    <a:pt x="11023092" y="4645152"/>
                  </a:lnTo>
                  <a:lnTo>
                    <a:pt x="11023092" y="0"/>
                  </a:lnTo>
                  <a:lnTo>
                    <a:pt x="0" y="0"/>
                  </a:lnTo>
                  <a:lnTo>
                    <a:pt x="0" y="464515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44061" y="557910"/>
            <a:ext cx="45561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9745" algn="l"/>
                <a:tab pos="3018790" algn="l"/>
              </a:tabLst>
            </a:pPr>
            <a:r>
              <a:rPr sz="6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Who</a:t>
            </a:r>
            <a:r>
              <a:rPr sz="600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6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use</a:t>
            </a:r>
            <a:r>
              <a:rPr sz="600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60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Java</a:t>
            </a:r>
            <a:endParaRPr sz="6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2263" rIns="0" bIns="0" rtlCol="0">
            <a:spAutoFit/>
          </a:bodyPr>
          <a:lstStyle/>
          <a:p>
            <a:pPr marL="265176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Types</a:t>
            </a:r>
            <a:r>
              <a:rPr sz="4000" b="1" spc="-1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4000" b="1" spc="-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r>
              <a:rPr sz="40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Applications?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3359" y="2140204"/>
            <a:ext cx="4257040" cy="27692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900"/>
              </a:spcBef>
              <a:buSzPct val="68333"/>
              <a:buFont typeface="Wingdings"/>
              <a:buChar char=""/>
              <a:tabLst>
                <a:tab pos="469900" algn="l"/>
              </a:tabLst>
            </a:pPr>
            <a:r>
              <a:rPr sz="3000" dirty="0">
                <a:latin typeface="Cambria"/>
                <a:cs typeface="Cambria"/>
              </a:rPr>
              <a:t>Standalone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Application</a:t>
            </a:r>
            <a:endParaRPr sz="3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800"/>
              </a:spcBef>
              <a:buSzPct val="68333"/>
              <a:buFont typeface="Wingdings"/>
              <a:buChar char=""/>
              <a:tabLst>
                <a:tab pos="469900" algn="l"/>
              </a:tabLst>
            </a:pPr>
            <a:r>
              <a:rPr sz="3000" spc="-20" dirty="0">
                <a:latin typeface="Cambria"/>
                <a:cs typeface="Cambria"/>
              </a:rPr>
              <a:t>Web</a:t>
            </a:r>
            <a:r>
              <a:rPr sz="3000" spc="-13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Application</a:t>
            </a:r>
            <a:endParaRPr sz="3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800"/>
              </a:spcBef>
              <a:buSzPct val="68333"/>
              <a:buFont typeface="Wingdings"/>
              <a:buChar char=""/>
              <a:tabLst>
                <a:tab pos="469900" algn="l"/>
              </a:tabLst>
            </a:pPr>
            <a:r>
              <a:rPr sz="3000" dirty="0">
                <a:latin typeface="Cambria"/>
                <a:cs typeface="Cambria"/>
              </a:rPr>
              <a:t>Enterprise</a:t>
            </a:r>
            <a:r>
              <a:rPr sz="3000" spc="-9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Application</a:t>
            </a:r>
            <a:endParaRPr sz="3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800"/>
              </a:spcBef>
              <a:buSzPct val="68333"/>
              <a:buFont typeface="Wingdings"/>
              <a:buChar char=""/>
              <a:tabLst>
                <a:tab pos="469900" algn="l"/>
              </a:tabLst>
            </a:pPr>
            <a:r>
              <a:rPr sz="3000" dirty="0">
                <a:latin typeface="Cambria"/>
                <a:cs typeface="Cambria"/>
              </a:rPr>
              <a:t>Mobile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Application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0920" y="5939739"/>
            <a:ext cx="14859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Arial MT"/>
                <a:cs typeface="Arial MT"/>
              </a:rPr>
              <a:t>jdfdf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09645" y="464058"/>
            <a:ext cx="65595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Cambria"/>
                <a:cs typeface="Cambria"/>
              </a:rPr>
              <a:t>Standalone</a:t>
            </a:r>
            <a:r>
              <a:rPr sz="4800" b="1" spc="-2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800" b="1" spc="-10" dirty="0">
                <a:solidFill>
                  <a:srgbClr val="000000"/>
                </a:solidFill>
                <a:latin typeface="Cambria"/>
                <a:cs typeface="Cambria"/>
              </a:rPr>
              <a:t>Application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359" y="1363096"/>
            <a:ext cx="10960100" cy="2882900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95"/>
              </a:spcBef>
              <a:buSzPct val="78000"/>
              <a:buFont typeface="Wingdings"/>
              <a:buChar char=""/>
              <a:tabLst>
                <a:tab pos="354965" algn="l"/>
              </a:tabLst>
            </a:pPr>
            <a:r>
              <a:rPr sz="2500" dirty="0">
                <a:latin typeface="Cambria"/>
                <a:cs typeface="Cambria"/>
              </a:rPr>
              <a:t>It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is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also</a:t>
            </a:r>
            <a:r>
              <a:rPr sz="2500" spc="-4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known</a:t>
            </a:r>
            <a:r>
              <a:rPr sz="2500" spc="-1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as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Desktop</a:t>
            </a:r>
            <a:r>
              <a:rPr sz="25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application</a:t>
            </a:r>
            <a:r>
              <a:rPr sz="25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or</a:t>
            </a:r>
            <a:r>
              <a:rPr sz="2500" spc="-30" dirty="0">
                <a:latin typeface="Cambria"/>
                <a:cs typeface="Cambria"/>
              </a:rPr>
              <a:t> </a:t>
            </a:r>
            <a:r>
              <a:rPr sz="2500" i="1" spc="-30" dirty="0">
                <a:solidFill>
                  <a:srgbClr val="FF0000"/>
                </a:solidFill>
                <a:latin typeface="Cambria"/>
                <a:cs typeface="Cambria"/>
              </a:rPr>
              <a:t>window-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based</a:t>
            </a:r>
            <a:r>
              <a:rPr sz="25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application</a:t>
            </a:r>
            <a:r>
              <a:rPr sz="2500" spc="-10" dirty="0">
                <a:latin typeface="Cambria"/>
                <a:cs typeface="Cambria"/>
              </a:rPr>
              <a:t>.</a:t>
            </a:r>
            <a:endParaRPr sz="2500">
              <a:latin typeface="Cambria"/>
              <a:cs typeface="Cambria"/>
            </a:endParaRPr>
          </a:p>
          <a:p>
            <a:pPr marL="165100" marR="5080" indent="-152400">
              <a:lnSpc>
                <a:spcPts val="4500"/>
              </a:lnSpc>
              <a:spcBef>
                <a:spcPts val="400"/>
              </a:spcBef>
              <a:buSzPct val="78000"/>
              <a:buFont typeface="Wingdings"/>
              <a:buChar char=""/>
              <a:tabLst>
                <a:tab pos="165100" algn="l"/>
                <a:tab pos="354965" algn="l"/>
              </a:tabLst>
            </a:pPr>
            <a:r>
              <a:rPr sz="2500" dirty="0">
                <a:latin typeface="Cambria"/>
                <a:cs typeface="Cambria"/>
              </a:rPr>
              <a:t>	An</a:t>
            </a:r>
            <a:r>
              <a:rPr sz="2500" spc="1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application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that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we</a:t>
            </a:r>
            <a:r>
              <a:rPr sz="2500" i="1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need</a:t>
            </a:r>
            <a:r>
              <a:rPr sz="2500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500" i="1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install</a:t>
            </a:r>
            <a:r>
              <a:rPr sz="2500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500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every</a:t>
            </a:r>
            <a:r>
              <a:rPr sz="2500" i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machine</a:t>
            </a:r>
            <a:r>
              <a:rPr sz="2500" i="1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such</a:t>
            </a:r>
            <a:r>
              <a:rPr sz="2500" spc="1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as</a:t>
            </a:r>
            <a:r>
              <a:rPr sz="2500" spc="1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media</a:t>
            </a:r>
            <a:r>
              <a:rPr sz="2500" spc="17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player, </a:t>
            </a:r>
            <a:r>
              <a:rPr sz="2500" dirty="0">
                <a:latin typeface="Cambria"/>
                <a:cs typeface="Cambria"/>
              </a:rPr>
              <a:t>antivirus</a:t>
            </a:r>
            <a:r>
              <a:rPr sz="2500" spc="-110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etc.</a:t>
            </a:r>
            <a:endParaRPr sz="2500">
              <a:latin typeface="Cambria"/>
              <a:cs typeface="Cambria"/>
            </a:endParaRPr>
          </a:p>
          <a:p>
            <a:pPr marL="425450" indent="-41275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78000"/>
              <a:buFont typeface="Wingdings"/>
              <a:buChar char=""/>
              <a:tabLst>
                <a:tab pos="425450" algn="l"/>
              </a:tabLst>
            </a:pPr>
            <a:r>
              <a:rPr sz="2500" i="1" spc="-30" dirty="0">
                <a:solidFill>
                  <a:srgbClr val="FF0000"/>
                </a:solidFill>
                <a:latin typeface="Cambria"/>
                <a:cs typeface="Cambria"/>
              </a:rPr>
              <a:t>AWT</a:t>
            </a:r>
            <a:r>
              <a:rPr sz="2500" i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500" i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Swing</a:t>
            </a:r>
            <a:r>
              <a:rPr sz="2500" i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are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used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in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java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for</a:t>
            </a:r>
            <a:r>
              <a:rPr sz="2500" spc="-7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creating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standalone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applications.</a:t>
            </a:r>
            <a:endParaRPr sz="25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00"/>
              </a:spcBef>
              <a:buSzPct val="78000"/>
              <a:buFont typeface="Wingdings"/>
              <a:buChar char=""/>
              <a:tabLst>
                <a:tab pos="354965" algn="l"/>
              </a:tabLst>
            </a:pPr>
            <a:r>
              <a:rPr sz="2500" dirty="0">
                <a:latin typeface="Cambria"/>
                <a:cs typeface="Cambria"/>
              </a:rPr>
              <a:t>Ex: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i="1" dirty="0">
                <a:latin typeface="Cambria"/>
                <a:cs typeface="Cambria"/>
              </a:rPr>
              <a:t>Notepad,</a:t>
            </a:r>
            <a:r>
              <a:rPr sz="2500" i="1" spc="-60" dirty="0">
                <a:latin typeface="Cambria"/>
                <a:cs typeface="Cambria"/>
              </a:rPr>
              <a:t> </a:t>
            </a:r>
            <a:r>
              <a:rPr sz="2500" i="1" spc="-20" dirty="0">
                <a:latin typeface="Cambria"/>
                <a:cs typeface="Cambria"/>
              </a:rPr>
              <a:t>Wordpad,</a:t>
            </a:r>
            <a:r>
              <a:rPr sz="2500" i="1" spc="-55" dirty="0">
                <a:latin typeface="Cambria"/>
                <a:cs typeface="Cambria"/>
              </a:rPr>
              <a:t> </a:t>
            </a:r>
            <a:r>
              <a:rPr sz="2500" i="1" dirty="0">
                <a:latin typeface="Cambria"/>
                <a:cs typeface="Cambria"/>
              </a:rPr>
              <a:t>Paint</a:t>
            </a:r>
            <a:r>
              <a:rPr sz="2500" i="1" spc="-35" dirty="0">
                <a:latin typeface="Cambria"/>
                <a:cs typeface="Cambria"/>
              </a:rPr>
              <a:t> </a:t>
            </a:r>
            <a:r>
              <a:rPr sz="2500" i="1" dirty="0">
                <a:latin typeface="Cambria"/>
                <a:cs typeface="Cambria"/>
              </a:rPr>
              <a:t>,</a:t>
            </a:r>
            <a:r>
              <a:rPr sz="2500" i="1" spc="-55" dirty="0">
                <a:latin typeface="Cambria"/>
                <a:cs typeface="Cambria"/>
              </a:rPr>
              <a:t> </a:t>
            </a:r>
            <a:r>
              <a:rPr sz="2500" i="1" spc="-10" dirty="0">
                <a:latin typeface="Cambria"/>
                <a:cs typeface="Cambria"/>
              </a:rPr>
              <a:t>Notepad++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4015" y="4221479"/>
            <a:ext cx="2270760" cy="23881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3268" y="4308485"/>
            <a:ext cx="2247585" cy="206793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8376" y="4648362"/>
            <a:ext cx="2058497" cy="1448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7178" y="285369"/>
            <a:ext cx="46361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40" dirty="0">
                <a:solidFill>
                  <a:srgbClr val="000000"/>
                </a:solidFill>
                <a:latin typeface="Cambria"/>
                <a:cs typeface="Cambria"/>
              </a:rPr>
              <a:t>Web</a:t>
            </a:r>
            <a:r>
              <a:rPr sz="4800" b="1" spc="-2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800" b="1" spc="-10" dirty="0">
                <a:solidFill>
                  <a:srgbClr val="000000"/>
                </a:solidFill>
                <a:latin typeface="Cambria"/>
                <a:cs typeface="Cambria"/>
              </a:rPr>
              <a:t>Application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217" y="1214201"/>
            <a:ext cx="11092815" cy="277050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SzPct val="8541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An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application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 runs on the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server side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creates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dynamic</a:t>
            </a:r>
            <a:r>
              <a:rPr sz="24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page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web</a:t>
            </a:r>
            <a:endParaRPr sz="2400">
              <a:latin typeface="Cambria"/>
              <a:cs typeface="Cambria"/>
            </a:endParaRPr>
          </a:p>
          <a:p>
            <a:pPr marL="1651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ambria"/>
                <a:cs typeface="Cambria"/>
              </a:rPr>
              <a:t>application.</a:t>
            </a:r>
            <a:endParaRPr sz="2400">
              <a:latin typeface="Cambria"/>
              <a:cs typeface="Cambria"/>
            </a:endParaRPr>
          </a:p>
          <a:p>
            <a:pPr marL="165100" marR="5080" indent="-152400">
              <a:lnSpc>
                <a:spcPct val="150000"/>
              </a:lnSpc>
              <a:buSzPct val="85416"/>
              <a:buFont typeface="Wingdings"/>
              <a:buChar char=""/>
              <a:tabLst>
                <a:tab pos="165100" algn="l"/>
                <a:tab pos="422275" algn="l"/>
                <a:tab pos="1856739" algn="l"/>
                <a:tab pos="2961640" algn="l"/>
                <a:tab pos="3551554" algn="l"/>
                <a:tab pos="4470400" algn="l"/>
                <a:tab pos="5016500" algn="l"/>
                <a:tab pos="5598795" algn="l"/>
                <a:tab pos="6181090" algn="l"/>
                <a:tab pos="7988300" algn="l"/>
                <a:tab pos="8768715" algn="l"/>
                <a:tab pos="9306560" algn="l"/>
                <a:tab pos="10532745" algn="l"/>
              </a:tabLst>
            </a:pPr>
            <a:r>
              <a:rPr sz="2400" spc="-10" dirty="0">
                <a:latin typeface="Cambria"/>
                <a:cs typeface="Cambria"/>
              </a:rPr>
              <a:t>	Currently,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Servlet,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JSP,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Struts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etc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technologies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used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for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creating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35" dirty="0">
                <a:latin typeface="Cambria"/>
                <a:cs typeface="Cambria"/>
              </a:rPr>
              <a:t>web </a:t>
            </a:r>
            <a:r>
              <a:rPr sz="2400" dirty="0">
                <a:latin typeface="Cambria"/>
                <a:cs typeface="Cambria"/>
              </a:rPr>
              <a:t>applications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java.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SzPct val="8541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Ex: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Online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forms,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shopping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carts,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Online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banking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4416" y="3872484"/>
            <a:ext cx="2420112" cy="26593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192523"/>
            <a:ext cx="3121152" cy="24502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3084" y="4279391"/>
            <a:ext cx="3137916" cy="20970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0920" y="5939739"/>
            <a:ext cx="14859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Arial MT"/>
                <a:cs typeface="Arial MT"/>
              </a:rPr>
              <a:t>jdfdf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09976" y="196418"/>
            <a:ext cx="6118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Enterprise</a:t>
            </a:r>
            <a:r>
              <a:rPr sz="4400" b="1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Applications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072" y="1003300"/>
            <a:ext cx="11655425" cy="22205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SzPct val="9791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An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application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advantage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high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level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security,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load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balancing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clustering.</a:t>
            </a:r>
            <a:endParaRPr sz="2400">
              <a:latin typeface="Cambria"/>
              <a:cs typeface="Cambria"/>
            </a:endParaRPr>
          </a:p>
          <a:p>
            <a:pPr marL="422275" indent="-409575">
              <a:lnSpc>
                <a:spcPct val="100000"/>
              </a:lnSpc>
              <a:spcBef>
                <a:spcPts val="1445"/>
              </a:spcBef>
              <a:buSzPct val="97916"/>
              <a:buFont typeface="Wingdings"/>
              <a:buChar char=""/>
              <a:tabLst>
                <a:tab pos="422275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java,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EJB</a:t>
            </a:r>
            <a:r>
              <a:rPr sz="2400" i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4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used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4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creating</a:t>
            </a:r>
            <a:r>
              <a:rPr sz="24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enterprise</a:t>
            </a:r>
            <a:r>
              <a:rPr sz="24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applications</a:t>
            </a:r>
            <a:endParaRPr sz="2400">
              <a:latin typeface="Cambria"/>
              <a:cs typeface="Cambria"/>
            </a:endParaRPr>
          </a:p>
          <a:p>
            <a:pPr marL="164465" marR="5080" indent="-152400">
              <a:lnSpc>
                <a:spcPct val="150000"/>
              </a:lnSpc>
              <a:buSzPct val="97916"/>
              <a:buFont typeface="Wingdings"/>
              <a:buChar char=""/>
              <a:tabLst>
                <a:tab pos="164465" algn="l"/>
                <a:tab pos="354330" algn="l"/>
                <a:tab pos="958850" algn="l"/>
                <a:tab pos="2131060" algn="l"/>
                <a:tab pos="3684270" algn="l"/>
                <a:tab pos="5020945" algn="l"/>
                <a:tab pos="6365240" algn="l"/>
                <a:tab pos="7334884" algn="l"/>
                <a:tab pos="8641080" algn="l"/>
                <a:tab pos="10067925" algn="l"/>
              </a:tabLst>
            </a:pPr>
            <a:r>
              <a:rPr sz="2400" spc="-25" dirty="0">
                <a:latin typeface="Cambria"/>
                <a:cs typeface="Cambria"/>
              </a:rPr>
              <a:t>	Ex: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Include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enterprise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resource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planning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(ERP)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systems,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customer</a:t>
            </a:r>
            <a:r>
              <a:rPr sz="2400" dirty="0">
                <a:solidFill>
                  <a:srgbClr val="0D0D0D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D0D0D"/>
                </a:solidFill>
                <a:latin typeface="Cambria"/>
                <a:cs typeface="Cambria"/>
              </a:rPr>
              <a:t>relationship management</a:t>
            </a:r>
            <a:r>
              <a:rPr sz="2400" spc="-7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0D0D0D"/>
                </a:solidFill>
                <a:latin typeface="Cambria"/>
                <a:cs typeface="Cambria"/>
              </a:rPr>
              <a:t>(CRM)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3004" y="3813047"/>
            <a:ext cx="3080004" cy="29824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160" y="3931920"/>
            <a:ext cx="4457700" cy="2506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0920" y="5939739"/>
            <a:ext cx="14859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Arial MT"/>
                <a:cs typeface="Arial MT"/>
              </a:rPr>
              <a:t>jdfdf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2263" rIns="0" bIns="0" rtlCol="0">
            <a:spAutoFit/>
          </a:bodyPr>
          <a:lstStyle/>
          <a:p>
            <a:pPr marL="347472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Mobile</a:t>
            </a:r>
            <a:r>
              <a:rPr sz="4000" b="1" spc="-1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Applications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076" y="1671552"/>
            <a:ext cx="10960735" cy="1945639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55"/>
              </a:spcBef>
              <a:buClr>
                <a:srgbClr val="000000"/>
              </a:buClr>
              <a:buSzPct val="97619"/>
              <a:buFont typeface="Wingdings"/>
              <a:buChar char=""/>
              <a:tabLst>
                <a:tab pos="354965" algn="l"/>
              </a:tabLst>
            </a:pP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Mobile</a:t>
            </a:r>
            <a:r>
              <a:rPr sz="2100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applications,</a:t>
            </a:r>
            <a:r>
              <a:rPr sz="2100" spc="29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or</a:t>
            </a:r>
            <a:r>
              <a:rPr sz="2100" spc="29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mobile</a:t>
            </a:r>
            <a:r>
              <a:rPr sz="2100" spc="28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apps,</a:t>
            </a:r>
            <a:r>
              <a:rPr sz="2100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are</a:t>
            </a:r>
            <a:r>
              <a:rPr sz="2100" spc="29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software</a:t>
            </a:r>
            <a:r>
              <a:rPr sz="2100" spc="31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applications</a:t>
            </a:r>
            <a:r>
              <a:rPr sz="2100" spc="29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designed</a:t>
            </a:r>
            <a:r>
              <a:rPr sz="2100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to</a:t>
            </a:r>
            <a:r>
              <a:rPr sz="2100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run</a:t>
            </a:r>
            <a:r>
              <a:rPr sz="2100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on</a:t>
            </a:r>
            <a:r>
              <a:rPr sz="2100" spc="30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spc="-10" dirty="0">
                <a:solidFill>
                  <a:srgbClr val="0D0D0D"/>
                </a:solidFill>
                <a:latin typeface="Cambria"/>
                <a:cs typeface="Cambria"/>
              </a:rPr>
              <a:t>mobile</a:t>
            </a:r>
            <a:endParaRPr sz="2100">
              <a:latin typeface="Cambria"/>
              <a:cs typeface="Cambria"/>
            </a:endParaRPr>
          </a:p>
          <a:p>
            <a:pPr marL="354965">
              <a:lnSpc>
                <a:spcPct val="100000"/>
              </a:lnSpc>
              <a:spcBef>
                <a:spcPts val="1260"/>
              </a:spcBef>
            </a:pP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devices</a:t>
            </a:r>
            <a:r>
              <a:rPr sz="2100" spc="-1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such</a:t>
            </a:r>
            <a:r>
              <a:rPr sz="21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as</a:t>
            </a:r>
            <a:r>
              <a:rPr sz="2100" spc="-3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smartphones</a:t>
            </a:r>
            <a:r>
              <a:rPr sz="2100" spc="-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and</a:t>
            </a:r>
            <a:r>
              <a:rPr sz="21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spc="-10" dirty="0">
                <a:solidFill>
                  <a:srgbClr val="0D0D0D"/>
                </a:solidFill>
                <a:latin typeface="Cambria"/>
                <a:cs typeface="Cambria"/>
              </a:rPr>
              <a:t>tablets.</a:t>
            </a:r>
            <a:endParaRPr sz="21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Clr>
                <a:srgbClr val="000000"/>
              </a:buClr>
              <a:buSzPct val="97619"/>
              <a:buFont typeface="Wingdings"/>
              <a:buChar char=""/>
              <a:tabLst>
                <a:tab pos="354965" algn="l"/>
              </a:tabLst>
            </a:pPr>
            <a:r>
              <a:rPr sz="2100" spc="-10" dirty="0">
                <a:solidFill>
                  <a:srgbClr val="0D0D0D"/>
                </a:solidFill>
                <a:latin typeface="Cambria"/>
                <a:cs typeface="Cambria"/>
              </a:rPr>
              <a:t>Examples</a:t>
            </a:r>
            <a:r>
              <a:rPr sz="2100" spc="-7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include</a:t>
            </a:r>
            <a:r>
              <a:rPr sz="21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social</a:t>
            </a:r>
            <a:r>
              <a:rPr sz="21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media</a:t>
            </a:r>
            <a:r>
              <a:rPr sz="2100" spc="-4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apps,</a:t>
            </a:r>
            <a:r>
              <a:rPr sz="2100" spc="-5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gaming</a:t>
            </a:r>
            <a:r>
              <a:rPr sz="21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apps,</a:t>
            </a:r>
            <a:r>
              <a:rPr sz="21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D0D0D"/>
                </a:solidFill>
                <a:latin typeface="Cambria"/>
                <a:cs typeface="Cambria"/>
              </a:rPr>
              <a:t>and</a:t>
            </a:r>
            <a:r>
              <a:rPr sz="21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spc="-10" dirty="0">
                <a:solidFill>
                  <a:srgbClr val="0D0D0D"/>
                </a:solidFill>
                <a:latin typeface="Cambria"/>
                <a:cs typeface="Cambria"/>
              </a:rPr>
              <a:t>productivity</a:t>
            </a:r>
            <a:r>
              <a:rPr sz="21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100" spc="-10" dirty="0">
                <a:solidFill>
                  <a:srgbClr val="0D0D0D"/>
                </a:solidFill>
                <a:latin typeface="Cambria"/>
                <a:cs typeface="Cambria"/>
              </a:rPr>
              <a:t>tools.</a:t>
            </a:r>
            <a:endParaRPr sz="21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SzPct val="97619"/>
              <a:buFont typeface="Wingdings"/>
              <a:buChar char=""/>
              <a:tabLst>
                <a:tab pos="354965" algn="l"/>
              </a:tabLst>
            </a:pPr>
            <a:r>
              <a:rPr sz="2100" spc="-10" dirty="0">
                <a:latin typeface="Cambria"/>
                <a:cs typeface="Cambria"/>
              </a:rPr>
              <a:t>Currently</a:t>
            </a:r>
            <a:r>
              <a:rPr sz="2100" spc="-40" dirty="0">
                <a:latin typeface="Cambria"/>
                <a:cs typeface="Cambria"/>
              </a:rPr>
              <a:t> </a:t>
            </a:r>
            <a:r>
              <a:rPr sz="2100" i="1" dirty="0">
                <a:solidFill>
                  <a:srgbClr val="FF0000"/>
                </a:solidFill>
                <a:latin typeface="Cambria"/>
                <a:cs typeface="Cambria"/>
              </a:rPr>
              <a:t>Android</a:t>
            </a:r>
            <a:r>
              <a:rPr sz="21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00" i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1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00" i="1" dirty="0">
                <a:solidFill>
                  <a:srgbClr val="FF0000"/>
                </a:solidFill>
                <a:latin typeface="Cambria"/>
                <a:cs typeface="Cambria"/>
              </a:rPr>
              <a:t>Java</a:t>
            </a:r>
            <a:r>
              <a:rPr sz="21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00" i="1" dirty="0">
                <a:solidFill>
                  <a:srgbClr val="FF0000"/>
                </a:solidFill>
                <a:latin typeface="Cambria"/>
                <a:cs typeface="Cambria"/>
              </a:rPr>
              <a:t>ME</a:t>
            </a:r>
            <a:r>
              <a:rPr sz="21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are</a:t>
            </a:r>
            <a:r>
              <a:rPr sz="2100" spc="-5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used</a:t>
            </a:r>
            <a:r>
              <a:rPr sz="2100" spc="-5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for</a:t>
            </a:r>
            <a:r>
              <a:rPr sz="2100" spc="-6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creating</a:t>
            </a:r>
            <a:r>
              <a:rPr sz="2100" spc="-3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mobile</a:t>
            </a:r>
            <a:r>
              <a:rPr sz="2100" spc="-45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applications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7996" y="4085844"/>
            <a:ext cx="5020056" cy="2442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1264</TotalTime>
  <Words>2085</Words>
  <Application>Microsoft Office PowerPoint</Application>
  <PresentationFormat>Widescreen</PresentationFormat>
  <Paragraphs>190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 MT</vt:lpstr>
      <vt:lpstr>Cambria</vt:lpstr>
      <vt:lpstr>Courier New</vt:lpstr>
      <vt:lpstr>Times New Roman</vt:lpstr>
      <vt:lpstr>Wingdings</vt:lpstr>
      <vt:lpstr>Office Theme</vt:lpstr>
      <vt:lpstr>Introduction to Java</vt:lpstr>
      <vt:lpstr>What is java...?</vt:lpstr>
      <vt:lpstr>Introduction to Java</vt:lpstr>
      <vt:lpstr>Origins of Java (1991–1995)</vt:lpstr>
      <vt:lpstr>PowerPoint Presentation</vt:lpstr>
      <vt:lpstr>Naming Evolution of Java</vt:lpstr>
      <vt:lpstr>Naming Evolution of Java</vt:lpstr>
      <vt:lpstr>Naming Evolution of Java</vt:lpstr>
      <vt:lpstr>PowerPoint Presentation</vt:lpstr>
      <vt:lpstr>Ownership Timeline of Java</vt:lpstr>
      <vt:lpstr>PowerPoint Presentation</vt:lpstr>
      <vt:lpstr>Introduction to Java Evolution</vt:lpstr>
      <vt:lpstr>PowerPoint Presentation</vt:lpstr>
      <vt:lpstr>Features of Java</vt:lpstr>
      <vt:lpstr>Features of Java</vt:lpstr>
      <vt:lpstr>Features of Java</vt:lpstr>
      <vt:lpstr>Components of Java</vt:lpstr>
      <vt:lpstr>PowerPoint Presentation</vt:lpstr>
      <vt:lpstr>Java Runtime Environment (JRE)</vt:lpstr>
      <vt:lpstr>Java Development Kit (JDK)</vt:lpstr>
      <vt:lpstr>Java Virtual Machine (JVM)</vt:lpstr>
      <vt:lpstr>PowerPoint Presentation</vt:lpstr>
      <vt:lpstr>PowerPoint Presentation</vt:lpstr>
      <vt:lpstr>JVM,JRE &amp;JDK</vt:lpstr>
      <vt:lpstr>Where Java is used?</vt:lpstr>
      <vt:lpstr>Where Java is used?</vt:lpstr>
      <vt:lpstr>Where Java is used?</vt:lpstr>
      <vt:lpstr>Where Java is used?</vt:lpstr>
      <vt:lpstr>Where Java is used?</vt:lpstr>
      <vt:lpstr>Where Java is used?</vt:lpstr>
      <vt:lpstr>Where Java is used?</vt:lpstr>
      <vt:lpstr>Who use Java</vt:lpstr>
      <vt:lpstr>Types of Java Applications?</vt:lpstr>
      <vt:lpstr>Standalone Application</vt:lpstr>
      <vt:lpstr>Web Application</vt:lpstr>
      <vt:lpstr>Enterprise Applications</vt:lpstr>
      <vt:lpstr>Mobile 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cp:lastModifiedBy>PRAVEEN KUMAR</cp:lastModifiedBy>
  <cp:revision>15</cp:revision>
  <dcterms:created xsi:type="dcterms:W3CDTF">2025-07-15T04:37:49Z</dcterms:created>
  <dcterms:modified xsi:type="dcterms:W3CDTF">2025-08-19T16:19:10Z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2025-07-15T00:00:00Z</vt:filetime>
  </property>
  <property fmtid="{D5CDD505-2E9C-101B-9397-08002B2CF9AE}" pid="5" name="Producer">
    <vt:lpwstr>www.ilovepdf.com</vt:lpwstr>
  </property>
</Properties>
</file>