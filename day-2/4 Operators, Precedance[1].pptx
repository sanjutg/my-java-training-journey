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3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93234" y="674370"/>
            <a:ext cx="343407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1134" y="-51840"/>
            <a:ext cx="11209731" cy="15495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62330"/>
            <a:ext cx="10175875" cy="2313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0759" y="262508"/>
            <a:ext cx="24993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120" dirty="0">
                <a:solidFill>
                  <a:srgbClr val="001F5F"/>
                </a:solidFill>
                <a:latin typeface="Cambria"/>
                <a:cs typeface="Cambria"/>
              </a:rPr>
              <a:t>Operators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6631" y="823192"/>
            <a:ext cx="10787380" cy="5306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0" marR="17780" indent="-343535">
              <a:lnSpc>
                <a:spcPct val="150000"/>
              </a:lnSpc>
              <a:spcBef>
                <a:spcPts val="95"/>
              </a:spcBef>
              <a:buFont typeface="Wingdings"/>
              <a:buChar char=""/>
              <a:tabLst>
                <a:tab pos="406400" algn="l"/>
                <a:tab pos="473075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represents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operations</a:t>
            </a:r>
            <a:r>
              <a:rPr sz="2400" b="1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may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performed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4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400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20" dirty="0">
                <a:solidFill>
                  <a:srgbClr val="FF0000"/>
                </a:solidFill>
                <a:latin typeface="Cambria"/>
                <a:cs typeface="Cambria"/>
              </a:rPr>
              <a:t>more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operands</a:t>
            </a:r>
            <a:endParaRPr sz="2400" dirty="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  <a:spcBef>
                <a:spcPts val="1445"/>
              </a:spcBef>
              <a:tabLst>
                <a:tab pos="1000760" algn="l"/>
              </a:tabLst>
            </a:pPr>
            <a:r>
              <a:rPr sz="2400" spc="-25" dirty="0">
                <a:latin typeface="Cambria"/>
                <a:cs typeface="Cambria"/>
              </a:rPr>
              <a:t>Ex:</a:t>
            </a:r>
            <a:r>
              <a:rPr sz="2400" dirty="0">
                <a:latin typeface="Cambria"/>
                <a:cs typeface="Cambria"/>
              </a:rPr>
              <a:t>	2+5,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here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2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5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operant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  <a:spcBef>
                <a:spcPts val="1580"/>
              </a:spcBef>
            </a:pP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Types:</a:t>
            </a:r>
            <a:endParaRPr sz="2800" dirty="0">
              <a:latin typeface="Cambria"/>
              <a:cs typeface="Cambria"/>
            </a:endParaRPr>
          </a:p>
          <a:p>
            <a:pPr marL="587375" indent="-523875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587375" algn="l"/>
              </a:tabLst>
            </a:pPr>
            <a:r>
              <a:rPr sz="2400" dirty="0">
                <a:latin typeface="Cambria"/>
                <a:cs typeface="Cambria"/>
              </a:rPr>
              <a:t>Unary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520700" indent="-4572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sz="2400" dirty="0">
                <a:latin typeface="Cambria"/>
                <a:cs typeface="Cambria"/>
              </a:rPr>
              <a:t>Arithmetic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520700" indent="-4572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sz="2400" dirty="0">
                <a:latin typeface="Cambria"/>
                <a:cs typeface="Cambria"/>
              </a:rPr>
              <a:t>Shift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520700" indent="-4572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sz="2400" spc="-10" dirty="0">
                <a:latin typeface="Cambria"/>
                <a:cs typeface="Cambria"/>
              </a:rPr>
              <a:t>Relational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520700" indent="-4572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sz="2400" dirty="0">
                <a:latin typeface="Cambria"/>
                <a:cs typeface="Cambria"/>
              </a:rPr>
              <a:t>Logical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520700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0700" algn="l"/>
              </a:tabLst>
            </a:pPr>
            <a:r>
              <a:rPr sz="2400" dirty="0">
                <a:latin typeface="Cambria"/>
                <a:cs typeface="Cambria"/>
              </a:rPr>
              <a:t>Bitwise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  <a:p>
            <a:pPr marL="63500" marR="7485380" indent="4572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sz="2400" dirty="0">
                <a:latin typeface="Cambria"/>
                <a:cs typeface="Cambria"/>
              </a:rPr>
              <a:t>Assignment</a:t>
            </a:r>
            <a:r>
              <a:rPr sz="2400" spc="-12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operator. </a:t>
            </a:r>
            <a:r>
              <a:rPr sz="2400" spc="35" dirty="0" smtClean="0">
                <a:latin typeface="Cambria"/>
                <a:cs typeface="Cambria"/>
              </a:rPr>
              <a:t>8</a:t>
            </a:r>
            <a:r>
              <a:rPr lang="en-IN" sz="2400" spc="35" dirty="0" smtClean="0">
                <a:latin typeface="Cambria"/>
                <a:cs typeface="Cambria"/>
              </a:rPr>
              <a:t>.</a:t>
            </a:r>
            <a:r>
              <a:rPr sz="750" b="1" baseline="111111" dirty="0">
                <a:latin typeface="Calibri"/>
                <a:cs typeface="Calibri"/>
              </a:rPr>
              <a:t>	</a:t>
            </a:r>
            <a:r>
              <a:rPr sz="2400" spc="-30" dirty="0">
                <a:latin typeface="Cambria"/>
                <a:cs typeface="Cambria"/>
              </a:rPr>
              <a:t>Ternary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4771" y="222961"/>
            <a:ext cx="39128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85" dirty="0">
                <a:solidFill>
                  <a:srgbClr val="000000"/>
                </a:solidFill>
                <a:latin typeface="Cambria"/>
                <a:cs typeface="Cambria"/>
              </a:rPr>
              <a:t>1.</a:t>
            </a:r>
            <a:r>
              <a:rPr sz="4000" b="1" spc="-2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14" dirty="0">
                <a:solidFill>
                  <a:srgbClr val="000000"/>
                </a:solidFill>
                <a:latin typeface="Cambria"/>
                <a:cs typeface="Cambria"/>
              </a:rPr>
              <a:t>Unary</a:t>
            </a:r>
            <a:r>
              <a:rPr sz="4000" b="1" spc="-19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10" dirty="0">
                <a:solidFill>
                  <a:srgbClr val="000000"/>
                </a:solidFill>
                <a:latin typeface="Cambria"/>
                <a:cs typeface="Cambria"/>
              </a:rPr>
              <a:t>operator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9497" y="1634134"/>
            <a:ext cx="8851900" cy="271272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780"/>
              </a:spcBef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latin typeface="Cambria"/>
                <a:cs typeface="Cambria"/>
              </a:rPr>
              <a:t>The</a:t>
            </a:r>
            <a:r>
              <a:rPr sz="2800" spc="-9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Java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unary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operators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require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mbria"/>
                <a:cs typeface="Cambria"/>
              </a:rPr>
              <a:t>only</a:t>
            </a:r>
            <a:r>
              <a:rPr sz="2800" b="1" i="1" spc="-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800" b="1" i="1" spc="-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mbria"/>
                <a:cs typeface="Cambria"/>
              </a:rPr>
              <a:t>operand</a:t>
            </a:r>
            <a:r>
              <a:rPr sz="2800" spc="-10" dirty="0">
                <a:latin typeface="Cambria"/>
                <a:cs typeface="Cambria"/>
              </a:rPr>
              <a:t>.</a:t>
            </a:r>
            <a:endParaRPr sz="28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latin typeface="Cambria"/>
                <a:cs typeface="Cambria"/>
              </a:rPr>
              <a:t>Unary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operators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are</a:t>
            </a:r>
            <a:r>
              <a:rPr sz="2800" spc="-9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used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perform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various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operations</a:t>
            </a:r>
            <a:endParaRPr sz="2800">
              <a:latin typeface="Cambria"/>
              <a:cs typeface="Cambria"/>
            </a:endParaRPr>
          </a:p>
          <a:p>
            <a:pPr marL="1040765" lvl="1" indent="-342265">
              <a:lnSpc>
                <a:spcPct val="100000"/>
              </a:lnSpc>
              <a:spcBef>
                <a:spcPts val="2185"/>
              </a:spcBef>
              <a:buFont typeface="Wingdings"/>
              <a:buChar char=""/>
              <a:tabLst>
                <a:tab pos="1040765" algn="l"/>
              </a:tabLst>
            </a:pPr>
            <a:r>
              <a:rPr sz="2800" spc="-10" dirty="0">
                <a:latin typeface="Cambria"/>
                <a:cs typeface="Cambria"/>
              </a:rPr>
              <a:t>Incrementing/decrementing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value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by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one</a:t>
            </a:r>
            <a:endParaRPr sz="2800">
              <a:latin typeface="Cambria"/>
              <a:cs typeface="Cambria"/>
            </a:endParaRPr>
          </a:p>
          <a:p>
            <a:pPr marL="1040765" lvl="1" indent="-342265">
              <a:lnSpc>
                <a:spcPct val="100000"/>
              </a:lnSpc>
              <a:spcBef>
                <a:spcPts val="2170"/>
              </a:spcBef>
              <a:buFont typeface="Wingdings"/>
              <a:buChar char=""/>
              <a:tabLst>
                <a:tab pos="1040765" algn="l"/>
              </a:tabLst>
            </a:pPr>
            <a:r>
              <a:rPr sz="2800" dirty="0">
                <a:latin typeface="Cambria"/>
                <a:cs typeface="Cambria"/>
              </a:rPr>
              <a:t>Not</a:t>
            </a:r>
            <a:r>
              <a:rPr sz="2800" spc="-5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Operator.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5431" rIns="0" bIns="0" rtlCol="0">
            <a:spAutoFit/>
          </a:bodyPr>
          <a:lstStyle/>
          <a:p>
            <a:pPr marL="15113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Incrementing/decrementing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 a</a:t>
            </a:r>
            <a:r>
              <a:rPr sz="36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value</a:t>
            </a:r>
            <a:r>
              <a:rPr sz="36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  <a:r>
              <a:rPr sz="36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one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869" y="1774951"/>
            <a:ext cx="1133221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1440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In  Java,</a:t>
            </a:r>
            <a:r>
              <a:rPr sz="2800" spc="6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increment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decrement  operators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are  used  to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increase</a:t>
            </a:r>
            <a:r>
              <a:rPr sz="2800" spc="69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 </a:t>
            </a:r>
            <a:r>
              <a:rPr sz="2800" dirty="0">
                <a:latin typeface="Times New Roman"/>
                <a:cs typeface="Times New Roman"/>
              </a:rPr>
              <a:t>decrease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value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variable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1,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respectively.</a:t>
            </a:r>
            <a:r>
              <a:rPr sz="2800" spc="3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operators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very </a:t>
            </a:r>
            <a:r>
              <a:rPr sz="2800" dirty="0">
                <a:latin typeface="Times New Roman"/>
                <a:cs typeface="Times New Roman"/>
              </a:rPr>
              <a:t>commonly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loops.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1183" y="3615944"/>
            <a:ext cx="2788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Increment</a:t>
            </a:r>
            <a:r>
              <a:rPr sz="2400" b="1" spc="-1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Operators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2517" y="4643069"/>
            <a:ext cx="404177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Post-Increment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Operator(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i++)</a:t>
            </a:r>
            <a:endParaRPr sz="24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8450" algn="l"/>
              </a:tabLst>
            </a:pPr>
            <a:r>
              <a:rPr sz="2400" spc="-10" dirty="0">
                <a:latin typeface="Times New Roman"/>
                <a:cs typeface="Times New Roman"/>
              </a:rPr>
              <a:t>Pre-</a:t>
            </a:r>
            <a:r>
              <a:rPr sz="2400" dirty="0">
                <a:latin typeface="Times New Roman"/>
                <a:cs typeface="Times New Roman"/>
              </a:rPr>
              <a:t>Increment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(++i)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5423" y="3615944"/>
            <a:ext cx="2856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38235"/>
                </a:solidFill>
                <a:latin typeface="Times New Roman"/>
                <a:cs typeface="Times New Roman"/>
              </a:rPr>
              <a:t>Decrement</a:t>
            </a:r>
            <a:r>
              <a:rPr sz="2400" b="1" spc="-8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Operators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69507" y="4638243"/>
            <a:ext cx="40932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Post-Decrement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(i--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  <a:tab pos="3586479" algn="l"/>
              </a:tabLst>
            </a:pPr>
            <a:r>
              <a:rPr sz="2400" spc="-10" dirty="0">
                <a:latin typeface="Times New Roman"/>
                <a:cs typeface="Times New Roman"/>
              </a:rPr>
              <a:t>Pre-</a:t>
            </a:r>
            <a:r>
              <a:rPr sz="2400" dirty="0">
                <a:latin typeface="Times New Roman"/>
                <a:cs typeface="Times New Roman"/>
              </a:rPr>
              <a:t>Decrement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Operator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(--</a:t>
            </a:r>
            <a:r>
              <a:rPr sz="2400" spc="-25" dirty="0">
                <a:latin typeface="Times New Roman"/>
                <a:cs typeface="Times New Roman"/>
              </a:rPr>
              <a:t>i)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138" y="410082"/>
            <a:ext cx="5262245" cy="2597891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Example</a:t>
            </a:r>
            <a:r>
              <a:rPr sz="2400" spc="-10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7E0054"/>
                </a:solidFill>
                <a:latin typeface="Cambria"/>
                <a:cs typeface="Cambria"/>
              </a:rPr>
              <a:t>:</a:t>
            </a:r>
            <a:endParaRPr sz="2400" dirty="0">
              <a:latin typeface="Cambria"/>
              <a:cs typeface="Cambria"/>
            </a:endParaRPr>
          </a:p>
          <a:p>
            <a:pPr marL="12700" marR="3086735">
              <a:lnSpc>
                <a:spcPct val="140000"/>
              </a:lnSpc>
            </a:pPr>
            <a:endParaRPr lang="en-IN" sz="2400" dirty="0" smtClean="0">
              <a:solidFill>
                <a:srgbClr val="7E0054"/>
              </a:solidFill>
              <a:latin typeface="Cambria"/>
              <a:cs typeface="Cambria"/>
            </a:endParaRPr>
          </a:p>
          <a:p>
            <a:pPr marL="12700" marR="3086735">
              <a:lnSpc>
                <a:spcPct val="140000"/>
              </a:lnSpc>
            </a:pPr>
            <a:r>
              <a:rPr sz="2400" dirty="0" smtClean="0">
                <a:solidFill>
                  <a:srgbClr val="7E0054"/>
                </a:solidFill>
                <a:latin typeface="Cambria"/>
                <a:cs typeface="Cambria"/>
              </a:rPr>
              <a:t>public</a:t>
            </a:r>
            <a:r>
              <a:rPr sz="2400" spc="-40" dirty="0" smtClean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class</a:t>
            </a:r>
            <a:r>
              <a:rPr sz="2400" spc="-4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hel</a:t>
            </a:r>
            <a:r>
              <a:rPr sz="2400" spc="-50" dirty="0">
                <a:solidFill>
                  <a:srgbClr val="7E0054"/>
                </a:solidFill>
                <a:latin typeface="Cambria"/>
                <a:cs typeface="Cambria"/>
              </a:rPr>
              <a:t> {</a:t>
            </a:r>
            <a:endParaRPr sz="2400" dirty="0">
              <a:latin typeface="Cambria"/>
              <a:cs typeface="Cambria"/>
            </a:endParaRPr>
          </a:p>
          <a:p>
            <a:pPr marL="545465" marR="5080" indent="-266700">
              <a:lnSpc>
                <a:spcPct val="140000"/>
              </a:lnSpc>
              <a:spcBef>
                <a:spcPts val="5"/>
              </a:spcBef>
            </a:pP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public</a:t>
            </a:r>
            <a:r>
              <a:rPr sz="2400" spc="-5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static</a:t>
            </a:r>
            <a:r>
              <a:rPr sz="2400" spc="-6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void</a:t>
            </a:r>
            <a:r>
              <a:rPr sz="2400" spc="-5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main(String</a:t>
            </a:r>
            <a:r>
              <a:rPr sz="2400" spc="-7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args[])</a:t>
            </a:r>
            <a:r>
              <a:rPr sz="2400" spc="-8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7E0054"/>
                </a:solidFill>
                <a:latin typeface="Cambria"/>
                <a:cs typeface="Cambria"/>
              </a:rPr>
              <a:t>{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int</a:t>
            </a:r>
            <a:r>
              <a:rPr sz="2400" spc="-3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x</a:t>
            </a:r>
            <a:r>
              <a:rPr sz="2400" spc="-1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7E0054"/>
                </a:solidFill>
                <a:latin typeface="Cambria"/>
                <a:cs typeface="Cambria"/>
              </a:rPr>
              <a:t>=</a:t>
            </a:r>
            <a:r>
              <a:rPr sz="2400" spc="-1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7E0054"/>
                </a:solidFill>
                <a:latin typeface="Cambria"/>
                <a:cs typeface="Cambria"/>
              </a:rPr>
              <a:t>10;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538" y="2969885"/>
            <a:ext cx="3225800" cy="207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5"/>
              </a:spcBef>
            </a:pPr>
            <a:r>
              <a:rPr sz="24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System.out.println(x++); System.out.println(++x); </a:t>
            </a:r>
            <a:r>
              <a:rPr sz="2400" spc="-20" dirty="0">
                <a:solidFill>
                  <a:srgbClr val="7E0054"/>
                </a:solidFill>
                <a:latin typeface="Cambria"/>
                <a:cs typeface="Cambria"/>
              </a:rPr>
              <a:t>System.out.println(x--</a:t>
            </a:r>
            <a:r>
              <a:rPr sz="2400" spc="-25" dirty="0">
                <a:solidFill>
                  <a:srgbClr val="7E0054"/>
                </a:solidFill>
                <a:latin typeface="Cambria"/>
                <a:cs typeface="Cambria"/>
              </a:rPr>
              <a:t>); </a:t>
            </a:r>
            <a:r>
              <a:rPr sz="24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System.out.println(-</a:t>
            </a:r>
            <a:r>
              <a:rPr sz="2400" spc="-25" dirty="0">
                <a:solidFill>
                  <a:srgbClr val="7E0054"/>
                </a:solidFill>
                <a:latin typeface="Cambria"/>
                <a:cs typeface="Cambria"/>
              </a:rPr>
              <a:t>-x);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138" y="5019547"/>
            <a:ext cx="410209" cy="104965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250"/>
              </a:spcBef>
            </a:pPr>
            <a:r>
              <a:rPr sz="2400" spc="-50" dirty="0">
                <a:solidFill>
                  <a:srgbClr val="7E0054"/>
                </a:solidFill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400" spc="-50" dirty="0">
                <a:solidFill>
                  <a:srgbClr val="7E0054"/>
                </a:solidFill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0966" rIns="0" bIns="0" rtlCol="0">
            <a:spAutoFit/>
          </a:bodyPr>
          <a:lstStyle/>
          <a:p>
            <a:pPr marL="3008630">
              <a:lnSpc>
                <a:spcPct val="100000"/>
              </a:lnSpc>
              <a:spcBef>
                <a:spcPts val="105"/>
              </a:spcBef>
            </a:pPr>
            <a:r>
              <a:rPr sz="4400" b="1" spc="-120" dirty="0">
                <a:solidFill>
                  <a:srgbClr val="000000"/>
                </a:solidFill>
                <a:latin typeface="Cambria"/>
                <a:cs typeface="Cambria"/>
              </a:rPr>
              <a:t>Arithmetic</a:t>
            </a:r>
            <a:r>
              <a:rPr sz="4400" b="1" spc="-18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10" dirty="0">
                <a:solidFill>
                  <a:srgbClr val="000000"/>
                </a:solidFill>
                <a:latin typeface="Cambria"/>
                <a:cs typeface="Cambria"/>
              </a:rPr>
              <a:t>Operators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831" y="1634134"/>
            <a:ext cx="10711815" cy="1984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  <a:buSzPct val="89285"/>
              <a:buFont typeface="Wingdings"/>
              <a:buChar char=""/>
              <a:tabLst>
                <a:tab pos="469900" algn="l"/>
              </a:tabLst>
            </a:pPr>
            <a:r>
              <a:rPr sz="2800" spc="-10" dirty="0">
                <a:latin typeface="Cambria"/>
                <a:cs typeface="Cambria"/>
              </a:rPr>
              <a:t>Java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arithmetic</a:t>
            </a:r>
            <a:r>
              <a:rPr sz="2800" spc="-1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operators</a:t>
            </a:r>
            <a:r>
              <a:rPr sz="2800" spc="-9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are</a:t>
            </a:r>
            <a:r>
              <a:rPr sz="2800" spc="-10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used</a:t>
            </a:r>
            <a:r>
              <a:rPr sz="2800" spc="-10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-9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perform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addition,</a:t>
            </a:r>
            <a:r>
              <a:rPr sz="2800" spc="-1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subtraction, </a:t>
            </a:r>
            <a:r>
              <a:rPr sz="2800" dirty="0">
                <a:latin typeface="Cambria"/>
                <a:cs typeface="Cambria"/>
              </a:rPr>
              <a:t>multiplication,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and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division.</a:t>
            </a:r>
            <a:endParaRPr sz="28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980"/>
              </a:spcBef>
              <a:buSzPct val="89285"/>
              <a:buFont typeface="Wingdings"/>
              <a:buChar char=""/>
              <a:tabLst>
                <a:tab pos="469265" algn="l"/>
              </a:tabLst>
            </a:pPr>
            <a:r>
              <a:rPr sz="2800" dirty="0">
                <a:latin typeface="Cambria"/>
                <a:cs typeface="Cambria"/>
              </a:rPr>
              <a:t>They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act</a:t>
            </a:r>
            <a:r>
              <a:rPr sz="2800" spc="-6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as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basic</a:t>
            </a:r>
            <a:r>
              <a:rPr sz="2800" spc="-6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mathematical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operations</a:t>
            </a:r>
            <a:r>
              <a:rPr sz="2800" b="1" spc="-10" dirty="0">
                <a:latin typeface="Cambria"/>
                <a:cs typeface="Cambria"/>
              </a:rPr>
              <a:t>.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6504" y="315544"/>
            <a:ext cx="6136005" cy="60702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28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dirty="0" smtClean="0">
                <a:solidFill>
                  <a:srgbClr val="7E0054"/>
                </a:solidFill>
                <a:latin typeface="Cambria"/>
                <a:cs typeface="Cambria"/>
              </a:rPr>
              <a:t>public</a:t>
            </a:r>
            <a:r>
              <a:rPr sz="2800" spc="-75" dirty="0" smtClean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class</a:t>
            </a:r>
            <a:r>
              <a:rPr sz="2800" spc="-9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i="1" spc="-10" dirty="0">
                <a:solidFill>
                  <a:srgbClr val="7E0054"/>
                </a:solidFill>
                <a:latin typeface="Cambria"/>
                <a:cs typeface="Cambria"/>
              </a:rPr>
              <a:t>Arithmetic</a:t>
            </a:r>
            <a:r>
              <a:rPr sz="2800" i="1" spc="-8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i="1" spc="-50" dirty="0">
                <a:solidFill>
                  <a:srgbClr val="7E0054"/>
                </a:solidFill>
                <a:latin typeface="Cambria"/>
                <a:cs typeface="Cambria"/>
              </a:rPr>
              <a:t>{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 dirty="0">
              <a:latin typeface="Cambria"/>
              <a:cs typeface="Cambria"/>
            </a:endParaRPr>
          </a:p>
          <a:p>
            <a:pPr marL="634365" marR="5080" indent="-311150">
              <a:lnSpc>
                <a:spcPct val="100000"/>
              </a:lnSpc>
            </a:pP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public</a:t>
            </a:r>
            <a:r>
              <a:rPr sz="2800" spc="-7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static</a:t>
            </a:r>
            <a:r>
              <a:rPr sz="2800" spc="-9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void</a:t>
            </a:r>
            <a:r>
              <a:rPr sz="2800" spc="-8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7E0054"/>
                </a:solidFill>
                <a:latin typeface="Cambria"/>
                <a:cs typeface="Cambria"/>
              </a:rPr>
              <a:t>main(String[]</a:t>
            </a:r>
            <a:r>
              <a:rPr sz="2800" spc="-8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args)</a:t>
            </a:r>
            <a:r>
              <a:rPr sz="2800" spc="-7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50" dirty="0">
                <a:solidFill>
                  <a:srgbClr val="7E0054"/>
                </a:solidFill>
                <a:latin typeface="Cambria"/>
                <a:cs typeface="Cambria"/>
              </a:rPr>
              <a:t>{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int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a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=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 10;</a:t>
            </a:r>
            <a:endParaRPr sz="2800" dirty="0">
              <a:latin typeface="Cambria"/>
              <a:cs typeface="Cambria"/>
            </a:endParaRPr>
          </a:p>
          <a:p>
            <a:pPr marL="634365" marR="1487170">
              <a:lnSpc>
                <a:spcPct val="100000"/>
              </a:lnSpc>
            </a:pP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int</a:t>
            </a:r>
            <a:r>
              <a:rPr sz="2800" spc="-3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b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=</a:t>
            </a:r>
            <a:r>
              <a:rPr sz="2800" spc="-3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5; </a:t>
            </a:r>
            <a:r>
              <a:rPr sz="28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System.out.println(a</a:t>
            </a:r>
            <a:r>
              <a:rPr sz="2800" spc="-4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+</a:t>
            </a:r>
            <a:r>
              <a:rPr sz="2800" spc="-6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b); </a:t>
            </a:r>
            <a:r>
              <a:rPr sz="28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System.out.println(a</a:t>
            </a:r>
            <a:r>
              <a:rPr sz="2800" spc="-3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-</a:t>
            </a:r>
            <a:r>
              <a:rPr sz="2800" spc="-7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b); </a:t>
            </a:r>
            <a:r>
              <a:rPr sz="28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System.out.println(a</a:t>
            </a:r>
            <a:r>
              <a:rPr sz="2800" spc="-4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*</a:t>
            </a:r>
            <a:r>
              <a:rPr sz="2800" spc="-7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b); </a:t>
            </a:r>
            <a:r>
              <a:rPr sz="28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System.out.println(a</a:t>
            </a:r>
            <a:r>
              <a:rPr sz="2800" spc="-4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/</a:t>
            </a:r>
            <a:r>
              <a:rPr sz="2800" spc="-70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b); </a:t>
            </a:r>
            <a:r>
              <a:rPr sz="2800" spc="-10" dirty="0">
                <a:solidFill>
                  <a:srgbClr val="7E0054"/>
                </a:solidFill>
                <a:latin typeface="Cambria"/>
                <a:cs typeface="Cambria"/>
              </a:rPr>
              <a:t>System.out.println(a</a:t>
            </a:r>
            <a:r>
              <a:rPr sz="2800" spc="-3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7E0054"/>
                </a:solidFill>
                <a:latin typeface="Cambria"/>
                <a:cs typeface="Cambria"/>
              </a:rPr>
              <a:t>%</a:t>
            </a:r>
            <a:r>
              <a:rPr sz="2800" spc="-65" dirty="0">
                <a:solidFill>
                  <a:srgbClr val="7E0054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7E0054"/>
                </a:solidFill>
                <a:latin typeface="Cambria"/>
                <a:cs typeface="Cambria"/>
              </a:rPr>
              <a:t>b);</a:t>
            </a:r>
            <a:endParaRPr sz="2800" dirty="0">
              <a:latin typeface="Cambria"/>
              <a:cs typeface="Cambria"/>
            </a:endParaRPr>
          </a:p>
          <a:p>
            <a:pPr marL="323215">
              <a:lnSpc>
                <a:spcPct val="100000"/>
              </a:lnSpc>
              <a:spcBef>
                <a:spcPts val="5"/>
              </a:spcBef>
            </a:pPr>
            <a:r>
              <a:rPr sz="2800" spc="-50" dirty="0">
                <a:solidFill>
                  <a:srgbClr val="7E0054"/>
                </a:solidFill>
                <a:latin typeface="Cambria"/>
                <a:cs typeface="Cambria"/>
              </a:rPr>
              <a:t>}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50" dirty="0" smtClean="0">
                <a:solidFill>
                  <a:srgbClr val="7E0054"/>
                </a:solidFill>
                <a:latin typeface="Cambria"/>
                <a:cs typeface="Cambria"/>
              </a:rPr>
              <a:t>}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2677" y="138760"/>
            <a:ext cx="42945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30" dirty="0">
                <a:latin typeface="Cambria"/>
                <a:cs typeface="Cambria"/>
              </a:rPr>
              <a:t>Assignment</a:t>
            </a:r>
            <a:r>
              <a:rPr sz="3600" b="1" spc="-125" dirty="0">
                <a:latin typeface="Cambria"/>
                <a:cs typeface="Cambria"/>
              </a:rPr>
              <a:t> </a:t>
            </a:r>
            <a:r>
              <a:rPr sz="3600" b="1" spc="-105" dirty="0">
                <a:latin typeface="Cambria"/>
                <a:cs typeface="Cambria"/>
              </a:rPr>
              <a:t>operator: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5531" y="1041273"/>
            <a:ext cx="10175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"/>
                <a:cs typeface="Cambria"/>
              </a:rPr>
              <a:t>Assignment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operators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are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used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in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Java</a:t>
            </a:r>
            <a:r>
              <a:rPr sz="2800" spc="-5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assign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values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variables.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376" y="1601724"/>
            <a:ext cx="6923153" cy="5018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148" y="199135"/>
            <a:ext cx="5484495" cy="55912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Assignment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</a:t>
            </a:r>
            <a:endParaRPr sz="2400" dirty="0">
              <a:latin typeface="Cambria"/>
              <a:cs typeface="Cambria"/>
            </a:endParaRPr>
          </a:p>
          <a:p>
            <a:pPr marL="584200" marR="43180" indent="-12065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static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void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main(String[]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args)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 </a:t>
            </a:r>
            <a:r>
              <a:rPr sz="2400" dirty="0">
                <a:latin typeface="Cambria"/>
                <a:cs typeface="Cambria"/>
              </a:rPr>
              <a:t>int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5;</a:t>
            </a:r>
            <a:endParaRPr sz="2400" dirty="0">
              <a:latin typeface="Cambria"/>
              <a:cs typeface="Cambria"/>
            </a:endParaRPr>
          </a:p>
          <a:p>
            <a:pPr marL="584200" marR="3594735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int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10; </a:t>
            </a:r>
            <a:r>
              <a:rPr sz="2400" dirty="0">
                <a:latin typeface="Cambria"/>
                <a:cs typeface="Cambria"/>
              </a:rPr>
              <a:t>int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z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 </a:t>
            </a:r>
            <a:r>
              <a:rPr sz="2400" spc="-25" dirty="0">
                <a:latin typeface="Cambria"/>
                <a:cs typeface="Cambria"/>
              </a:rPr>
              <a:t>x;</a:t>
            </a:r>
            <a:r>
              <a:rPr sz="2400" spc="6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+=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y;</a:t>
            </a:r>
            <a:endParaRPr sz="2400" dirty="0">
              <a:latin typeface="Cambria"/>
              <a:cs typeface="Cambria"/>
            </a:endParaRPr>
          </a:p>
          <a:p>
            <a:pPr marL="5842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mbria"/>
                <a:cs typeface="Cambria"/>
              </a:rPr>
              <a:t>y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x;</a:t>
            </a:r>
            <a:endParaRPr sz="2400" dirty="0">
              <a:latin typeface="Cambria"/>
              <a:cs typeface="Cambria"/>
            </a:endParaRPr>
          </a:p>
          <a:p>
            <a:pPr marL="584200" marR="4043045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z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*= </a:t>
            </a:r>
            <a:r>
              <a:rPr sz="2400" spc="-35" dirty="0">
                <a:latin typeface="Cambria"/>
                <a:cs typeface="Cambria"/>
              </a:rPr>
              <a:t>y;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/=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2;</a:t>
            </a:r>
            <a:endParaRPr sz="2400" dirty="0">
              <a:latin typeface="Cambria"/>
              <a:cs typeface="Cambria"/>
            </a:endParaRPr>
          </a:p>
          <a:p>
            <a:pPr marL="584200" marR="2025650" algn="just">
              <a:lnSpc>
                <a:spcPct val="100000"/>
              </a:lnSpc>
            </a:pPr>
            <a:r>
              <a:rPr sz="2400" spc="-10" dirty="0">
                <a:latin typeface="Cambria"/>
                <a:cs typeface="Cambria"/>
              </a:rPr>
              <a:t>System.out.println(x); System.out.println(y); System.out.println(z);</a:t>
            </a:r>
            <a:endParaRPr sz="2400" dirty="0">
              <a:latin typeface="Cambria"/>
              <a:cs typeface="Cambria"/>
            </a:endParaRPr>
          </a:p>
          <a:p>
            <a:pPr marL="317500">
              <a:lnSpc>
                <a:spcPct val="100000"/>
              </a:lnSpc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254"/>
              </a:spcBef>
            </a:pPr>
            <a:r>
              <a:rPr sz="3600" spc="-540" baseline="5787" dirty="0">
                <a:latin typeface="Cambria"/>
                <a:cs typeface="Cambria"/>
              </a:rPr>
              <a:t>}</a:t>
            </a:r>
            <a:r>
              <a:rPr sz="500" b="1" spc="55" dirty="0">
                <a:latin typeface="Calibri"/>
                <a:cs typeface="Calibri"/>
              </a:rPr>
              <a:t>j</a:t>
            </a:r>
            <a:r>
              <a:rPr sz="500" b="1" spc="60" dirty="0">
                <a:latin typeface="Calibri"/>
                <a:cs typeface="Calibri"/>
              </a:rPr>
              <a:t>d</a:t>
            </a:r>
            <a:r>
              <a:rPr sz="500" b="1" spc="45" dirty="0">
                <a:latin typeface="Calibri"/>
                <a:cs typeface="Calibri"/>
              </a:rPr>
              <a:t>f</a:t>
            </a:r>
            <a:r>
              <a:rPr sz="500" b="1" spc="60" dirty="0">
                <a:latin typeface="Calibri"/>
                <a:cs typeface="Calibri"/>
              </a:rPr>
              <a:t>d</a:t>
            </a:r>
            <a:r>
              <a:rPr sz="500" b="1" spc="55" dirty="0">
                <a:latin typeface="Calibri"/>
                <a:cs typeface="Calibri"/>
              </a:rPr>
              <a:t>f</a:t>
            </a:r>
            <a:endParaRPr sz="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5959551"/>
            <a:ext cx="15240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10" dirty="0">
                <a:latin typeface="Calibri"/>
                <a:cs typeface="Calibri"/>
              </a:rPr>
              <a:t>jdfdf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01414" y="553034"/>
            <a:ext cx="43243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30" dirty="0">
                <a:solidFill>
                  <a:srgbClr val="000000"/>
                </a:solidFill>
                <a:latin typeface="Cambria"/>
                <a:cs typeface="Cambria"/>
              </a:rPr>
              <a:t>Relational</a:t>
            </a:r>
            <a:r>
              <a:rPr sz="4000" b="1" spc="-1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10" dirty="0">
                <a:solidFill>
                  <a:srgbClr val="000000"/>
                </a:solidFill>
                <a:latin typeface="Cambria"/>
                <a:cs typeface="Cambria"/>
              </a:rPr>
              <a:t>operator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028" y="1303477"/>
            <a:ext cx="10484485" cy="2541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50200"/>
              </a:lnSpc>
              <a:spcBef>
                <a:spcPts val="100"/>
              </a:spcBef>
              <a:buSzPct val="90909"/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Cambria"/>
                <a:cs typeface="Cambria"/>
              </a:rPr>
              <a:t>Relational</a:t>
            </a:r>
            <a:r>
              <a:rPr sz="2750" spc="-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operators</a:t>
            </a:r>
            <a:r>
              <a:rPr sz="2750" spc="-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are</a:t>
            </a:r>
            <a:r>
              <a:rPr sz="2750" spc="-1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used</a:t>
            </a:r>
            <a:r>
              <a:rPr sz="2750" spc="-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-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check</a:t>
            </a:r>
            <a:r>
              <a:rPr sz="2750" spc="-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-75" dirty="0">
                <a:latin typeface="Cambria"/>
                <a:cs typeface="Cambria"/>
              </a:rPr>
              <a:t> </a:t>
            </a:r>
            <a:r>
              <a:rPr sz="2750" i="1" dirty="0">
                <a:solidFill>
                  <a:srgbClr val="FF0000"/>
                </a:solidFill>
                <a:latin typeface="Cambria"/>
                <a:cs typeface="Cambria"/>
              </a:rPr>
              <a:t>relationship</a:t>
            </a:r>
            <a:r>
              <a:rPr sz="2750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dirty="0">
                <a:solidFill>
                  <a:srgbClr val="FF0000"/>
                </a:solidFill>
                <a:latin typeface="Cambria"/>
                <a:cs typeface="Cambria"/>
              </a:rPr>
              <a:t>between</a:t>
            </a:r>
            <a:r>
              <a:rPr sz="275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-25" dirty="0">
                <a:solidFill>
                  <a:srgbClr val="FF0000"/>
                </a:solidFill>
                <a:latin typeface="Cambria"/>
                <a:cs typeface="Cambria"/>
              </a:rPr>
              <a:t>two </a:t>
            </a:r>
            <a:r>
              <a:rPr sz="2750" i="1" spc="-10" dirty="0">
                <a:solidFill>
                  <a:srgbClr val="FF0000"/>
                </a:solidFill>
                <a:latin typeface="Cambria"/>
                <a:cs typeface="Cambria"/>
              </a:rPr>
              <a:t>operands</a:t>
            </a:r>
            <a:r>
              <a:rPr sz="2750" b="1" i="1" spc="-10" dirty="0">
                <a:solidFill>
                  <a:srgbClr val="FF0000"/>
                </a:solidFill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469900" marR="614680" indent="-457834">
              <a:lnSpc>
                <a:spcPts val="4960"/>
              </a:lnSpc>
              <a:spcBef>
                <a:spcPts val="225"/>
              </a:spcBef>
              <a:buSzPct val="90909"/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Cambria"/>
                <a:cs typeface="Cambria"/>
              </a:rPr>
              <a:t>Relational</a:t>
            </a:r>
            <a:r>
              <a:rPr sz="2750" spc="-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operators</a:t>
            </a:r>
            <a:r>
              <a:rPr sz="2750" spc="-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compares</a:t>
            </a:r>
            <a:r>
              <a:rPr sz="2750" spc="-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-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values.</a:t>
            </a:r>
            <a:r>
              <a:rPr sz="2750" spc="-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-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either</a:t>
            </a:r>
            <a:r>
              <a:rPr sz="2750" spc="-95" dirty="0">
                <a:latin typeface="Cambria"/>
                <a:cs typeface="Cambria"/>
              </a:rPr>
              <a:t> </a:t>
            </a:r>
            <a:r>
              <a:rPr sz="2750" i="1" dirty="0">
                <a:solidFill>
                  <a:srgbClr val="FF0000"/>
                </a:solidFill>
                <a:latin typeface="Cambria"/>
                <a:cs typeface="Cambria"/>
              </a:rPr>
              <a:t>returns</a:t>
            </a:r>
            <a:r>
              <a:rPr sz="275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-20" dirty="0">
                <a:solidFill>
                  <a:srgbClr val="FF0000"/>
                </a:solidFill>
                <a:latin typeface="Cambria"/>
                <a:cs typeface="Cambria"/>
              </a:rPr>
              <a:t>True </a:t>
            </a:r>
            <a:r>
              <a:rPr sz="2750" i="1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75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dirty="0">
                <a:solidFill>
                  <a:srgbClr val="FF0000"/>
                </a:solidFill>
                <a:latin typeface="Cambria"/>
                <a:cs typeface="Cambria"/>
              </a:rPr>
              <a:t>False</a:t>
            </a:r>
            <a:r>
              <a:rPr sz="2750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according</a:t>
            </a:r>
            <a:r>
              <a:rPr sz="2750" spc="-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-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-6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condition.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8380" y="5718759"/>
            <a:ext cx="306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00" b="1" spc="10" dirty="0">
                <a:latin typeface="Calibri"/>
                <a:cs typeface="Calibri"/>
              </a:rPr>
              <a:t>j</a:t>
            </a:r>
            <a:r>
              <a:rPr sz="500" b="1" spc="15" dirty="0">
                <a:latin typeface="Calibri"/>
                <a:cs typeface="Calibri"/>
              </a:rPr>
              <a:t>d</a:t>
            </a:r>
            <a:r>
              <a:rPr sz="500" b="1" dirty="0">
                <a:latin typeface="Calibri"/>
                <a:cs typeface="Calibri"/>
              </a:rPr>
              <a:t>f</a:t>
            </a:r>
            <a:r>
              <a:rPr sz="500" b="1" spc="15" dirty="0">
                <a:latin typeface="Calibri"/>
                <a:cs typeface="Calibri"/>
              </a:rPr>
              <a:t>d</a:t>
            </a:r>
            <a:r>
              <a:rPr sz="500" b="1" spc="-114" dirty="0">
                <a:latin typeface="Calibri"/>
                <a:cs typeface="Calibri"/>
              </a:rPr>
              <a:t>f</a:t>
            </a:r>
            <a:r>
              <a:rPr sz="3600" spc="15" baseline="-9259" dirty="0">
                <a:latin typeface="Cambria"/>
                <a:cs typeface="Cambria"/>
              </a:rPr>
              <a:t>}</a:t>
            </a:r>
            <a:endParaRPr sz="3600" baseline="-9259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642" y="283209"/>
            <a:ext cx="5408295" cy="48397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Relational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Cambria"/>
              <a:cs typeface="Cambria"/>
            </a:endParaRPr>
          </a:p>
          <a:p>
            <a:pPr marL="692150" marR="5080" indent="-2667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static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void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main(String[]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args)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 </a:t>
            </a:r>
            <a:r>
              <a:rPr sz="2400" dirty="0">
                <a:latin typeface="Cambria"/>
                <a:cs typeface="Cambria"/>
              </a:rPr>
              <a:t>int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7,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11; </a:t>
            </a:r>
            <a:r>
              <a:rPr sz="2400" spc="-10" dirty="0">
                <a:latin typeface="Cambria"/>
                <a:cs typeface="Cambria"/>
              </a:rPr>
              <a:t>System.out.println(a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==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b); </a:t>
            </a:r>
            <a:r>
              <a:rPr sz="2400" spc="-10" dirty="0">
                <a:latin typeface="Cambria"/>
                <a:cs typeface="Cambria"/>
              </a:rPr>
              <a:t>System.out.println(a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!=</a:t>
            </a:r>
            <a:r>
              <a:rPr sz="2400" spc="-25" dirty="0">
                <a:latin typeface="Cambria"/>
                <a:cs typeface="Cambria"/>
              </a:rPr>
              <a:t> b); </a:t>
            </a:r>
            <a:r>
              <a:rPr sz="2400" spc="-10" dirty="0">
                <a:latin typeface="Cambria"/>
                <a:cs typeface="Cambria"/>
              </a:rPr>
              <a:t>System.out.println(a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b); </a:t>
            </a:r>
            <a:r>
              <a:rPr sz="2400" spc="-10" dirty="0">
                <a:latin typeface="Cambria"/>
                <a:cs typeface="Cambria"/>
              </a:rPr>
              <a:t>System.out.println(a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b); </a:t>
            </a:r>
            <a:r>
              <a:rPr sz="2400" spc="-10" dirty="0">
                <a:latin typeface="Cambria"/>
                <a:cs typeface="Cambria"/>
              </a:rPr>
              <a:t>System.out.println(a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&gt;=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b); </a:t>
            </a:r>
            <a:r>
              <a:rPr sz="2400" spc="-10" dirty="0">
                <a:latin typeface="Cambria"/>
                <a:cs typeface="Cambria"/>
              </a:rPr>
              <a:t>System.out.println(a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&lt;=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b);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400" dirty="0">
              <a:latin typeface="Cambria"/>
              <a:cs typeface="Cambria"/>
            </a:endParaRPr>
          </a:p>
          <a:p>
            <a:pPr marL="425450">
              <a:lnSpc>
                <a:spcPct val="100000"/>
              </a:lnSpc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148" y="1334730"/>
            <a:ext cx="11125835" cy="472757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90"/>
              </a:spcBef>
              <a:buSzPct val="104166"/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Logical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used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check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whether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expression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true</a:t>
            </a:r>
            <a:r>
              <a:rPr sz="2400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40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false.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SzPct val="104166"/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They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used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decision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making.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3650615">
              <a:lnSpc>
                <a:spcPct val="100000"/>
              </a:lnSpc>
            </a:pPr>
            <a:r>
              <a:rPr sz="2400" b="1" dirty="0">
                <a:latin typeface="Cambria"/>
                <a:cs typeface="Cambria"/>
              </a:rPr>
              <a:t>Logical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||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,Bitwise</a:t>
            </a:r>
            <a:r>
              <a:rPr sz="2400" b="1" spc="-3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|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operator</a:t>
            </a:r>
            <a:endParaRPr sz="2400">
              <a:latin typeface="Cambria"/>
              <a:cs typeface="Cambria"/>
            </a:endParaRPr>
          </a:p>
          <a:p>
            <a:pPr marL="469900" marR="6350" indent="-457200">
              <a:lnSpc>
                <a:spcPct val="150000"/>
              </a:lnSpc>
              <a:spcBef>
                <a:spcPts val="365"/>
              </a:spcBef>
              <a:buSzPct val="104166"/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The </a:t>
            </a:r>
            <a:r>
              <a:rPr sz="2400" b="1" i="1" dirty="0">
                <a:latin typeface="Cambria"/>
                <a:cs typeface="Cambria"/>
              </a:rPr>
              <a:t>logical</a:t>
            </a:r>
            <a:r>
              <a:rPr sz="2400" b="1" i="1" spc="5" dirty="0">
                <a:latin typeface="Cambria"/>
                <a:cs typeface="Cambria"/>
              </a:rPr>
              <a:t> </a:t>
            </a:r>
            <a:r>
              <a:rPr sz="2400" b="1" i="1" dirty="0">
                <a:latin typeface="Cambria"/>
                <a:cs typeface="Cambria"/>
              </a:rPr>
              <a:t>||</a:t>
            </a:r>
            <a:r>
              <a:rPr sz="2400" b="1" i="1" spc="-10" dirty="0">
                <a:latin typeface="Cambria"/>
                <a:cs typeface="Cambria"/>
              </a:rPr>
              <a:t> </a:t>
            </a:r>
            <a:r>
              <a:rPr sz="2400" b="1" i="1" dirty="0">
                <a:latin typeface="Cambria"/>
                <a:cs typeface="Cambria"/>
              </a:rPr>
              <a:t>operator</a:t>
            </a:r>
            <a:r>
              <a:rPr sz="2400" b="1" i="1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doesn't check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second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first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 </a:t>
            </a:r>
            <a:r>
              <a:rPr sz="2400" spc="-10" dirty="0">
                <a:latin typeface="Cambria"/>
                <a:cs typeface="Cambria"/>
              </a:rPr>
              <a:t>true.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SzPct val="104166"/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checks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second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only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first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false.</a:t>
            </a:r>
            <a:endParaRPr sz="2400">
              <a:latin typeface="Cambria"/>
              <a:cs typeface="Cambria"/>
            </a:endParaRPr>
          </a:p>
          <a:p>
            <a:pPr marL="469900" marR="5080" indent="-457200">
              <a:lnSpc>
                <a:spcPct val="150000"/>
              </a:lnSpc>
              <a:buSzPct val="104166"/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b="1" i="1" dirty="0">
                <a:latin typeface="Cambria"/>
                <a:cs typeface="Cambria"/>
              </a:rPr>
              <a:t>bitwise</a:t>
            </a:r>
            <a:r>
              <a:rPr sz="2400" b="1" i="1" spc="130" dirty="0">
                <a:latin typeface="Cambria"/>
                <a:cs typeface="Cambria"/>
              </a:rPr>
              <a:t> </a:t>
            </a:r>
            <a:r>
              <a:rPr sz="2400" b="1" i="1" dirty="0">
                <a:latin typeface="Cambria"/>
                <a:cs typeface="Cambria"/>
              </a:rPr>
              <a:t>|</a:t>
            </a:r>
            <a:r>
              <a:rPr sz="2400" b="1" i="1" spc="125" dirty="0">
                <a:latin typeface="Cambria"/>
                <a:cs typeface="Cambria"/>
              </a:rPr>
              <a:t> </a:t>
            </a:r>
            <a:r>
              <a:rPr sz="2400" b="1" i="1" dirty="0">
                <a:latin typeface="Cambria"/>
                <a:cs typeface="Cambria"/>
              </a:rPr>
              <a:t>operator</a:t>
            </a:r>
            <a:r>
              <a:rPr sz="2400" b="1" i="1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always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checks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both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whether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first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 </a:t>
            </a:r>
            <a:r>
              <a:rPr sz="2400" dirty="0">
                <a:latin typeface="Cambria"/>
                <a:cs typeface="Cambria"/>
              </a:rPr>
              <a:t>true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false.</a:t>
            </a:r>
            <a:endParaRPr sz="2400">
              <a:latin typeface="Cambria"/>
              <a:cs typeface="Cambria"/>
            </a:endParaRPr>
          </a:p>
          <a:p>
            <a:pPr marL="116205">
              <a:lnSpc>
                <a:spcPct val="100000"/>
              </a:lnSpc>
              <a:spcBef>
                <a:spcPts val="265"/>
              </a:spcBef>
            </a:pPr>
            <a:r>
              <a:rPr sz="500" b="1" spc="-10" dirty="0">
                <a:latin typeface="Calibri"/>
                <a:cs typeface="Calibri"/>
              </a:rPr>
              <a:t>jdfdf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53814" y="374345"/>
            <a:ext cx="39135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20" dirty="0">
                <a:solidFill>
                  <a:srgbClr val="000000"/>
                </a:solidFill>
                <a:latin typeface="Cambria"/>
                <a:cs typeface="Cambria"/>
              </a:rPr>
              <a:t>Logical</a:t>
            </a:r>
            <a:r>
              <a:rPr sz="4000" b="1" spc="-1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14" dirty="0">
                <a:solidFill>
                  <a:srgbClr val="000000"/>
                </a:solidFill>
                <a:latin typeface="Cambria"/>
                <a:cs typeface="Cambria"/>
              </a:rPr>
              <a:t>Operators</a:t>
            </a:r>
            <a:endParaRPr sz="4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767839" y="2750439"/>
          <a:ext cx="8216265" cy="2673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87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3875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7387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737235">
                <a:tc>
                  <a:txBody>
                    <a:bodyPr/>
                    <a:lstStyle/>
                    <a:p>
                      <a:pPr marL="635" algn="ctr">
                        <a:lnSpc>
                          <a:spcPts val="2755"/>
                        </a:lnSpc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5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Operator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755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Example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b="1" spc="-25" dirty="0">
                          <a:solidFill>
                            <a:srgbClr val="273139"/>
                          </a:solidFill>
                          <a:latin typeface="Arial"/>
                          <a:cs typeface="Arial"/>
                        </a:rPr>
                        <a:t>AND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000" spc="-2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&amp;&amp;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290"/>
                        </a:lnSpc>
                      </a:pP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2000" spc="-1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&amp;&amp;</a:t>
                      </a:r>
                      <a:r>
                        <a:rPr sz="2000" spc="-2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54685"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b="1" spc="-25" dirty="0">
                          <a:solidFill>
                            <a:srgbClr val="273139"/>
                          </a:solidFill>
                          <a:latin typeface="Arial"/>
                          <a:cs typeface="Arial"/>
                        </a:rPr>
                        <a:t>OR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90"/>
                        </a:lnSpc>
                      </a:pPr>
                      <a:r>
                        <a:rPr sz="2000" spc="-2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||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2000" spc="-1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||</a:t>
                      </a:r>
                      <a:r>
                        <a:rPr sz="2000" spc="-1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54685"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b="1" spc="-25" dirty="0">
                          <a:solidFill>
                            <a:srgbClr val="273139"/>
                          </a:solidFill>
                          <a:latin typeface="Arial"/>
                          <a:cs typeface="Arial"/>
                        </a:rPr>
                        <a:t>NOT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!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!</a:t>
                      </a:r>
                      <a:r>
                        <a:rPr sz="2000" spc="-1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(a=2</a:t>
                      </a:r>
                      <a:r>
                        <a:rPr sz="2000" spc="-3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2000" spc="-15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solidFill>
                            <a:srgbClr val="273139"/>
                          </a:solidFill>
                          <a:latin typeface="Arial MT"/>
                          <a:cs typeface="Arial MT"/>
                        </a:rPr>
                        <a:t>b=3)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0995" rIns="0" bIns="0" rtlCol="0">
            <a:spAutoFit/>
          </a:bodyPr>
          <a:lstStyle/>
          <a:p>
            <a:pPr marL="3760470">
              <a:lnSpc>
                <a:spcPct val="100000"/>
              </a:lnSpc>
              <a:spcBef>
                <a:spcPts val="95"/>
              </a:spcBef>
            </a:pPr>
            <a:r>
              <a:rPr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Logical</a:t>
            </a:r>
            <a:r>
              <a:rPr b="1" u="sng" spc="-9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79345" y="1905381"/>
            <a:ext cx="6405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These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operators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deal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logical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operations.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5959551"/>
            <a:ext cx="15240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10" dirty="0">
                <a:latin typeface="Calibri"/>
                <a:cs typeface="Calibri"/>
              </a:rPr>
              <a:t>jdfdf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708" y="2889580"/>
            <a:ext cx="33705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54885" algn="l"/>
              </a:tabLst>
            </a:pPr>
            <a:r>
              <a:rPr sz="4000" b="1" spc="-100" dirty="0">
                <a:latin typeface="Cambria"/>
                <a:cs typeface="Cambria"/>
              </a:rPr>
              <a:t>&amp;&amp;</a:t>
            </a:r>
            <a:r>
              <a:rPr sz="4000" b="1" spc="-204" dirty="0">
                <a:latin typeface="Cambria"/>
                <a:cs typeface="Cambria"/>
              </a:rPr>
              <a:t> </a:t>
            </a:r>
            <a:r>
              <a:rPr sz="4000" b="1" spc="-90" dirty="0">
                <a:latin typeface="Cambria"/>
                <a:cs typeface="Cambria"/>
              </a:rPr>
              <a:t>and</a:t>
            </a:r>
            <a:r>
              <a:rPr sz="4000" b="1" spc="-220" dirty="0">
                <a:latin typeface="Cambria"/>
                <a:cs typeface="Cambria"/>
              </a:rPr>
              <a:t> </a:t>
            </a:r>
            <a:r>
              <a:rPr sz="4000" b="1" spc="-25" dirty="0">
                <a:latin typeface="Cambria"/>
                <a:cs typeface="Cambria"/>
              </a:rPr>
              <a:t>||</a:t>
            </a:r>
            <a:r>
              <a:rPr sz="4000" b="1" dirty="0">
                <a:latin typeface="Cambria"/>
                <a:cs typeface="Cambria"/>
              </a:rPr>
              <a:t>	</a:t>
            </a:r>
            <a:r>
              <a:rPr sz="4000" b="1" spc="-90" dirty="0">
                <a:latin typeface="Cambria"/>
                <a:cs typeface="Cambria"/>
              </a:rPr>
              <a:t>and</a:t>
            </a:r>
            <a:r>
              <a:rPr sz="4000" b="1" spc="-215" dirty="0">
                <a:latin typeface="Cambria"/>
                <a:cs typeface="Cambria"/>
              </a:rPr>
              <a:t> </a:t>
            </a:r>
            <a:r>
              <a:rPr sz="4000" b="1" spc="-50" dirty="0">
                <a:latin typeface="Cambria"/>
                <a:cs typeface="Cambria"/>
              </a:rPr>
              <a:t>!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0834" y="1000759"/>
            <a:ext cx="5909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Logical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static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void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main(String[]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args)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21934" y="2098294"/>
            <a:ext cx="6096000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//</a:t>
            </a:r>
            <a:r>
              <a:rPr sz="2400" b="1" spc="-1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&amp;&amp;</a:t>
            </a:r>
            <a:r>
              <a:rPr sz="2400" b="1" spc="-1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operator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5148580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System.out.println((5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 3)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&amp;&amp;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(8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5));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15" dirty="0">
                <a:latin typeface="Cambria"/>
                <a:cs typeface="Cambria"/>
              </a:rPr>
              <a:t> </a:t>
            </a:r>
            <a:r>
              <a:rPr sz="2400" i="1" spc="-20" dirty="0">
                <a:latin typeface="Cambria"/>
                <a:cs typeface="Cambria"/>
              </a:rPr>
              <a:t>true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5148580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System.out.println((5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 3)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&amp;&amp;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(8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5));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15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false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mbria"/>
                <a:cs typeface="Cambria"/>
              </a:rPr>
              <a:t>//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||</a:t>
            </a:r>
            <a:r>
              <a:rPr sz="2400" b="1" spc="-10" dirty="0">
                <a:latin typeface="Cambria"/>
                <a:cs typeface="Cambria"/>
              </a:rPr>
              <a:t> operator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4923155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System.out.println((5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3)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|| (8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5));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20" dirty="0">
                <a:latin typeface="Cambria"/>
                <a:cs typeface="Cambria"/>
              </a:rPr>
              <a:t> true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4923155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System.out.println((5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 3)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||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(8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</a:t>
            </a:r>
            <a:r>
              <a:rPr sz="2400" spc="-20" dirty="0">
                <a:latin typeface="Cambria"/>
                <a:cs typeface="Cambria"/>
              </a:rPr>
              <a:t> 5));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20" dirty="0">
                <a:latin typeface="Cambria"/>
                <a:cs typeface="Cambria"/>
              </a:rPr>
              <a:t> true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4923155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System.out.println((5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 3)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||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(8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</a:t>
            </a:r>
            <a:r>
              <a:rPr sz="2400" spc="-20" dirty="0">
                <a:latin typeface="Cambria"/>
                <a:cs typeface="Cambria"/>
              </a:rPr>
              <a:t> 5));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30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false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mbria"/>
                <a:cs typeface="Cambria"/>
              </a:rPr>
              <a:t>//</a:t>
            </a:r>
            <a:r>
              <a:rPr sz="2400" b="1" spc="-1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!</a:t>
            </a:r>
            <a:r>
              <a:rPr sz="2400" b="1" spc="-1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operator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981450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System.out.println(!(5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==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3));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10" dirty="0">
                <a:latin typeface="Cambria"/>
                <a:cs typeface="Cambria"/>
              </a:rPr>
              <a:t> </a:t>
            </a:r>
            <a:r>
              <a:rPr sz="2400" i="1" spc="-20" dirty="0">
                <a:latin typeface="Cambria"/>
                <a:cs typeface="Cambria"/>
              </a:rPr>
              <a:t>true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813810" algn="l"/>
              </a:tabLst>
            </a:pPr>
            <a:r>
              <a:rPr sz="2400" spc="-10" dirty="0">
                <a:latin typeface="Cambria"/>
                <a:cs typeface="Cambria"/>
              </a:rPr>
              <a:t>System.out.println(!(5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3));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30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false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55234" y="5756554"/>
            <a:ext cx="143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0834" y="6122314"/>
            <a:ext cx="143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Bitwise</a:t>
            </a:r>
            <a:r>
              <a:rPr sz="3200" b="1" u="sng" spc="-3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operators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05277" y="1531365"/>
            <a:ext cx="5825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Bitwise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operators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binary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operations.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8690" y="2255520"/>
            <a:ext cx="5252349" cy="29154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711" y="542290"/>
            <a:ext cx="1296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C0C0C"/>
                </a:solidFill>
                <a:latin typeface="Cambria"/>
                <a:cs typeface="Cambria"/>
              </a:rPr>
              <a:t>Example</a:t>
            </a:r>
            <a:r>
              <a:rPr sz="2400" spc="-10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solidFill>
                  <a:srgbClr val="0C0C0C"/>
                </a:solidFill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546910"/>
              </p:ext>
            </p:extLst>
          </p:nvPr>
        </p:nvGraphicFramePr>
        <p:xfrm>
          <a:off x="725373" y="1274359"/>
          <a:ext cx="10593704" cy="3105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88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0301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29946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5257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51155">
                <a:tc gridSpan="2">
                  <a:txBody>
                    <a:bodyPr/>
                    <a:lstStyle/>
                    <a:p>
                      <a:pPr marL="107950">
                        <a:lnSpc>
                          <a:spcPts val="262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spc="-4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Bitwise</a:t>
                      </a:r>
                      <a:r>
                        <a:rPr sz="2400" spc="-15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400" spc="-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operator</a:t>
                      </a:r>
                      <a:r>
                        <a:rPr sz="2400" spc="-3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6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4180" algn="r">
                        <a:lnSpc>
                          <a:spcPts val="2620"/>
                        </a:lnSpc>
                      </a:pPr>
                      <a:r>
                        <a:rPr sz="2400" spc="-2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8421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262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//Bitwise</a:t>
                      </a:r>
                      <a:r>
                        <a:rPr sz="2400" spc="-4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|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operator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685">
                        <a:lnSpc>
                          <a:spcPts val="2620"/>
                        </a:lnSpc>
                      </a:pPr>
                      <a:r>
                        <a:rPr sz="2400" spc="-2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8421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5125">
                <a:tc gridSpan="2">
                  <a:txBody>
                    <a:bodyPr/>
                    <a:lstStyle/>
                    <a:p>
                      <a:pPr marL="488950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400" spc="-2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a =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2400" spc="-5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;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5130" algn="r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spc="-1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400" spc="-2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a =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2400" spc="-5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;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spc="-1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5125">
                <a:tc gridSpan="2">
                  <a:txBody>
                    <a:bodyPr/>
                    <a:lstStyle/>
                    <a:p>
                      <a:pPr marL="488950">
                        <a:lnSpc>
                          <a:spcPts val="2730"/>
                        </a:lnSpc>
                        <a:tabLst>
                          <a:tab pos="960755" algn="l"/>
                        </a:tabLst>
                      </a:pPr>
                      <a:r>
                        <a:rPr sz="2400" spc="-2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	b= </a:t>
                      </a:r>
                      <a:r>
                        <a:rPr sz="2400" spc="-2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8;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0" algn="r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spc="-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2730"/>
                        </a:lnSpc>
                        <a:tabLst>
                          <a:tab pos="866775" algn="l"/>
                        </a:tabLst>
                      </a:pPr>
                      <a:r>
                        <a:rPr sz="2400" spc="-2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	b= </a:t>
                      </a:r>
                      <a:r>
                        <a:rPr sz="2400" spc="-2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8;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spc="-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1790">
                <a:tc gridSpan="2">
                  <a:txBody>
                    <a:bodyPr/>
                    <a:lstStyle/>
                    <a:p>
                      <a:pPr marL="190500" algn="ctr">
                        <a:lnSpc>
                          <a:spcPts val="2670"/>
                        </a:lnSpc>
                      </a:pP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System.out.println(a&amp;b);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5290" algn="r">
                        <a:lnSpc>
                          <a:spcPts val="267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 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2670"/>
                        </a:lnSpc>
                      </a:pP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System.out.println(a|b);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670"/>
                        </a:lnSpc>
                      </a:pPr>
                      <a:r>
                        <a:rPr sz="24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400" spc="-1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70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//Bitwise</a:t>
                      </a:r>
                      <a:r>
                        <a:rPr sz="2000" spc="-4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XOR</a:t>
                      </a:r>
                      <a:r>
                        <a:rPr sz="2000" spc="-4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^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748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768350">
                        <a:lnSpc>
                          <a:spcPct val="100000"/>
                        </a:lnSpc>
                      </a:pPr>
                      <a:r>
                        <a:rPr sz="2000" spc="-2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8421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5748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31750">
                        <a:lnSpc>
                          <a:spcPts val="2275"/>
                        </a:lnSpc>
                      </a:pP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000" spc="-1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= 10</a:t>
                      </a:r>
                      <a:r>
                        <a:rPr sz="2000" spc="-1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;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2545">
                        <a:lnSpc>
                          <a:spcPts val="2275"/>
                        </a:lnSpc>
                      </a:pP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 </a:t>
                      </a:r>
                      <a:r>
                        <a:rPr sz="2000" spc="-10" dirty="0" smtClean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00001010</a:t>
                      </a:r>
                      <a:r>
                        <a:rPr lang="en-IN" sz="2000" spc="-10" dirty="0" smtClean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     </a:t>
                      </a:r>
                      <a:r>
                        <a:rPr lang="en-US" sz="2000" dirty="0" smtClean="0"/>
                        <a:t>Sets bit to 1 if bits are </a:t>
                      </a:r>
                      <a:r>
                        <a:rPr lang="en-US" sz="2000" b="1" dirty="0" smtClean="0"/>
                        <a:t>different</a:t>
                      </a:r>
                      <a:r>
                        <a:rPr lang="en-US" sz="2000" dirty="0" smtClean="0"/>
                        <a:t> (i.e., 1 ^ 0 or 0 ^ 1), else 0.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275"/>
                        </a:lnSpc>
                      </a:pP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000" spc="484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b=</a:t>
                      </a:r>
                      <a:r>
                        <a:rPr sz="2000" spc="-2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8;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57150">
                        <a:lnSpc>
                          <a:spcPts val="2275"/>
                        </a:lnSpc>
                      </a:pP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000" spc="-1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00001000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31750">
                        <a:lnSpc>
                          <a:spcPts val="2210"/>
                        </a:lnSpc>
                      </a:pPr>
                      <a:r>
                        <a:rPr sz="20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System.out.println(a^b);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77470">
                        <a:lnSpc>
                          <a:spcPts val="2210"/>
                        </a:lnSpc>
                      </a:pPr>
                      <a:r>
                        <a:rPr sz="200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2000" spc="-5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rgbClr val="0C0C0C"/>
                          </a:solidFill>
                          <a:latin typeface="Times New Roman"/>
                          <a:cs typeface="Times New Roman"/>
                        </a:rPr>
                        <a:t>00000010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204464" y="4699254"/>
            <a:ext cx="21609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//Bitwise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Complement </a:t>
            </a:r>
            <a:r>
              <a:rPr sz="1800" dirty="0">
                <a:latin typeface="Times New Roman"/>
                <a:cs typeface="Times New Roman"/>
              </a:rPr>
              <a:t>int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25" dirty="0">
                <a:latin typeface="Times New Roman"/>
                <a:cs typeface="Times New Roman"/>
              </a:rPr>
              <a:t>10; </a:t>
            </a:r>
            <a:r>
              <a:rPr sz="1800" spc="-10" dirty="0">
                <a:latin typeface="Times New Roman"/>
                <a:cs typeface="Times New Roman"/>
              </a:rPr>
              <a:t>System.out.println(~a);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7105" y="4699254"/>
            <a:ext cx="538797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277360" algn="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8421</a:t>
            </a:r>
            <a:endParaRPr sz="1800">
              <a:latin typeface="Times New Roman"/>
              <a:cs typeface="Times New Roman"/>
            </a:endParaRPr>
          </a:p>
          <a:p>
            <a:pPr marR="4246880" algn="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 </a:t>
            </a:r>
            <a:r>
              <a:rPr sz="1800" spc="-10" dirty="0">
                <a:latin typeface="Times New Roman"/>
                <a:cs typeface="Times New Roman"/>
              </a:rPr>
              <a:t>00001010</a:t>
            </a:r>
            <a:endParaRPr sz="1800">
              <a:latin typeface="Times New Roman"/>
              <a:cs typeface="Times New Roman"/>
            </a:endParaRPr>
          </a:p>
          <a:p>
            <a:pPr marL="29209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11110101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=&gt;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one's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complement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 00001010 =&gt;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  <a:p>
            <a:pPr marL="64198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</a:t>
            </a:r>
            <a:r>
              <a:rPr sz="1800" spc="4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+1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=&gt;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original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bit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LMB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7048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//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00001011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=&gt;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-</a:t>
            </a:r>
            <a:r>
              <a:rPr sz="1800" spc="-25" dirty="0">
                <a:latin typeface="Times New Roman"/>
                <a:cs typeface="Times New Roman"/>
              </a:rPr>
              <a:t>11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9761" y="192100"/>
            <a:ext cx="3076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14" dirty="0">
                <a:solidFill>
                  <a:srgbClr val="000000"/>
                </a:solidFill>
                <a:latin typeface="Cambria"/>
                <a:cs typeface="Cambria"/>
              </a:rPr>
              <a:t>Shift</a:t>
            </a:r>
            <a:r>
              <a:rPr sz="4000" b="1" spc="-2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14" dirty="0">
                <a:solidFill>
                  <a:srgbClr val="000000"/>
                </a:solidFill>
                <a:latin typeface="Cambria"/>
                <a:cs typeface="Cambria"/>
              </a:rPr>
              <a:t>operator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1467992"/>
            <a:ext cx="3861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89285"/>
              <a:buFont typeface="Wingdings"/>
              <a:buChar char=""/>
              <a:tabLst>
                <a:tab pos="469265" algn="l"/>
                <a:tab pos="3454400" algn="l"/>
              </a:tabLst>
            </a:pPr>
            <a:r>
              <a:rPr sz="2800" dirty="0">
                <a:latin typeface="Cambria"/>
                <a:cs typeface="Cambria"/>
              </a:rPr>
              <a:t>Left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shift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-25" dirty="0">
                <a:latin typeface="Cambria"/>
                <a:cs typeface="Cambria"/>
              </a:rPr>
              <a:t>&lt;&lt;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3289249"/>
            <a:ext cx="40252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89285"/>
              <a:buFont typeface="Wingdings"/>
              <a:buChar char=""/>
              <a:tabLst>
                <a:tab pos="469265" algn="l"/>
                <a:tab pos="3618229" algn="l"/>
              </a:tabLst>
            </a:pPr>
            <a:r>
              <a:rPr sz="2800" dirty="0">
                <a:latin typeface="Cambria"/>
                <a:cs typeface="Cambria"/>
              </a:rPr>
              <a:t>Right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Shift</a:t>
            </a:r>
            <a:r>
              <a:rPr sz="2800" spc="-9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operator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-25" dirty="0">
                <a:latin typeface="Cambria"/>
                <a:cs typeface="Cambria"/>
              </a:rPr>
              <a:t>&gt;&gt;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178" y="4494795"/>
            <a:ext cx="8774793" cy="21087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8474" y="1321065"/>
            <a:ext cx="4485808" cy="20889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144" rIns="0" bIns="0" rtlCol="0">
            <a:spAutoFit/>
          </a:bodyPr>
          <a:lstStyle/>
          <a:p>
            <a:pPr marL="2130425">
              <a:lnSpc>
                <a:spcPct val="100000"/>
              </a:lnSpc>
              <a:spcBef>
                <a:spcPts val="105"/>
              </a:spcBef>
            </a:pP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Difference</a:t>
            </a:r>
            <a:r>
              <a:rPr sz="4000" b="1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between</a:t>
            </a:r>
            <a:r>
              <a:rPr sz="4000" b="1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&gt;&gt;</a:t>
            </a:r>
            <a:r>
              <a:rPr sz="4400" b="1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4000" b="1" spc="-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&gt;&gt;&gt;</a:t>
            </a:r>
            <a:endParaRPr sz="4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2568955"/>
          <a:ext cx="10515600" cy="2110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62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Operator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Effect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85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&gt;&gt;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(Signed Right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Shift)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94055">
                        <a:lnSpc>
                          <a:spcPct val="100000"/>
                        </a:lnSpc>
                        <a:spcBef>
                          <a:spcPts val="166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Preserves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sign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bit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(fills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leftmost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bits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if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negative,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positive).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14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62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&gt;&gt;&gt;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(Unsigned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Shift)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Always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fills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leftmost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bits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ignoring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sign.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8248" y="726440"/>
            <a:ext cx="6656705" cy="41780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000" dirty="0" smtClean="0">
                <a:latin typeface="Cambria"/>
                <a:cs typeface="Cambria"/>
              </a:rPr>
              <a:t>public</a:t>
            </a:r>
            <a:r>
              <a:rPr sz="3000" spc="-15" dirty="0" smtClean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class</a:t>
            </a:r>
            <a:r>
              <a:rPr sz="3000" spc="-2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Shift</a:t>
            </a:r>
            <a:r>
              <a:rPr sz="3000" spc="-10" dirty="0">
                <a:latin typeface="Cambria"/>
                <a:cs typeface="Cambria"/>
              </a:rPr>
              <a:t> </a:t>
            </a:r>
            <a:r>
              <a:rPr sz="3000" spc="-50" dirty="0">
                <a:latin typeface="Cambria"/>
                <a:cs typeface="Cambria"/>
              </a:rPr>
              <a:t>{</a:t>
            </a:r>
            <a:endParaRPr sz="3000" dirty="0">
              <a:latin typeface="Cambria"/>
              <a:cs typeface="Cambria"/>
            </a:endParaRPr>
          </a:p>
          <a:p>
            <a:pPr marL="838200" marR="5080" indent="-413384">
              <a:lnSpc>
                <a:spcPct val="160000"/>
              </a:lnSpc>
            </a:pPr>
            <a:r>
              <a:rPr sz="3000" dirty="0">
                <a:latin typeface="Cambria"/>
                <a:cs typeface="Cambria"/>
              </a:rPr>
              <a:t>public</a:t>
            </a:r>
            <a:r>
              <a:rPr sz="3000" spc="-3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static</a:t>
            </a:r>
            <a:r>
              <a:rPr sz="3000" spc="-4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void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main(String[]</a:t>
            </a:r>
            <a:r>
              <a:rPr sz="3000" spc="-3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args)</a:t>
            </a:r>
            <a:r>
              <a:rPr sz="3000" spc="-30" dirty="0">
                <a:latin typeface="Cambria"/>
                <a:cs typeface="Cambria"/>
              </a:rPr>
              <a:t> </a:t>
            </a:r>
            <a:r>
              <a:rPr sz="3000" spc="-50" dirty="0">
                <a:latin typeface="Cambria"/>
                <a:cs typeface="Cambria"/>
              </a:rPr>
              <a:t>{ </a:t>
            </a:r>
            <a:r>
              <a:rPr sz="3000" spc="-10" dirty="0">
                <a:latin typeface="Cambria"/>
                <a:cs typeface="Cambria"/>
              </a:rPr>
              <a:t>System.out.println(10&lt;&lt;2); System.out.println(10&gt;&gt;2);</a:t>
            </a:r>
            <a:endParaRPr sz="3000" dirty="0">
              <a:latin typeface="Cambria"/>
              <a:cs typeface="Cambria"/>
            </a:endParaRPr>
          </a:p>
          <a:p>
            <a:pPr marL="425450">
              <a:lnSpc>
                <a:spcPct val="100000"/>
              </a:lnSpc>
              <a:spcBef>
                <a:spcPts val="2165"/>
              </a:spcBef>
            </a:pPr>
            <a:r>
              <a:rPr sz="3000" spc="-50" dirty="0">
                <a:latin typeface="Cambria"/>
                <a:cs typeface="Cambria"/>
              </a:rPr>
              <a:t>}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000" spc="-50" dirty="0">
                <a:latin typeface="Cambria"/>
                <a:cs typeface="Cambria"/>
              </a:rPr>
              <a:t>}</a:t>
            </a:r>
            <a:endParaRPr sz="3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5959551"/>
            <a:ext cx="15240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10" dirty="0">
                <a:latin typeface="Calibri"/>
                <a:cs typeface="Calibri"/>
              </a:rPr>
              <a:t>jdfdf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40809" y="334772"/>
            <a:ext cx="38442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75" dirty="0">
                <a:solidFill>
                  <a:srgbClr val="000000"/>
                </a:solidFill>
                <a:latin typeface="Cambria"/>
                <a:cs typeface="Cambria"/>
              </a:rPr>
              <a:t>Ternary</a:t>
            </a:r>
            <a:r>
              <a:rPr sz="4000" b="1" spc="-1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05" dirty="0">
                <a:solidFill>
                  <a:srgbClr val="000000"/>
                </a:solidFill>
                <a:latin typeface="Cambria"/>
                <a:cs typeface="Cambria"/>
              </a:rPr>
              <a:t>operator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537" y="1302466"/>
            <a:ext cx="9918700" cy="460692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In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Java,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ternary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operator,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also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known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conditional</a:t>
            </a:r>
            <a:r>
              <a:rPr sz="2400" b="1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mbria"/>
                <a:cs typeface="Cambria"/>
              </a:rPr>
              <a:t>operator</a:t>
            </a:r>
            <a:r>
              <a:rPr sz="2400" spc="-10" dirty="0">
                <a:latin typeface="Cambria"/>
                <a:cs typeface="Cambria"/>
              </a:rPr>
              <a:t>,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shorthand</a:t>
            </a:r>
            <a:r>
              <a:rPr sz="2400" b="1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version</a:t>
            </a:r>
            <a:r>
              <a:rPr sz="2400" b="1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b="1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an</a:t>
            </a:r>
            <a:r>
              <a:rPr sz="2400" b="1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mbria"/>
                <a:cs typeface="Cambria"/>
              </a:rPr>
              <a:t>if-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else</a:t>
            </a:r>
            <a:r>
              <a:rPr sz="2400" b="1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mbria"/>
                <a:cs typeface="Cambria"/>
              </a:rPr>
              <a:t>statement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unique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because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takes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operands:</a:t>
            </a:r>
            <a:endParaRPr sz="2400">
              <a:latin typeface="Cambria"/>
              <a:cs typeface="Cambria"/>
            </a:endParaRPr>
          </a:p>
          <a:p>
            <a:pPr marL="993775" lvl="1" indent="-523875">
              <a:lnSpc>
                <a:spcPct val="100000"/>
              </a:lnSpc>
              <a:spcBef>
                <a:spcPts val="1950"/>
              </a:spcBef>
              <a:buAutoNum type="arabicPeriod"/>
              <a:tabLst>
                <a:tab pos="993775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followed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question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mark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(?)</a:t>
            </a:r>
            <a:endParaRPr sz="2400">
              <a:latin typeface="Cambria"/>
              <a:cs typeface="Cambria"/>
            </a:endParaRPr>
          </a:p>
          <a:p>
            <a:pPr marL="927100" lvl="1" indent="-457200">
              <a:lnSpc>
                <a:spcPct val="100000"/>
              </a:lnSpc>
              <a:spcBef>
                <a:spcPts val="1930"/>
              </a:spcBef>
              <a:buAutoNum type="arabicPeriod"/>
              <a:tabLst>
                <a:tab pos="927100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true</a:t>
            </a:r>
            <a:endParaRPr sz="2400">
              <a:latin typeface="Cambria"/>
              <a:cs typeface="Cambria"/>
            </a:endParaRPr>
          </a:p>
          <a:p>
            <a:pPr marL="927100" lvl="1" indent="-457200">
              <a:lnSpc>
                <a:spcPct val="100000"/>
              </a:lnSpc>
              <a:spcBef>
                <a:spcPts val="1945"/>
              </a:spcBef>
              <a:buAutoNum type="arabicPeriod"/>
              <a:tabLst>
                <a:tab pos="927100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false.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10" dirty="0">
                <a:latin typeface="Cambria"/>
                <a:cs typeface="Cambria"/>
              </a:rPr>
              <a:t>Syntax:</a:t>
            </a:r>
            <a:endParaRPr sz="2400">
              <a:latin typeface="Cambria"/>
              <a:cs typeface="Cambria"/>
            </a:endParaRPr>
          </a:p>
          <a:p>
            <a:pPr marL="3330575">
              <a:lnSpc>
                <a:spcPct val="100000"/>
              </a:lnSpc>
              <a:spcBef>
                <a:spcPts val="1440"/>
              </a:spcBef>
            </a:pPr>
            <a:r>
              <a:rPr sz="2400" i="1" dirty="0">
                <a:latin typeface="Cambria"/>
                <a:cs typeface="Cambria"/>
              </a:rPr>
              <a:t>condition</a:t>
            </a:r>
            <a:r>
              <a:rPr sz="2400" i="1" spc="-4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?</a:t>
            </a:r>
            <a:r>
              <a:rPr sz="2400" i="1" spc="-45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valueIfTrue</a:t>
            </a:r>
            <a:r>
              <a:rPr sz="2400" i="1" spc="-2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:</a:t>
            </a:r>
            <a:r>
              <a:rPr sz="2400" i="1" spc="-35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valueIfFalse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5959551"/>
            <a:ext cx="15240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10" dirty="0">
                <a:latin typeface="Calibri"/>
                <a:cs typeface="Calibri"/>
              </a:rPr>
              <a:t>jdfdf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614" y="395096"/>
            <a:ext cx="178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  <a:latin typeface="Cambria"/>
                <a:cs typeface="Cambria"/>
              </a:rPr>
              <a:t>package</a:t>
            </a:r>
            <a:r>
              <a:rPr sz="2400" spc="-11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mbria"/>
                <a:cs typeface="Cambria"/>
              </a:rPr>
              <a:t>btec;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614" y="1126312"/>
            <a:ext cx="855662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Ternary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>
              <a:latin typeface="Cambria"/>
              <a:cs typeface="Cambria"/>
            </a:endParaRPr>
          </a:p>
          <a:p>
            <a:pPr marL="546100" marR="3108960" indent="-762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static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void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main(String[]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args)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 </a:t>
            </a:r>
            <a:r>
              <a:rPr sz="2400" dirty="0">
                <a:latin typeface="Cambria"/>
                <a:cs typeface="Cambria"/>
              </a:rPr>
              <a:t>int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5;</a:t>
            </a:r>
            <a:endParaRPr sz="2400">
              <a:latin typeface="Cambria"/>
              <a:cs typeface="Cambria"/>
            </a:endParaRPr>
          </a:p>
          <a:p>
            <a:pPr marL="5461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int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10;</a:t>
            </a:r>
            <a:endParaRPr sz="2400">
              <a:latin typeface="Cambria"/>
              <a:cs typeface="Cambria"/>
            </a:endParaRPr>
          </a:p>
          <a:p>
            <a:pPr marL="546100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int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result;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>
              <a:latin typeface="Cambria"/>
              <a:cs typeface="Cambria"/>
            </a:endParaRPr>
          </a:p>
          <a:p>
            <a:pPr marL="546100">
              <a:lnSpc>
                <a:spcPct val="100000"/>
              </a:lnSpc>
            </a:pPr>
            <a:r>
              <a:rPr sz="2400" i="1" dirty="0">
                <a:latin typeface="Cambria"/>
                <a:cs typeface="Cambria"/>
              </a:rPr>
              <a:t>//</a:t>
            </a:r>
            <a:r>
              <a:rPr sz="2400" i="1" spc="-5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Using</a:t>
            </a:r>
            <a:r>
              <a:rPr sz="2400" i="1" spc="-3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ternary</a:t>
            </a:r>
            <a:r>
              <a:rPr sz="2400" i="1" spc="-3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operator</a:t>
            </a:r>
            <a:r>
              <a:rPr sz="2400" i="1" spc="-30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to</a:t>
            </a:r>
            <a:r>
              <a:rPr sz="2400" i="1" spc="-5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find</a:t>
            </a:r>
            <a:r>
              <a:rPr sz="2400" i="1" spc="-2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the</a:t>
            </a:r>
            <a:r>
              <a:rPr sz="2400" i="1" spc="-2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maximum</a:t>
            </a:r>
            <a:r>
              <a:rPr sz="2400" i="1" spc="-5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of</a:t>
            </a:r>
            <a:r>
              <a:rPr sz="2400" i="1" spc="-35" dirty="0">
                <a:latin typeface="Cambria"/>
                <a:cs typeface="Cambria"/>
              </a:rPr>
              <a:t> </a:t>
            </a:r>
            <a:r>
              <a:rPr sz="2400" i="1" dirty="0">
                <a:latin typeface="Cambria"/>
                <a:cs typeface="Cambria"/>
              </a:rPr>
              <a:t>two</a:t>
            </a:r>
            <a:r>
              <a:rPr sz="2400" i="1" spc="-50" dirty="0">
                <a:latin typeface="Cambria"/>
                <a:cs typeface="Cambria"/>
              </a:rPr>
              <a:t> </a:t>
            </a:r>
            <a:r>
              <a:rPr sz="2400" i="1" spc="-10" dirty="0">
                <a:latin typeface="Cambria"/>
                <a:cs typeface="Cambria"/>
              </a:rPr>
              <a:t>numbers</a:t>
            </a:r>
            <a:endParaRPr sz="2400">
              <a:latin typeface="Cambria"/>
              <a:cs typeface="Cambria"/>
            </a:endParaRPr>
          </a:p>
          <a:p>
            <a:pPr marL="5461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result</a:t>
            </a:r>
            <a:r>
              <a:rPr sz="2400" b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4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(x</a:t>
            </a:r>
            <a:r>
              <a:rPr sz="24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&gt;</a:t>
            </a:r>
            <a:r>
              <a:rPr sz="2400" b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y)</a:t>
            </a:r>
            <a:r>
              <a:rPr sz="24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?</a:t>
            </a:r>
            <a:r>
              <a:rPr sz="24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x</a:t>
            </a:r>
            <a:r>
              <a:rPr sz="24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2400" b="1" spc="-25" dirty="0">
                <a:solidFill>
                  <a:srgbClr val="FF0000"/>
                </a:solidFill>
                <a:latin typeface="Cambria"/>
                <a:cs typeface="Cambria"/>
              </a:rPr>
              <a:t> y;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>
              <a:latin typeface="Cambria"/>
              <a:cs typeface="Cambria"/>
            </a:endParaRPr>
          </a:p>
          <a:p>
            <a:pPr marL="546100">
              <a:lnSpc>
                <a:spcPct val="100000"/>
              </a:lnSpc>
            </a:pPr>
            <a:r>
              <a:rPr sz="2400" spc="-10" dirty="0">
                <a:latin typeface="Cambria"/>
                <a:cs typeface="Cambria"/>
              </a:rPr>
              <a:t>System.out.println("The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maximum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is: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"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result);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1614" y="6248501"/>
            <a:ext cx="143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9969" rIns="0" bIns="0" rtlCol="0">
            <a:spAutoFit/>
          </a:bodyPr>
          <a:lstStyle/>
          <a:p>
            <a:pPr marL="46482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0F0E0D"/>
                </a:solidFill>
                <a:latin typeface="Cambria"/>
                <a:cs typeface="Cambria"/>
              </a:rPr>
              <a:t>Operator</a:t>
            </a:r>
            <a:r>
              <a:rPr sz="4000" b="1" spc="-80" dirty="0">
                <a:solidFill>
                  <a:srgbClr val="0F0E0D"/>
                </a:solidFill>
                <a:latin typeface="Cambria"/>
                <a:cs typeface="Cambria"/>
              </a:rPr>
              <a:t> </a:t>
            </a:r>
            <a:r>
              <a:rPr sz="4000" b="1" spc="-20" dirty="0">
                <a:solidFill>
                  <a:srgbClr val="0F0E0D"/>
                </a:solidFill>
                <a:latin typeface="Cambria"/>
                <a:cs typeface="Cambria"/>
              </a:rPr>
              <a:t>precedence</a:t>
            </a:r>
            <a:r>
              <a:rPr sz="4000" b="1" spc="-90" dirty="0">
                <a:solidFill>
                  <a:srgbClr val="0F0E0D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0F0E0D"/>
                </a:solidFill>
                <a:latin typeface="Cambria"/>
                <a:cs typeface="Cambria"/>
              </a:rPr>
              <a:t>and</a:t>
            </a:r>
            <a:r>
              <a:rPr sz="4000" b="1" spc="-90" dirty="0">
                <a:solidFill>
                  <a:srgbClr val="0F0E0D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0F0E0D"/>
                </a:solidFill>
                <a:latin typeface="Cambria"/>
                <a:cs typeface="Cambria"/>
              </a:rPr>
              <a:t>use</a:t>
            </a:r>
            <a:r>
              <a:rPr sz="4000" b="1" spc="-85" dirty="0">
                <a:solidFill>
                  <a:srgbClr val="0F0E0D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0F0E0D"/>
                </a:solidFill>
                <a:latin typeface="Cambria"/>
                <a:cs typeface="Cambria"/>
              </a:rPr>
              <a:t>of</a:t>
            </a:r>
            <a:r>
              <a:rPr sz="4000" b="1" spc="-90" dirty="0">
                <a:solidFill>
                  <a:srgbClr val="0F0E0D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0F0E0D"/>
                </a:solidFill>
                <a:latin typeface="Cambria"/>
                <a:cs typeface="Cambria"/>
              </a:rPr>
              <a:t>parenthesis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79656"/>
            <a:ext cx="10326370" cy="3138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500" dirty="0">
                <a:latin typeface="Cambria"/>
                <a:cs typeface="Cambria"/>
              </a:rPr>
              <a:t>Operator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precedence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determines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the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b="1" i="1" dirty="0">
                <a:solidFill>
                  <a:srgbClr val="FF0000"/>
                </a:solidFill>
                <a:latin typeface="Cambria"/>
                <a:cs typeface="Cambria"/>
              </a:rPr>
              <a:t>order</a:t>
            </a:r>
            <a:r>
              <a:rPr sz="2500" b="1" i="1" spc="-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in</a:t>
            </a:r>
            <a:r>
              <a:rPr sz="2500" spc="-8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which</a:t>
            </a:r>
            <a:r>
              <a:rPr sz="2500" spc="-80" dirty="0"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operators</a:t>
            </a:r>
            <a:r>
              <a:rPr sz="2500" i="1" spc="-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2500" i="1" spc="-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spc="-10" dirty="0">
                <a:solidFill>
                  <a:srgbClr val="FF0000"/>
                </a:solidFill>
                <a:latin typeface="Cambria"/>
                <a:cs typeface="Cambria"/>
              </a:rPr>
              <a:t>evaluated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sz="2500" i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dirty="0">
                <a:solidFill>
                  <a:srgbClr val="FF0000"/>
                </a:solidFill>
                <a:latin typeface="Cambria"/>
                <a:cs typeface="Cambria"/>
              </a:rPr>
              <a:t>an</a:t>
            </a:r>
            <a:r>
              <a:rPr sz="2500" i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500" i="1" spc="-10" dirty="0">
                <a:solidFill>
                  <a:srgbClr val="FF0000"/>
                </a:solidFill>
                <a:latin typeface="Cambria"/>
                <a:cs typeface="Cambria"/>
              </a:rPr>
              <a:t>expression.</a:t>
            </a:r>
            <a:endParaRPr sz="2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sz="2500" b="1" spc="-10" dirty="0">
                <a:latin typeface="Cambria"/>
                <a:cs typeface="Cambria"/>
              </a:rPr>
              <a:t>Example:</a:t>
            </a:r>
            <a:endParaRPr sz="2500">
              <a:latin typeface="Cambria"/>
              <a:cs typeface="Cambria"/>
            </a:endParaRPr>
          </a:p>
          <a:p>
            <a:pPr marL="12700" marR="418465">
              <a:lnSpc>
                <a:spcPct val="150100"/>
              </a:lnSpc>
              <a:spcBef>
                <a:spcPts val="994"/>
              </a:spcBef>
            </a:pPr>
            <a:r>
              <a:rPr sz="2500" dirty="0">
                <a:latin typeface="Cambria"/>
                <a:cs typeface="Cambria"/>
              </a:rPr>
              <a:t>In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the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expression </a:t>
            </a:r>
            <a:r>
              <a:rPr sz="2500" dirty="0">
                <a:latin typeface="Cambria"/>
                <a:cs typeface="Cambria"/>
              </a:rPr>
              <a:t>5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+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3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*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2,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the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multiplication</a:t>
            </a:r>
            <a:r>
              <a:rPr sz="2500" spc="-1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(*)</a:t>
            </a:r>
            <a:r>
              <a:rPr sz="2500" spc="-5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happens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before</a:t>
            </a:r>
            <a:r>
              <a:rPr sz="2500" spc="-2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addition </a:t>
            </a:r>
            <a:r>
              <a:rPr sz="2500" dirty="0">
                <a:latin typeface="Cambria"/>
                <a:cs typeface="Cambria"/>
              </a:rPr>
              <a:t>(+)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due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to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higher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precedence.</a:t>
            </a:r>
            <a:endParaRPr sz="2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6250" y="111249"/>
            <a:ext cx="9086667" cy="67467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5501" y="117729"/>
            <a:ext cx="6457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0" dirty="0">
                <a:solidFill>
                  <a:srgbClr val="000000"/>
                </a:solidFill>
                <a:latin typeface="Cambria"/>
                <a:cs typeface="Cambria"/>
              </a:rPr>
              <a:t>Operator</a:t>
            </a:r>
            <a:r>
              <a:rPr sz="4000" b="1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20" dirty="0">
                <a:solidFill>
                  <a:srgbClr val="000000"/>
                </a:solidFill>
                <a:latin typeface="Cambria"/>
                <a:cs typeface="Cambria"/>
              </a:rPr>
              <a:t>Precedence</a:t>
            </a:r>
            <a:r>
              <a:rPr sz="4000" b="1" spc="-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000000"/>
                </a:solidFill>
                <a:latin typeface="Cambria"/>
                <a:cs typeface="Cambria"/>
              </a:rPr>
              <a:t>Order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219" y="1041273"/>
            <a:ext cx="7706359" cy="504380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400" dirty="0">
                <a:latin typeface="Cambria"/>
                <a:cs typeface="Cambria"/>
              </a:rPr>
              <a:t>Highest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Lowest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Precedence: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latin typeface="Cambria"/>
                <a:cs typeface="Cambria"/>
              </a:rPr>
              <a:t>Parentheses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()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Postfix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Operators: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x++,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x-</a:t>
            </a:r>
            <a:r>
              <a:rPr sz="2400" spc="-50" dirty="0">
                <a:latin typeface="Cambria"/>
                <a:cs typeface="Cambria"/>
              </a:rPr>
              <a:t>-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Unary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Operators: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++x,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--</a:t>
            </a:r>
            <a:r>
              <a:rPr sz="2400" dirty="0">
                <a:latin typeface="Cambria"/>
                <a:cs typeface="Cambria"/>
              </a:rPr>
              <a:t>x,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+,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!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latin typeface="Cambria"/>
                <a:cs typeface="Cambria"/>
              </a:rPr>
              <a:t>Multiplication,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Division,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Modulus: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*,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/,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%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Addition,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Subtraction: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+,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-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469265" algn="l"/>
              </a:tabLst>
            </a:pPr>
            <a:r>
              <a:rPr sz="2400" spc="-10" dirty="0">
                <a:latin typeface="Cambria"/>
                <a:cs typeface="Cambria"/>
              </a:rPr>
              <a:t>Relational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Operators: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&lt;,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&gt;,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&lt;=,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&gt;=,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==,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!=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Logical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&amp;&amp;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Logical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||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469265" algn="l"/>
              </a:tabLst>
            </a:pPr>
            <a:r>
              <a:rPr sz="2400" spc="-25" dirty="0">
                <a:latin typeface="Cambria"/>
                <a:cs typeface="Cambria"/>
              </a:rPr>
              <a:t>Ternary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Conditional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Operator: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?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expr1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expr2</a:t>
            </a:r>
            <a:endParaRPr sz="2400">
              <a:latin typeface="Cambria"/>
              <a:cs typeface="Cambria"/>
            </a:endParaRPr>
          </a:p>
          <a:p>
            <a:pPr marL="468630" indent="-45593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468630" algn="l"/>
              </a:tabLst>
            </a:pPr>
            <a:r>
              <a:rPr sz="2400" dirty="0">
                <a:latin typeface="Cambria"/>
                <a:cs typeface="Cambria"/>
              </a:rPr>
              <a:t>Assignment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Operators: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=,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+=,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-</a:t>
            </a:r>
            <a:r>
              <a:rPr sz="2400" dirty="0">
                <a:latin typeface="Cambria"/>
                <a:cs typeface="Cambria"/>
              </a:rPr>
              <a:t>=,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*=,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/=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4058" y="319531"/>
            <a:ext cx="3642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03245" algn="l"/>
              </a:tabLst>
            </a:pPr>
            <a:r>
              <a:rPr sz="4000" b="1" spc="-10" dirty="0">
                <a:solidFill>
                  <a:srgbClr val="000000"/>
                </a:solidFill>
                <a:latin typeface="Cambria"/>
                <a:cs typeface="Cambria"/>
              </a:rPr>
              <a:t>Parentheses</a:t>
            </a:r>
            <a:r>
              <a:rPr sz="4000" b="1" dirty="0">
                <a:solidFill>
                  <a:srgbClr val="000000"/>
                </a:solidFill>
                <a:latin typeface="Cambria"/>
                <a:cs typeface="Cambria"/>
              </a:rPr>
              <a:t>	(</a:t>
            </a:r>
            <a:r>
              <a:rPr sz="4000" b="1" spc="-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50" dirty="0">
                <a:solidFill>
                  <a:srgbClr val="000000"/>
                </a:solidFill>
                <a:latin typeface="Cambria"/>
                <a:cs typeface="Cambria"/>
              </a:rPr>
              <a:t>)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684" y="1629917"/>
            <a:ext cx="4359910" cy="2418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"/>
                <a:cs typeface="Cambria"/>
              </a:rPr>
              <a:t>Parentheses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()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used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to:</a:t>
            </a:r>
            <a:endParaRPr sz="2400">
              <a:latin typeface="Cambria"/>
              <a:cs typeface="Cambria"/>
            </a:endParaRPr>
          </a:p>
          <a:p>
            <a:pPr marL="254635" indent="-244475">
              <a:lnSpc>
                <a:spcPct val="100000"/>
              </a:lnSpc>
              <a:spcBef>
                <a:spcPts val="2435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latin typeface="Cambria"/>
                <a:cs typeface="Cambria"/>
              </a:rPr>
              <a:t>Change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order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operations.</a:t>
            </a:r>
            <a:endParaRPr sz="2400">
              <a:latin typeface="Cambria"/>
              <a:cs typeface="Cambria"/>
            </a:endParaRPr>
          </a:p>
          <a:p>
            <a:pPr marL="254635" indent="-244475">
              <a:lnSpc>
                <a:spcPct val="100000"/>
              </a:lnSpc>
              <a:spcBef>
                <a:spcPts val="245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dirty="0">
                <a:latin typeface="Cambria"/>
                <a:cs typeface="Cambria"/>
              </a:rPr>
              <a:t>Group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expressions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clarity.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435"/>
              </a:spcBef>
            </a:pPr>
            <a:r>
              <a:rPr sz="2400" b="1" spc="-10" dirty="0">
                <a:latin typeface="Cambria"/>
                <a:cs typeface="Cambria"/>
              </a:rPr>
              <a:t>Example: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684" y="4332478"/>
            <a:ext cx="2889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int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result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=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(5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3)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-25" dirty="0">
                <a:latin typeface="Cambria"/>
                <a:cs typeface="Cambria"/>
              </a:rPr>
              <a:t> 2;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7663" y="4332478"/>
            <a:ext cx="6574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//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Forces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addition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happen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before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multiplication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925" y="5127458"/>
            <a:ext cx="5961761" cy="115446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Operator Precedence and Associativity in Java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Operator Precedence and Associativity in Java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0" name="Picture 6" descr="What are precedence and associativity in C? - Quo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33198"/>
            <a:ext cx="3055581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16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882</TotalTime>
  <Words>984</Words>
  <Application>Microsoft Office PowerPoint</Application>
  <PresentationFormat>Custom</PresentationFormat>
  <Paragraphs>202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Operators</vt:lpstr>
      <vt:lpstr>1. Unary operator</vt:lpstr>
      <vt:lpstr>Incrementing/decrementing a value by one</vt:lpstr>
      <vt:lpstr>PowerPoint Presentation</vt:lpstr>
      <vt:lpstr>Arithmetic Operators</vt:lpstr>
      <vt:lpstr>PowerPoint Presentation</vt:lpstr>
      <vt:lpstr>PowerPoint Presentation</vt:lpstr>
      <vt:lpstr>PowerPoint Presentation</vt:lpstr>
      <vt:lpstr>Relational operator</vt:lpstr>
      <vt:lpstr>PowerPoint Presentation</vt:lpstr>
      <vt:lpstr>Logical Operators</vt:lpstr>
      <vt:lpstr>Logical operators</vt:lpstr>
      <vt:lpstr>PowerPoint Presentation</vt:lpstr>
      <vt:lpstr>Bitwise operators</vt:lpstr>
      <vt:lpstr>Example :</vt:lpstr>
      <vt:lpstr>Shift operator</vt:lpstr>
      <vt:lpstr>Difference between &gt;&gt; and &gt;&gt;&gt;</vt:lpstr>
      <vt:lpstr>PowerPoint Presentation</vt:lpstr>
      <vt:lpstr>Ternary operator</vt:lpstr>
      <vt:lpstr>package btec;</vt:lpstr>
      <vt:lpstr>Operator precedence and use of parenthesis</vt:lpstr>
      <vt:lpstr>PowerPoint Presentation</vt:lpstr>
      <vt:lpstr>Operator Precedence Order</vt:lpstr>
      <vt:lpstr>Parentheses ( )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</dc:title>
  <dc:creator>lenovo</dc:creator>
  <cp:lastModifiedBy>lenovo</cp:lastModifiedBy>
  <cp:revision>16</cp:revision>
  <dcterms:created xsi:type="dcterms:W3CDTF">2025-07-15T04:37:49Z</dcterms:created>
  <dcterms:modified xsi:type="dcterms:W3CDTF">2025-09-01T05:29:28Z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2025-07-15T00:00:00Z</vt:filetime>
  </property>
  <property fmtid="{D5CDD505-2E9C-101B-9397-08002B2CF9AE}" pid="5" name="Producer">
    <vt:lpwstr>www.ilovepdf.com</vt:lpwstr>
  </property>
</Properties>
</file>