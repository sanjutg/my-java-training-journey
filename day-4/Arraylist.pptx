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8" r:id="rId4"/>
    <p:sldId id="258" r:id="rId5"/>
    <p:sldId id="259" r:id="rId6"/>
    <p:sldId id="269" r:id="rId7"/>
    <p:sldId id="270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6" d="100"/>
          <a:sy n="76" d="100"/>
        </p:scale>
        <p:origin x="-1206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41224"/>
            <a:ext cx="8229600" cy="1143000"/>
          </a:xfrm>
        </p:spPr>
        <p:txBody>
          <a:bodyPr>
            <a:normAutofit fontScale="90000"/>
          </a:bodyPr>
          <a:lstStyle/>
          <a:p>
            <a:r>
              <a:rPr b="1" dirty="0" smtClean="0"/>
              <a:t>Collection</a:t>
            </a:r>
            <a:r>
              <a:rPr lang="en-US" b="1" dirty="0"/>
              <a:t>s</a:t>
            </a:r>
            <a:r>
              <a:rPr lang="en-US" b="1" dirty="0" smtClean="0"/>
              <a:t> in Java</a:t>
            </a:r>
            <a:br>
              <a:rPr lang="en-US" b="1" dirty="0" smtClean="0"/>
            </a:br>
            <a:r>
              <a:rPr lang="en-US" dirty="0" err="1" smtClean="0"/>
              <a:t>ArrayList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smtClean="0"/>
              <a:t>Collection</a:t>
            </a:r>
            <a:r>
              <a:rPr lang="en-US" dirty="0" smtClean="0"/>
              <a:t>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sz="2400" dirty="0"/>
              <a:t>Java Collections Framework (JCF) is the framework that provides classes and interfaces to store, retrieve, manipulate, and process groups of objects efficiently</a:t>
            </a:r>
            <a:r>
              <a:rPr lang="en-US" sz="2400" dirty="0" smtClean="0"/>
              <a:t>.</a:t>
            </a:r>
          </a:p>
          <a:p>
            <a:r>
              <a:rPr lang="en-IN" sz="2400" b="1" dirty="0"/>
              <a:t>Main interfaces in JCF:</a:t>
            </a:r>
            <a:endParaRPr lang="en-IN" sz="2400" dirty="0"/>
          </a:p>
          <a:p>
            <a:pPr marL="0" indent="0">
              <a:buNone/>
            </a:pPr>
            <a:r>
              <a:rPr lang="en-IN" sz="2400" b="1" dirty="0" smtClean="0"/>
              <a:t>                List</a:t>
            </a:r>
            <a:r>
              <a:rPr lang="en-IN" sz="2400" dirty="0" smtClean="0"/>
              <a:t> </a:t>
            </a:r>
            <a:r>
              <a:rPr lang="en-IN" sz="2400" dirty="0"/>
              <a:t>→ Ordered, allows duplicates</a:t>
            </a:r>
            <a:br>
              <a:rPr lang="en-IN" sz="2400" dirty="0"/>
            </a:br>
            <a:r>
              <a:rPr lang="en-IN" sz="2400" dirty="0" smtClean="0"/>
              <a:t>                Examples</a:t>
            </a:r>
            <a:r>
              <a:rPr lang="en-IN" sz="2400" dirty="0"/>
              <a:t>: </a:t>
            </a:r>
            <a:r>
              <a:rPr lang="en-IN" sz="2400" dirty="0" err="1"/>
              <a:t>ArrayList</a:t>
            </a:r>
            <a:r>
              <a:rPr lang="en-IN" sz="2400" dirty="0"/>
              <a:t>, </a:t>
            </a:r>
            <a:r>
              <a:rPr lang="en-IN" sz="2400" dirty="0" err="1"/>
              <a:t>LinkedList</a:t>
            </a:r>
            <a:endParaRPr lang="en-IN" sz="2400" dirty="0"/>
          </a:p>
          <a:p>
            <a:pPr marL="0" indent="0">
              <a:buNone/>
            </a:pPr>
            <a:r>
              <a:rPr lang="en-IN" sz="2400" b="1" dirty="0" smtClean="0"/>
              <a:t>                Set</a:t>
            </a:r>
            <a:r>
              <a:rPr lang="en-IN" sz="2400" dirty="0" smtClean="0"/>
              <a:t> </a:t>
            </a:r>
            <a:r>
              <a:rPr lang="en-IN" sz="2400" dirty="0"/>
              <a:t>→ No duplicates, </a:t>
            </a:r>
            <a:r>
              <a:rPr lang="en-IN" sz="2400" dirty="0" smtClean="0"/>
              <a:t>unordered</a:t>
            </a:r>
            <a:r>
              <a:rPr lang="en-IN" sz="2400" dirty="0"/>
              <a:t/>
            </a:r>
            <a:br>
              <a:rPr lang="en-IN" sz="2400" dirty="0"/>
            </a:br>
            <a:r>
              <a:rPr lang="en-IN" sz="2400" dirty="0" smtClean="0"/>
              <a:t>                Examples</a:t>
            </a:r>
            <a:r>
              <a:rPr lang="en-IN" sz="2400" dirty="0"/>
              <a:t>: </a:t>
            </a:r>
            <a:r>
              <a:rPr lang="en-IN" sz="2400" dirty="0" err="1"/>
              <a:t>HashSet</a:t>
            </a:r>
            <a:r>
              <a:rPr lang="en-IN" sz="2400" dirty="0"/>
              <a:t>, </a:t>
            </a:r>
            <a:r>
              <a:rPr lang="en-IN" sz="2400" dirty="0" err="1"/>
              <a:t>TreeSet</a:t>
            </a:r>
            <a:endParaRPr lang="en-IN" sz="2400" dirty="0"/>
          </a:p>
          <a:p>
            <a:pPr marL="0" indent="0">
              <a:buNone/>
            </a:pPr>
            <a:r>
              <a:rPr lang="en-IN" sz="2400" b="1" dirty="0" smtClean="0"/>
              <a:t>                Queue</a:t>
            </a:r>
            <a:r>
              <a:rPr lang="en-IN" sz="2400" dirty="0" smtClean="0"/>
              <a:t> </a:t>
            </a:r>
            <a:r>
              <a:rPr lang="en-IN" sz="2400" dirty="0"/>
              <a:t>→ FIFO structures</a:t>
            </a:r>
            <a:br>
              <a:rPr lang="en-IN" sz="2400" dirty="0"/>
            </a:br>
            <a:r>
              <a:rPr lang="en-IN" sz="2400" dirty="0" smtClean="0"/>
              <a:t>                Examples</a:t>
            </a:r>
            <a:r>
              <a:rPr lang="en-IN" sz="2400" dirty="0"/>
              <a:t>: </a:t>
            </a:r>
            <a:r>
              <a:rPr lang="en-IN" sz="2400" dirty="0" err="1"/>
              <a:t>PriorityQueue</a:t>
            </a:r>
            <a:r>
              <a:rPr lang="en-IN" sz="2400" dirty="0"/>
              <a:t>, </a:t>
            </a:r>
            <a:r>
              <a:rPr lang="en-IN" sz="2400" dirty="0" err="1"/>
              <a:t>LinkedList</a:t>
            </a:r>
            <a:endParaRPr lang="en-IN" sz="2400" dirty="0"/>
          </a:p>
          <a:p>
            <a:pPr marL="0" indent="0">
              <a:buNone/>
            </a:pPr>
            <a:r>
              <a:rPr lang="en-IN" sz="2400" b="1" dirty="0" smtClean="0"/>
              <a:t>                Map</a:t>
            </a:r>
            <a:r>
              <a:rPr lang="en-IN" sz="2400" dirty="0" smtClean="0"/>
              <a:t> </a:t>
            </a:r>
            <a:r>
              <a:rPr lang="en-IN" sz="2400" dirty="0"/>
              <a:t>→ Key-value pairs </a:t>
            </a:r>
            <a:br>
              <a:rPr lang="en-IN" sz="2400" dirty="0"/>
            </a:br>
            <a:r>
              <a:rPr lang="en-IN" sz="2400" dirty="0" smtClean="0"/>
              <a:t>                Examples</a:t>
            </a:r>
            <a:r>
              <a:rPr lang="en-IN" sz="2400" dirty="0"/>
              <a:t>: </a:t>
            </a:r>
            <a:r>
              <a:rPr lang="en-IN" sz="2400" dirty="0" err="1"/>
              <a:t>HashMap</a:t>
            </a:r>
            <a:r>
              <a:rPr lang="en-IN" sz="2400" dirty="0"/>
              <a:t>, </a:t>
            </a:r>
            <a:r>
              <a:rPr lang="en-IN" sz="2400" dirty="0" err="1"/>
              <a:t>TreeMap</a:t>
            </a:r>
            <a:endParaRPr lang="en-IN" sz="2400" dirty="0"/>
          </a:p>
          <a:p>
            <a:pPr algn="just"/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098" y="757356"/>
            <a:ext cx="8229600" cy="689867"/>
          </a:xfrm>
        </p:spPr>
        <p:txBody>
          <a:bodyPr>
            <a:normAutofit fontScale="90000"/>
          </a:bodyPr>
          <a:lstStyle/>
          <a:p>
            <a:pPr lvl="0"/>
            <a:r>
              <a:rPr lang="en-US" dirty="0">
                <a:latin typeface="Arial" charset="0"/>
                <a:cs typeface="Arial" charset="0"/>
              </a:rPr>
              <a:t>Why </a:t>
            </a:r>
            <a:r>
              <a:rPr lang="en-US" sz="4900" dirty="0" smtClean="0">
                <a:cs typeface="Arial" charset="0"/>
              </a:rPr>
              <a:t>Collection</a:t>
            </a:r>
            <a:r>
              <a:rPr lang="en-US" dirty="0" smtClean="0">
                <a:latin typeface="Arial" charset="0"/>
                <a:cs typeface="Arial" charset="0"/>
              </a:rPr>
              <a:t>?</a:t>
            </a:r>
            <a:r>
              <a:rPr lang="en-US" b="1" dirty="0">
                <a:latin typeface="Arial" charset="0"/>
                <a:cs typeface="Arial" charset="0"/>
              </a:rPr>
              <a:t/>
            </a:r>
            <a:br>
              <a:rPr lang="en-US" b="1" dirty="0">
                <a:latin typeface="Arial" charset="0"/>
                <a:cs typeface="Arial" charset="0"/>
              </a:rPr>
            </a:b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0969718"/>
              </p:ext>
            </p:extLst>
          </p:nvPr>
        </p:nvGraphicFramePr>
        <p:xfrm>
          <a:off x="457200" y="2267211"/>
          <a:ext cx="8229600" cy="2384484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14693">
                <a:tc>
                  <a:txBody>
                    <a:bodyPr/>
                    <a:lstStyle/>
                    <a:p>
                      <a:r>
                        <a:rPr lang="en-IN" b="1" dirty="0"/>
                        <a:t>Limitation in Array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Reason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4693">
                <a:tc>
                  <a:txBody>
                    <a:bodyPr/>
                    <a:lstStyle/>
                    <a:p>
                      <a:r>
                        <a:rPr lang="en-IN" dirty="0"/>
                        <a:t>Fixed size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Cannot grow or shrink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4693">
                <a:tc>
                  <a:txBody>
                    <a:bodyPr/>
                    <a:lstStyle/>
                    <a:p>
                      <a:r>
                        <a:rPr lang="en-IN"/>
                        <a:t>Only homogeneous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Must store same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5712">
                <a:tc>
                  <a:txBody>
                    <a:bodyPr/>
                    <a:lstStyle/>
                    <a:p>
                      <a:r>
                        <a:rPr lang="en-IN" dirty="0"/>
                        <a:t>No built-in methods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Need manual logic for sorting, searching, deleting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4693">
                <a:tc>
                  <a:txBody>
                    <a:bodyPr/>
                    <a:lstStyle/>
                    <a:p>
                      <a:r>
                        <a:rPr lang="en-IN"/>
                        <a:t>Not flexible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Inserting/deleting is hard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85230" y="1575777"/>
            <a:ext cx="639155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Before collections, Java used </a:t>
            </a:r>
            <a:r>
              <a:rPr kumimoji="0" 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arrays. Arrays have limitations:</a:t>
            </a: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385230" y="5211663"/>
            <a:ext cx="844333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Collections solve all these problems.</a:t>
            </a:r>
            <a:br>
              <a:rPr kumimoji="0" 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r>
              <a:rPr kumimoji="0" 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They provide dynamic, flexible, easy-to-use data structures with built-in methods.</a:t>
            </a:r>
          </a:p>
        </p:txBody>
      </p:sp>
    </p:spTree>
    <p:extLst>
      <p:ext uri="{BB962C8B-B14F-4D97-AF65-F5344CB8AC3E}">
        <p14:creationId xmlns:p14="http://schemas.microsoft.com/office/powerpoint/2010/main" val="3482517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ArrayList</a:t>
            </a:r>
            <a:r>
              <a:rPr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1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esizable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array provided by the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java.util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package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Can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grow or shrink automatically as elements are added or removed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Example: Online food Delivery App</a:t>
            </a:r>
          </a:p>
          <a:p>
            <a:pPr marL="0" indent="0">
              <a:buNone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Key Features of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ArrayList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Dynamic size (automatically resizes)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Allows duplicates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Maintains insertion order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Provides fast access (O(1) for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(get/set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Slower for insert/delete in the middle compared to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LinkedList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Stores objects only (not primitive types—use wrappers like Integer, Double)</a:t>
            </a:r>
          </a:p>
          <a:p>
            <a:pPr lvl="1">
              <a:buFont typeface="Arial" pitchFamily="34" charset="0"/>
              <a:buChar char="•"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Syntax and Common Methods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547918" y="1417637"/>
            <a:ext cx="5928038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itchFamily="18" charset="0"/>
                <a:cs typeface="Times New Roman" pitchFamily="18" charset="0"/>
              </a:rPr>
              <a:t>Syntax to Create </a:t>
            </a:r>
            <a:r>
              <a:rPr lang="en-IN" b="1" dirty="0" err="1">
                <a:latin typeface="Times New Roman" pitchFamily="18" charset="0"/>
                <a:cs typeface="Times New Roman" pitchFamily="18" charset="0"/>
              </a:rPr>
              <a:t>ArrayList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    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ArrayList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&lt;String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&gt; list = new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ArrayList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&lt;&gt;();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    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ArrayList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&lt;Integer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&gt; numbers = new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ArrayList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&lt;&gt;();</a:t>
            </a:r>
          </a:p>
          <a:p>
            <a:r>
              <a:rPr lang="en-IN" b="1" dirty="0">
                <a:latin typeface="Times New Roman" pitchFamily="18" charset="0"/>
                <a:cs typeface="Times New Roman" pitchFamily="18" charset="0"/>
              </a:rPr>
              <a:t>Add Elements: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           </a:t>
            </a:r>
            <a:r>
              <a:rPr lang="en-IN" dirty="0" err="1" smtClean="0">
                <a:latin typeface="Times New Roman" pitchFamily="18" charset="0"/>
                <a:cs typeface="Times New Roman" pitchFamily="18" charset="0"/>
              </a:rPr>
              <a:t>list.add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("Apple");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           </a:t>
            </a:r>
            <a:r>
              <a:rPr lang="en-IN" dirty="0" err="1" smtClean="0">
                <a:latin typeface="Times New Roman" pitchFamily="18" charset="0"/>
                <a:cs typeface="Times New Roman" pitchFamily="18" charset="0"/>
              </a:rPr>
              <a:t>list.add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(1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, "Banana");</a:t>
            </a:r>
          </a:p>
          <a:p>
            <a:r>
              <a:rPr lang="en-IN" b="1" dirty="0">
                <a:latin typeface="Times New Roman" pitchFamily="18" charset="0"/>
                <a:cs typeface="Times New Roman" pitchFamily="18" charset="0"/>
              </a:rPr>
              <a:t>Access Element: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           </a:t>
            </a:r>
            <a:r>
              <a:rPr lang="en-IN" dirty="0" err="1" smtClean="0">
                <a:latin typeface="Times New Roman" pitchFamily="18" charset="0"/>
                <a:cs typeface="Times New Roman" pitchFamily="18" charset="0"/>
              </a:rPr>
              <a:t>list.get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(0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r>
              <a:rPr lang="en-IN" b="1" dirty="0">
                <a:latin typeface="Times New Roman" pitchFamily="18" charset="0"/>
                <a:cs typeface="Times New Roman" pitchFamily="18" charset="0"/>
              </a:rPr>
              <a:t>Modify Element: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           </a:t>
            </a:r>
            <a:r>
              <a:rPr lang="en-IN" dirty="0" err="1" smtClean="0">
                <a:latin typeface="Times New Roman" pitchFamily="18" charset="0"/>
                <a:cs typeface="Times New Roman" pitchFamily="18" charset="0"/>
              </a:rPr>
              <a:t>list.set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(0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, "Mango");</a:t>
            </a:r>
          </a:p>
          <a:p>
            <a:r>
              <a:rPr lang="en-IN" b="1" dirty="0">
                <a:latin typeface="Times New Roman" pitchFamily="18" charset="0"/>
                <a:cs typeface="Times New Roman" pitchFamily="18" charset="0"/>
              </a:rPr>
              <a:t>Remove Elements: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           </a:t>
            </a:r>
            <a:r>
              <a:rPr lang="en-IN" dirty="0" err="1" smtClean="0">
                <a:latin typeface="Times New Roman" pitchFamily="18" charset="0"/>
                <a:cs typeface="Times New Roman" pitchFamily="18" charset="0"/>
              </a:rPr>
              <a:t>list.remove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("Apple");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           </a:t>
            </a:r>
            <a:r>
              <a:rPr lang="en-IN" dirty="0" err="1" smtClean="0">
                <a:latin typeface="Times New Roman" pitchFamily="18" charset="0"/>
                <a:cs typeface="Times New Roman" pitchFamily="18" charset="0"/>
              </a:rPr>
              <a:t>list.remove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(1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r>
              <a:rPr lang="en-IN" b="1" dirty="0">
                <a:latin typeface="Times New Roman" pitchFamily="18" charset="0"/>
                <a:cs typeface="Times New Roman" pitchFamily="18" charset="0"/>
              </a:rPr>
              <a:t>Check / Manage List: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           </a:t>
            </a:r>
            <a:r>
              <a:rPr lang="en-IN" dirty="0" err="1" smtClean="0">
                <a:latin typeface="Times New Roman" pitchFamily="18" charset="0"/>
                <a:cs typeface="Times New Roman" pitchFamily="18" charset="0"/>
              </a:rPr>
              <a:t>list.size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();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           </a:t>
            </a:r>
            <a:r>
              <a:rPr lang="en-IN" dirty="0" err="1" smtClean="0">
                <a:latin typeface="Times New Roman" pitchFamily="18" charset="0"/>
                <a:cs typeface="Times New Roman" pitchFamily="18" charset="0"/>
              </a:rPr>
              <a:t>list.contains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("Apple");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           </a:t>
            </a:r>
            <a:r>
              <a:rPr lang="en-IN" dirty="0" err="1" smtClean="0">
                <a:latin typeface="Times New Roman" pitchFamily="18" charset="0"/>
                <a:cs typeface="Times New Roman" pitchFamily="18" charset="0"/>
              </a:rPr>
              <a:t>list.clear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();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           </a:t>
            </a:r>
            <a:r>
              <a:rPr lang="en-IN" dirty="0" err="1" smtClean="0">
                <a:latin typeface="Times New Roman" pitchFamily="18" charset="0"/>
                <a:cs typeface="Times New Roman" pitchFamily="18" charset="0"/>
              </a:rPr>
              <a:t>list.isEmpty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();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Statement</a:t>
            </a: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588723" y="1417638"/>
            <a:ext cx="799160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Objective: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Create a Java program that manages a collection of student scores and performs common operations using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Collection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Collections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95194" y="2810115"/>
            <a:ext cx="799160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Requirements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Use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Collection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(e.g.,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ArrayList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&lt;Integer&gt;) to store student scores.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Perform the following operations using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Collections class methods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Add multiple student scores to the collection</a:t>
            </a:r>
          </a:p>
          <a:p>
            <a:pPr lvl="1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Sort the scores in ascending order</a:t>
            </a:r>
          </a:p>
          <a:p>
            <a:pPr lvl="1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Find the highest and lowest score</a:t>
            </a:r>
          </a:p>
          <a:p>
            <a:pPr lvl="1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Reverse the order of scores</a:t>
            </a:r>
          </a:p>
          <a:p>
            <a:pPr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Find the average score.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Display the scores after each operation to see the results.</a:t>
            </a:r>
          </a:p>
        </p:txBody>
      </p:sp>
    </p:spTree>
    <p:extLst>
      <p:ext uri="{BB962C8B-B14F-4D97-AF65-F5344CB8AC3E}">
        <p14:creationId xmlns:p14="http://schemas.microsoft.com/office/powerpoint/2010/main" val="2186988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29323"/>
            <a:ext cx="8229600" cy="1143000"/>
          </a:xfrm>
        </p:spPr>
        <p:txBody>
          <a:bodyPr/>
          <a:lstStyle/>
          <a:p>
            <a:r>
              <a:rPr lang="en-US" dirty="0" smtClean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7324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</TotalTime>
  <Words>327</Words>
  <Application>Microsoft Office PowerPoint</Application>
  <PresentationFormat>On-screen Show (4:3)</PresentationFormat>
  <Paragraphs>63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Collections in Java ArrayList</vt:lpstr>
      <vt:lpstr>Collections</vt:lpstr>
      <vt:lpstr>Why Collection? </vt:lpstr>
      <vt:lpstr>ArrayList </vt:lpstr>
      <vt:lpstr>Syntax and Common Methods</vt:lpstr>
      <vt:lpstr>Problem Statement</vt:lpstr>
      <vt:lpstr>Thank You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Collections: ArrayList &amp; LinkedList</dc:title>
  <dc:subject/>
  <dc:creator/>
  <cp:keywords/>
  <dc:description>generated using python-pptx</dc:description>
  <cp:lastModifiedBy>lenovo</cp:lastModifiedBy>
  <cp:revision>11</cp:revision>
  <dcterms:created xsi:type="dcterms:W3CDTF">2013-01-27T09:14:16Z</dcterms:created>
  <dcterms:modified xsi:type="dcterms:W3CDTF">2025-12-09T12:58:10Z</dcterms:modified>
  <cp:category/>
</cp:coreProperties>
</file>